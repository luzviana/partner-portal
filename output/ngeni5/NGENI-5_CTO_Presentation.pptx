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6a1e9924884cd3" /><Relationship Type="http://schemas.openxmlformats.org/officeDocument/2006/relationships/extended-properties" Target="/docProps/app.xml" Id="R4921ecd5dccb42ff" /><Relationship Type="http://schemas.openxmlformats.org/officeDocument/2006/relationships/officeDocument" Target="/ppt/presentation.xml" Id="Raa70e6455e674a43" /></Relationships>
</file>

<file path=ppt/presentation.xml><?xml version="1.0" encoding="utf-8"?>
<p:presentation xmlns:p="http://schemas.openxmlformats.org/presentationml/2006/main">
  <p:sldMasterIdLst>
    <p:sldMasterId xmlns:r="http://schemas.openxmlformats.org/officeDocument/2006/relationships" id="2147483648" r:id="Ra32053320a544eda"/>
  </p:sldMasterIdLst>
  <p:notesMasterIdLst>
    <p:notesMasterId xmlns:r="http://schemas.openxmlformats.org/officeDocument/2006/relationships" r:id="Rc2a5e1e47cc84621"/>
  </p:notesMasterIdLst>
  <p:sldIdLst>
    <p:sldId xmlns:r="http://schemas.openxmlformats.org/officeDocument/2006/relationships" id="256" r:id="Rf863af8c46d346f9"/>
    <p:sldId xmlns:r="http://schemas.openxmlformats.org/officeDocument/2006/relationships" id="257" r:id="R87dac2cd46cd4c8c"/>
    <p:sldId xmlns:r="http://schemas.openxmlformats.org/officeDocument/2006/relationships" id="258" r:id="R398a88ecc6b946dd"/>
    <p:sldId xmlns:r="http://schemas.openxmlformats.org/officeDocument/2006/relationships" id="259" r:id="R5430faccc4ca4b66"/>
    <p:sldId xmlns:r="http://schemas.openxmlformats.org/officeDocument/2006/relationships" id="260" r:id="R92982fecc7044f8d"/>
    <p:sldId xmlns:r="http://schemas.openxmlformats.org/officeDocument/2006/relationships" id="261" r:id="R85591cb092c54a7b"/>
    <p:sldId xmlns:r="http://schemas.openxmlformats.org/officeDocument/2006/relationships" id="262" r:id="Rd9a44a7f75554136"/>
    <p:sldId xmlns:r="http://schemas.openxmlformats.org/officeDocument/2006/relationships" id="263" r:id="R736f69d487a944ff"/>
    <p:sldId xmlns:r="http://schemas.openxmlformats.org/officeDocument/2006/relationships" id="264" r:id="R72387597f32f4945"/>
    <p:sldId xmlns:r="http://schemas.openxmlformats.org/officeDocument/2006/relationships" id="265" r:id="Rc0baea981f604b96"/>
    <p:sldId xmlns:r="http://schemas.openxmlformats.org/officeDocument/2006/relationships" id="266" r:id="R344002f82540409f"/>
    <p:sldId xmlns:r="http://schemas.openxmlformats.org/officeDocument/2006/relationships" id="267" r:id="R66aa45cbd04c4e2b"/>
    <p:sldId xmlns:r="http://schemas.openxmlformats.org/officeDocument/2006/relationships" id="268" r:id="R77a298fb39504895"/>
    <p:sldId xmlns:r="http://schemas.openxmlformats.org/officeDocument/2006/relationships" id="269" r:id="R496a6e82e39f46be"/>
    <p:sldId xmlns:r="http://schemas.openxmlformats.org/officeDocument/2006/relationships" id="270" r:id="Rdd23b6173336475c"/>
    <p:sldId xmlns:r="http://schemas.openxmlformats.org/officeDocument/2006/relationships" id="271" r:id="R101ce8976809489c"/>
    <p:sldId xmlns:r="http://schemas.openxmlformats.org/officeDocument/2006/relationships" id="272" r:id="Rbe57391bb07940d6"/>
    <p:sldId xmlns:r="http://schemas.openxmlformats.org/officeDocument/2006/relationships" id="273" r:id="Rfcb2593fa76b45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ef1fc5c2df4871" /><Relationship Type="http://schemas.openxmlformats.org/officeDocument/2006/relationships/slideMaster" Target="/ppt/slideMasters/slideMaster1.xml" Id="Ra32053320a544eda" /><Relationship Type="http://schemas.openxmlformats.org/officeDocument/2006/relationships/notesMaster" Target="/ppt/notesMasters/notesMaster1.xml" Id="Rc2a5e1e47cc84621" /><Relationship Type="http://schemas.openxmlformats.org/officeDocument/2006/relationships/presProps" Target="/ppt/presProps.xml" Id="Ra20d8890aa3d48fa" /><Relationship Type="http://schemas.openxmlformats.org/officeDocument/2006/relationships/tableStyles" Target="/ppt/tableStyles.xml" Id="Rdc8cf0318bb24e3a" /><Relationship Type="http://schemas.openxmlformats.org/officeDocument/2006/relationships/slide" Target="/ppt/slides/slide1.xml" Id="Rf863af8c46d346f9" /><Relationship Type="http://schemas.openxmlformats.org/officeDocument/2006/relationships/slide" Target="/ppt/slides/slide2.xml" Id="R87dac2cd46cd4c8c" /><Relationship Type="http://schemas.openxmlformats.org/officeDocument/2006/relationships/slide" Target="/ppt/slides/slide3.xml" Id="R398a88ecc6b946dd" /><Relationship Type="http://schemas.openxmlformats.org/officeDocument/2006/relationships/slide" Target="/ppt/slides/slide4.xml" Id="R5430faccc4ca4b66" /><Relationship Type="http://schemas.openxmlformats.org/officeDocument/2006/relationships/slide" Target="/ppt/slides/slide5.xml" Id="R92982fecc7044f8d" /><Relationship Type="http://schemas.openxmlformats.org/officeDocument/2006/relationships/slide" Target="/ppt/slides/slide6.xml" Id="R85591cb092c54a7b" /><Relationship Type="http://schemas.openxmlformats.org/officeDocument/2006/relationships/slide" Target="/ppt/slides/slide7.xml" Id="Rd9a44a7f75554136" /><Relationship Type="http://schemas.openxmlformats.org/officeDocument/2006/relationships/slide" Target="/ppt/slides/slide8.xml" Id="R736f69d487a944ff" /><Relationship Type="http://schemas.openxmlformats.org/officeDocument/2006/relationships/slide" Target="/ppt/slides/slide9.xml" Id="R72387597f32f4945" /><Relationship Type="http://schemas.openxmlformats.org/officeDocument/2006/relationships/slide" Target="/ppt/slides/slide10.xml" Id="Rc0baea981f604b96" /><Relationship Type="http://schemas.openxmlformats.org/officeDocument/2006/relationships/slide" Target="/ppt/slides/slide11.xml" Id="R344002f82540409f" /><Relationship Type="http://schemas.openxmlformats.org/officeDocument/2006/relationships/slide" Target="/ppt/slides/slide12.xml" Id="R66aa45cbd04c4e2b" /><Relationship Type="http://schemas.openxmlformats.org/officeDocument/2006/relationships/slide" Target="/ppt/slides/slide13.xml" Id="R77a298fb39504895" /><Relationship Type="http://schemas.openxmlformats.org/officeDocument/2006/relationships/slide" Target="/ppt/slides/slide14.xml" Id="R496a6e82e39f46be" /><Relationship Type="http://schemas.openxmlformats.org/officeDocument/2006/relationships/slide" Target="/ppt/slides/slide15.xml" Id="Rdd23b6173336475c" /><Relationship Type="http://schemas.openxmlformats.org/officeDocument/2006/relationships/slide" Target="/ppt/slides/slide16.xml" Id="R101ce8976809489c" /><Relationship Type="http://schemas.openxmlformats.org/officeDocument/2006/relationships/slide" Target="/ppt/slides/slide17.xml" Id="Rbe57391bb07940d6" /><Relationship Type="http://schemas.openxmlformats.org/officeDocument/2006/relationships/slide" Target="/ppt/slides/slide18.xml" Id="Rfcb2593fa76b45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81c701547847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44e544595e4a28" /><Relationship Type="http://schemas.openxmlformats.org/officeDocument/2006/relationships/notesMaster" Target="/ppt/notesMasters/notesMaster1.xml" Id="R7dc5503b98e945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4355613abb41b7" /><Relationship Type="http://schemas.openxmlformats.org/officeDocument/2006/relationships/notesMaster" Target="/ppt/notesMasters/notesMaster1.xml" Id="R646a32e5654448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e46c3993464c56" /><Relationship Type="http://schemas.openxmlformats.org/officeDocument/2006/relationships/notesMaster" Target="/ppt/notesMasters/notesMaster1.xml" Id="Ra146edc40d7142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fc246acf0248de" /><Relationship Type="http://schemas.openxmlformats.org/officeDocument/2006/relationships/notesMaster" Target="/ppt/notesMasters/notesMaster1.xml" Id="R3bec106f2fe146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5910bd1f8e43e1" /><Relationship Type="http://schemas.openxmlformats.org/officeDocument/2006/relationships/notesMaster" Target="/ppt/notesMasters/notesMaster1.xml" Id="R39b06c85ab8045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9f871d57b5462e" /><Relationship Type="http://schemas.openxmlformats.org/officeDocument/2006/relationships/notesMaster" Target="/ppt/notesMasters/notesMaster1.xml" Id="Re426f03691d44b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93d12a03a14abd" /><Relationship Type="http://schemas.openxmlformats.org/officeDocument/2006/relationships/notesMaster" Target="/ppt/notesMasters/notesMaster1.xml" Id="R0a4072cf76ee47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6180d8a5614b41" /><Relationship Type="http://schemas.openxmlformats.org/officeDocument/2006/relationships/notesMaster" Target="/ppt/notesMasters/notesMaster1.xml" Id="R94c144bfa6d741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22919c59494a40" /><Relationship Type="http://schemas.openxmlformats.org/officeDocument/2006/relationships/notesMaster" Target="/ppt/notesMasters/notesMaster1.xml" Id="R866b91c9153f43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8f8569fb1d4d2f" /><Relationship Type="http://schemas.openxmlformats.org/officeDocument/2006/relationships/notesMaster" Target="/ppt/notesMasters/notesMaster1.xml" Id="Rc10b53b1a62142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78740700c54bf6" /><Relationship Type="http://schemas.openxmlformats.org/officeDocument/2006/relationships/notesMaster" Target="/ppt/notesMasters/notesMaster1.xml" Id="Rf5938b22226e44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19f18191ee4e6a" /><Relationship Type="http://schemas.openxmlformats.org/officeDocument/2006/relationships/notesMaster" Target="/ppt/notesMasters/notesMaster1.xml" Id="Rc6274435320440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dec8e76cb449eb" /><Relationship Type="http://schemas.openxmlformats.org/officeDocument/2006/relationships/notesMaster" Target="/ppt/notesMasters/notesMaster1.xml" Id="R3730342cc3d448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4a247548bf4baa" /><Relationship Type="http://schemas.openxmlformats.org/officeDocument/2006/relationships/notesMaster" Target="/ppt/notesMasters/notesMaster1.xml" Id="Rfa1372c3c3ae460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807ce515994b91" /><Relationship Type="http://schemas.openxmlformats.org/officeDocument/2006/relationships/notesMaster" Target="/ppt/notesMasters/notesMaster1.xml" Id="R6da96e5a918b41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2992a8df75429b" /><Relationship Type="http://schemas.openxmlformats.org/officeDocument/2006/relationships/notesMaster" Target="/ppt/notesMasters/notesMaster1.xml" Id="Rc3361f2f311047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f53bf206814e45" /><Relationship Type="http://schemas.openxmlformats.org/officeDocument/2006/relationships/notesMaster" Target="/ppt/notesMasters/notesMaster1.xml" Id="R515f4ed3030c48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1b62eea28b47f6" /><Relationship Type="http://schemas.openxmlformats.org/officeDocument/2006/relationships/notesMaster" Target="/ppt/notesMasters/notesMaster1.xml" Id="Rd7e1b0dba4ba49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2 incorporates the user clarification: each independent entry point is an independent service and may use a different solution. HubSpot is the existing CRM. This replaces the previous modular-core recommendation. Source is the confirmed 24-page PDF and authoritative task brief. All delivery estimates remain proposals.</a:t>
            </a:r>
          </a:p>
          <a:p xmlns:a="http://schemas.openxmlformats.org/drawingml/2006/main">
            <a:r>
              <a:t/>
            </a:r>
          </a:p>
          <a:p xmlns:a="http://schemas.openxmlformats.org/drawingml/2006/main">
            <a:r>
              <a:t>Sources</a:t>
            </a:r>
          </a:p>
          <a:p xmlns:a="http://schemas.openxmlformats.org/drawingml/2006/main">
            <a:r>
              <a:t>S1: Platform_Strategy_Updated.pdf</a:t>
            </a:r>
          </a:p>
          <a:p xmlns:a="http://schemas.openxmlformats.org/drawingml/2006/main">
            <a:r>
              <a:t>User-confirmed source, 24 pages, created 2 October 2026. SHA-256 fe6fd6bd2b90f74c245376e4a901cc1f9e02a7ec4430beb698ae488e6ab830d9. Page numbers in this proposal refer to physical PDF pages.</a:t>
            </a:r>
          </a:p>
          <a:p xmlns:a="http://schemas.openxmlformats.org/drawingml/2006/main">
            <a:r>
              <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clarification establishes service independence as a requirement. Each service can be a SaaS product, self-hosted solution or custom application. Independence includes native access, owned state and an independent release/operating boundary. Shared infrastructure is compatible with that autonomy. HubSpot is confirmed as existing CRM; exact field ownership remains a proposal.</a:t>
            </a:r>
          </a:p>
          <a:p xmlns:a="http://schemas.openxmlformats.org/drawingml/2006/main">
            <a:r>
              <a:t/>
            </a:r>
          </a:p>
          <a:p xmlns:a="http://schemas.openxmlformats.org/drawingml/2006/main">
            <a:r>
              <a:t>Sources</a:t>
            </a:r>
          </a:p>
          <a:p xmlns:a="http://schemas.openxmlformats.org/drawingml/2006/main">
            <a:r>
              <a:t>S1: Platform_Strategy_Updated.pdf</a:t>
            </a:r>
          </a:p>
          <a:p xmlns:a="http://schemas.openxmlformats.org/drawingml/2006/main">
            <a:r>
              <a:t>User-confirmed source, 24 pages, created 2 October 2026. SHA-256 fe6fd6bd2b90f74c245376e4a901cc1f9e02a7ec4430beb698ae488e6ab830d9. Page numbers in this proposal refer to physical PDF pages.</a:t>
            </a:r>
          </a:p>
          <a:p xmlns:a="http://schemas.openxmlformats.org/drawingml/2006/main">
            <a:r>
              <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service is independently usable through its own supported UI or API, not merely a screen in the portal. Each custom service has separate deployment, service identity and state. SaaS equivalents must be verified with the vendor. A common repo or container cluster is allowed. Shared identity/catalog may still be availability dependencies. Standalone assessment can begin with a workspace ID and no CRM deal; proposal issue requires confirmed CRM linkage under proposed pilot policy.</a:t>
            </a:r>
          </a:p>
          <a:p xmlns:a="http://schemas.openxmlformats.org/drawingml/2006/main">
            <a:r>
              <a:t/>
            </a:r>
          </a:p>
          <a:p xmlns:a="http://schemas.openxmlformats.org/drawingml/2006/main">
            <a:r>
              <a:t>Sources</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physical pages 6-17 and user clarification. Each row is a separate business service. Marketplace presents governed offers while shared product/pricing owns commercial data. Multi-Site owns sites/profiles. Source designs remain with their originating tools. Exchange packages provide the handoff.</a:t>
            </a:r>
          </a:p>
          <a:p xmlns:a="http://schemas.openxmlformats.org/drawingml/2006/main">
            <a:r>
              <a:t/>
            </a:r>
          </a:p>
          <a:p xmlns:a="http://schemas.openxmlformats.org/drawingml/2006/main">
            <a:r>
              <a:t>Sources</a:t>
            </a:r>
          </a:p>
          <a:p xmlns:a="http://schemas.openxmlformats.org/drawingml/2006/main">
            <a:r>
              <a:t>S1: Platform_Strategy_Updated.pdf</a:t>
            </a:r>
          </a:p>
          <a:p xmlns:a="http://schemas.openxmlformats.org/drawingml/2006/main">
            <a:r>
              <a:t>User-confirmed source, 24 pages, created 2 October 2026. SHA-256 fe6fd6bd2b90f74c245376e4a901cc1f9e02a7ec4430beb698ae488e6ab830d9. Page numbers in this proposal refer to physical PDF pages.</a:t>
            </a:r>
          </a:p>
          <a:p xmlns:a="http://schemas.openxmlformats.org/drawingml/2006/main">
            <a:r>
              <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portal launches independent services and composes context/status. The diagram groups the five services for readability; it does not represent a shared deployable. Each calls authorized product/pricing contracts and exports immutable packages to the exchange. Quote service consumes packages, validates and prices them, then emits approved summaries through the HubSpot connector. Connectors are API/event relationships, not a shared database transaction. Product/pricing also serves Quote and Proposal; shown in notes to keep the diagram legible.</a:t>
            </a:r>
          </a:p>
          <a:p xmlns:a="http://schemas.openxmlformats.org/drawingml/2006/main">
            <a:r>
              <a:t/>
            </a:r>
          </a:p>
          <a:p xmlns:a="http://schemas.openxmlformats.org/drawingml/2006/main">
            <a:r>
              <a:t>Sources</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a:p xmlns:a="http://schemas.openxmlformats.org/drawingml/2006/main">
            <a:r>
              <a:t/>
            </a:r>
          </a:p>
          <a:p xmlns:a="http://schemas.openxmlformats.org/drawingml/2006/main">
            <a:r>
              <a:t>S7: Reliable messaging and outbox</a:t>
            </a:r>
          </a:p>
          <a:p xmlns:a="http://schemas.openxmlformats.org/drawingml/2006/main">
            <a:r>
              <a:t>https://docs.aws.amazon.com/AWSSimpleQueueService/latest/SQSDeveloperGuide/standard-queues-at-least-once-delivery.html</a:t>
            </a:r>
          </a:p>
          <a:p xmlns:a="http://schemas.openxmlformats.org/drawingml/2006/main">
            <a:r>
              <a:t>https://docs.aws.amazon.com/prescriptive-guidance/latest/cloud-design-patterns/transactional-outbox.html</a:t>
            </a:r>
          </a:p>
          <a:p xmlns:a="http://schemas.openxmlformats.org/drawingml/2006/main">
            <a:r>
              <a:t>https://www.rabbitmq.com/docs/quorum-queues</a:t>
            </a:r>
          </a:p>
          <a:p xmlns:a="http://schemas.openxmlformats.org/drawingml/2006/main">
            <a:r>
              <a:t/>
            </a:r>
          </a:p>
          <a:p xmlns:a="http://schemas.openxmlformats.org/drawingml/2006/main">
            <a:r>
              <a:t>S17: HubSpot CRM and integration documentation</a:t>
            </a:r>
          </a:p>
          <a:p xmlns:a="http://schemas.openxmlformats.org/drawingml/2006/main">
            <a:r>
              <a:t>https://developers.hubspot.com/docs/reference/api/overview</a:t>
            </a:r>
          </a:p>
          <a:p xmlns:a="http://schemas.openxmlformats.org/drawingml/2006/main">
            <a:r>
              <a:t>https://developers.hubspot.com/blog/a-developers-guide-to-hubspot-crm-objects-deals-object</a:t>
            </a:r>
          </a:p>
          <a:p xmlns:a="http://schemas.openxmlformats.org/drawingml/2006/main">
            <a:r>
              <a:t>https://developers.hubspot.com/docs/apps/developer-platform/add-features/configure-webhooks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permits common product/pricing data. Recommend a single logical authority exposed through APIs. Its physical master could be an existing ERP/PIM, HubSpot product capability or dedicated store, pending D01. Direct reads are an exception for compatible self-hosted systems using versioned views and scoped read-only roles. No unrestricted shared writers. Product and Pricing can remain internal modules of one shared service.</a:t>
            </a:r>
          </a:p>
          <a:p xmlns:a="http://schemas.openxmlformats.org/drawingml/2006/main">
            <a:r>
              <a:t/>
            </a:r>
          </a:p>
          <a:p xmlns:a="http://schemas.openxmlformats.org/drawingml/2006/main">
            <a:r>
              <a:t>Sources</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a:p xmlns:a="http://schemas.openxmlformats.org/drawingml/2006/main">
            <a:r>
              <a:t/>
            </a:r>
          </a:p>
          <a:p xmlns:a="http://schemas.openxmlformats.org/drawingml/2006/main">
            <a:r>
              <a:t>S5: PostgreSQL row security and license</a:t>
            </a:r>
          </a:p>
          <a:p xmlns:a="http://schemas.openxmlformats.org/drawingml/2006/main">
            <a:r>
              <a:t>https://www.postgresql.org/docs/current/ddl-rowsecurity.html</a:t>
            </a:r>
          </a:p>
          <a:p xmlns:a="http://schemas.openxmlformats.org/drawingml/2006/main">
            <a:r>
              <a:t>https://www.postgresql.org/about/licence/</a:t>
            </a:r>
          </a:p>
          <a:p xmlns:a="http://schemas.openxmlformats.org/drawingml/2006/main">
            <a:r>
              <a:t/>
            </a:r>
          </a:p>
          <a:p xmlns:a="http://schemas.openxmlformats.org/drawingml/2006/main">
            <a:r>
              <a:t>S18: HubSpot commercial capabilities</a:t>
            </a:r>
          </a:p>
          <a:p xmlns:a="http://schemas.openxmlformats.org/drawingml/2006/main">
            <a:r>
              <a:t>https://knowledge.hubspot.com/cpq/getting-started-with-hubspot-cpq</a:t>
            </a:r>
          </a:p>
          <a:p xmlns:a="http://schemas.openxmlformats.org/drawingml/2006/main">
            <a:r>
              <a:t>https://knowledge.hubspot.com/products/create-and-manage-products</a:t>
            </a:r>
          </a:p>
          <a:p xmlns:a="http://schemas.openxmlformats.org/drawingml/2006/main">
            <a:r>
              <a:t>https://legal.hubspot.com/hubspot-product-and-services-catalog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fact: HubSpot is the CRM. Proposed masters: companies, contacts, deals, pipeline and sales owners. Account configuration is not inspected. D03/D04 must confirm objects, scopes, partner visibility, fields and sync rules. HubSpot company IDs alone do not prove partner authorization. Product/price and quote authorities remain separate decisions and could use HubSpot commercial capabilities if they fit.</a:t>
            </a:r>
          </a:p>
          <a:p xmlns:a="http://schemas.openxmlformats.org/drawingml/2006/main">
            <a:r>
              <a:t/>
            </a:r>
          </a:p>
          <a:p xmlns:a="http://schemas.openxmlformats.org/drawingml/2006/main">
            <a:r>
              <a:t>Sources</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a:p xmlns:a="http://schemas.openxmlformats.org/drawingml/2006/main">
            <a:r>
              <a:t/>
            </a:r>
          </a:p>
          <a:p xmlns:a="http://schemas.openxmlformats.org/drawingml/2006/main">
            <a:r>
              <a:t>S17: HubSpot CRM and integration documentation</a:t>
            </a:r>
          </a:p>
          <a:p xmlns:a="http://schemas.openxmlformats.org/drawingml/2006/main">
            <a:r>
              <a:t>https://developers.hubspot.com/docs/reference/api/overview</a:t>
            </a:r>
          </a:p>
          <a:p xmlns:a="http://schemas.openxmlformats.org/drawingml/2006/main">
            <a:r>
              <a:t>https://developers.hubspot.com/blog/a-developers-guide-to-hubspot-crm-objects-deals-object</a:t>
            </a:r>
          </a:p>
          <a:p xmlns:a="http://schemas.openxmlformats.org/drawingml/2006/main">
            <a:r>
              <a:t>https://developers.hubspot.com/docs/apps/developer-platform/add-features/configure-webhooks</a:t>
            </a:r>
          </a:p>
          <a:p xmlns:a="http://schemas.openxmlformats.org/drawingml/2006/main">
            <a:r>
              <a:t/>
            </a:r>
          </a:p>
          <a:p xmlns:a="http://schemas.openxmlformats.org/drawingml/2006/main">
            <a:r>
              <a:t>S18: HubSpot commercial capabilities</a:t>
            </a:r>
          </a:p>
          <a:p xmlns:a="http://schemas.openxmlformats.org/drawingml/2006/main">
            <a:r>
              <a:t>https://knowledge.hubspot.com/cpq/getting-started-with-hubspot-cpq</a:t>
            </a:r>
          </a:p>
          <a:p xmlns:a="http://schemas.openxmlformats.org/drawingml/2006/main">
            <a:r>
              <a:t>https://knowledge.hubspot.com/products/create-and-manage-products</a:t>
            </a:r>
          </a:p>
          <a:p xmlns:a="http://schemas.openxmlformats.org/drawingml/2006/main">
            <a:r>
              <a:t>https://legal.hubspot.com/hubspot-product-and-services-catalog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HubSpot documentation supports CRM APIs and webhook integration, but supported app/event model, API version and limits must be verified in the actual account. Adapter owns ID mapping, queues and reconciliation. Verify webhook authenticity, deduplicate, re-read canonical state and run periodic reconciliation. Outbound command ledgers and readback after uncertain timeouts prevent duplicates. Approved quote does not imply won deal or order.</a:t>
            </a:r>
          </a:p>
          <a:p xmlns:a="http://schemas.openxmlformats.org/drawingml/2006/main">
            <a:r>
              <a:t/>
            </a:r>
          </a:p>
          <a:p xmlns:a="http://schemas.openxmlformats.org/drawingml/2006/main">
            <a:r>
              <a:t>Sources</a:t>
            </a:r>
          </a:p>
          <a:p xmlns:a="http://schemas.openxmlformats.org/drawingml/2006/main">
            <a:r>
              <a:t>S17: HubSpot CRM and integration documentation</a:t>
            </a:r>
          </a:p>
          <a:p xmlns:a="http://schemas.openxmlformats.org/drawingml/2006/main">
            <a:r>
              <a:t>https://developers.hubspot.com/docs/reference/api/overview</a:t>
            </a:r>
          </a:p>
          <a:p xmlns:a="http://schemas.openxmlformats.org/drawingml/2006/main">
            <a:r>
              <a:t>https://developers.hubspot.com/blog/a-developers-guide-to-hubspot-crm-objects-deals-object</a:t>
            </a:r>
          </a:p>
          <a:p xmlns:a="http://schemas.openxmlformats.org/drawingml/2006/main">
            <a:r>
              <a:t>https://developers.hubspot.com/docs/apps/developer-platform/add-features/configure-webhooks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Packages include tenant, workspace, origin, source revision, canonical product IDs, quantities, units, site/profile references and provenance. Source designs remain in their services. Unmapped items require resolution. Exchange validates schema and grants; users review diffs. Quote service checks technical rules and obtains authoritative prices. No distributed transaction or inventory hold is assumed. Immutable snapshots and outboxes make retries safe.</a:t>
            </a:r>
          </a:p>
          <a:p xmlns:a="http://schemas.openxmlformats.org/drawingml/2006/main">
            <a:r>
              <a:t/>
            </a:r>
          </a:p>
          <a:p xmlns:a="http://schemas.openxmlformats.org/drawingml/2006/main">
            <a:r>
              <a:t>Sources</a:t>
            </a:r>
          </a:p>
          <a:p xmlns:a="http://schemas.openxmlformats.org/drawingml/2006/main">
            <a:r>
              <a:t>S1: Platform_Strategy_Updated.pdf</a:t>
            </a:r>
          </a:p>
          <a:p xmlns:a="http://schemas.openxmlformats.org/drawingml/2006/main">
            <a:r>
              <a:t>User-confirmed source, 24 pages, created 2 October 2026. SHA-256 fe6fd6bd2b90f74c245376e4a901cc1f9e02a7ec4430beb698ae488e6ab830d9. Page numbers in this proposal refer to physical PDF pages.</a:t>
            </a:r>
          </a:p>
          <a:p xmlns:a="http://schemas.openxmlformats.org/drawingml/2006/main">
            <a:r>
              <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a:p xmlns:a="http://schemas.openxmlformats.org/drawingml/2006/main">
            <a:r>
              <a:t/>
            </a:r>
          </a:p>
          <a:p xmlns:a="http://schemas.openxmlformats.org/drawingml/2006/main">
            <a:r>
              <a:t>S7: Reliable messaging and outbox</a:t>
            </a:r>
          </a:p>
          <a:p xmlns:a="http://schemas.openxmlformats.org/drawingml/2006/main">
            <a:r>
              <a:t>https://docs.aws.amazon.com/AWSSimpleQueueService/latest/SQSDeveloperGuide/standard-queues-at-least-once-delivery.html</a:t>
            </a:r>
          </a:p>
          <a:p xmlns:a="http://schemas.openxmlformats.org/drawingml/2006/main">
            <a:r>
              <a:t>https://docs.aws.amazon.com/prescriptive-guidance/latest/cloud-design-patterns/transactional-outbox.html</a:t>
            </a:r>
          </a:p>
          <a:p xmlns:a="http://schemas.openxmlformats.org/drawingml/2006/main">
            <a:r>
              <a:t>https://www.rabbitmq.com/docs/quorum-queues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identity and resource authorization in every service, not only portal routes. Scope CRM mappings, packages, jobs, storage, AI retrieval and BI to tenants. Restrict file parsing and discovery collectors. AI tools require receiving-service authorization and user review. Managed identity and database row security are candidates, not substitutes for domain grants. Validate direct native access in addition to portal flows.</a:t>
            </a:r>
          </a:p>
          <a:p xmlns:a="http://schemas.openxmlformats.org/drawingml/2006/main">
            <a:r>
              <a:t/>
            </a:r>
          </a:p>
          <a:p xmlns:a="http://schemas.openxmlformats.org/drawingml/2006/main">
            <a:r>
              <a:t>Sources</a:t>
            </a:r>
          </a:p>
          <a:p xmlns:a="http://schemas.openxmlformats.org/drawingml/2006/main">
            <a:r>
              <a:t>S3: Keycloak administration and project</a:t>
            </a:r>
          </a:p>
          <a:p xmlns:a="http://schemas.openxmlformats.org/drawingml/2006/main">
            <a:r>
              <a:t>https://www.keycloak.org/docs/latest/server_admin/</a:t>
            </a:r>
          </a:p>
          <a:p xmlns:a="http://schemas.openxmlformats.org/drawingml/2006/main">
            <a:r>
              <a:t>https://github.com/keycloak/keycloak</a:t>
            </a:r>
          </a:p>
          <a:p xmlns:a="http://schemas.openxmlformats.org/drawingml/2006/main">
            <a:r>
              <a:t/>
            </a:r>
          </a:p>
          <a:p xmlns:a="http://schemas.openxmlformats.org/drawingml/2006/main">
            <a:r>
              <a:t>S4: Auth0 Organizations and pricing</a:t>
            </a:r>
          </a:p>
          <a:p xmlns:a="http://schemas.openxmlformats.org/drawingml/2006/main">
            <a:r>
              <a:t>https://auth0.com/docs/manage-users/organizations/create-first-organization</a:t>
            </a:r>
          </a:p>
          <a:p xmlns:a="http://schemas.openxmlformats.org/drawingml/2006/main">
            <a:r>
              <a:t>https://auth0.com/pricing</a:t>
            </a:r>
          </a:p>
          <a:p xmlns:a="http://schemas.openxmlformats.org/drawingml/2006/main">
            <a:r>
              <a:t/>
            </a:r>
          </a:p>
          <a:p xmlns:a="http://schemas.openxmlformats.org/drawingml/2006/main">
            <a:r>
              <a:t>S5: PostgreSQL row security and license</a:t>
            </a:r>
          </a:p>
          <a:p xmlns:a="http://schemas.openxmlformats.org/drawingml/2006/main">
            <a:r>
              <a:t>https://www.postgresql.org/docs/current/ddl-rowsecurity.html</a:t>
            </a:r>
          </a:p>
          <a:p xmlns:a="http://schemas.openxmlformats.org/drawingml/2006/main">
            <a:r>
              <a:t>https://www.postgresql.org/about/licence/</a:t>
            </a:r>
          </a:p>
          <a:p xmlns:a="http://schemas.openxmlformats.org/drawingml/2006/main">
            <a:r>
              <a:t/>
            </a:r>
          </a:p>
          <a:p xmlns:a="http://schemas.openxmlformats.org/drawingml/2006/main">
            <a:r>
              <a:t>S17: HubSpot CRM and integration documentation</a:t>
            </a:r>
          </a:p>
          <a:p xmlns:a="http://schemas.openxmlformats.org/drawingml/2006/main">
            <a:r>
              <a:t>https://developers.hubspot.com/docs/reference/api/overview</a:t>
            </a:r>
          </a:p>
          <a:p xmlns:a="http://schemas.openxmlformats.org/drawingml/2006/main">
            <a:r>
              <a:t>https://developers.hubspot.com/blog/a-developers-guide-to-hubspot-crm-objects-deals-object</a:t>
            </a:r>
          </a:p>
          <a:p xmlns:a="http://schemas.openxmlformats.org/drawingml/2006/main">
            <a:r>
              <a:t>https://developers.hubspot.com/docs/apps/developer-platform/add-features/configure-webhooks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OSS entries include libraries for custom development, not turnkey equivalents. Konva is canvas tooling, not RF simulation. NetBox is an inventory source of truth, not active discovery alone. Hamina and runZero need verified interface/export and licensing fit. Multi-Site remains a custom candidate unless vendor proof establishes its profile/override semantics. Marketplace paid product is not selected. Sources describe capabilities; recommendations are architectural judgments.</a:t>
            </a:r>
          </a:p>
          <a:p xmlns:a="http://schemas.openxmlformats.org/drawingml/2006/main">
            <a:r>
              <a:t/>
            </a:r>
          </a:p>
          <a:p xmlns:a="http://schemas.openxmlformats.org/drawingml/2006/main">
            <a:r>
              <a:t>Sources</a:t>
            </a:r>
          </a:p>
          <a:p xmlns:a="http://schemas.openxmlformats.org/drawingml/2006/main">
            <a:r>
              <a:t>S11: AI serving and retrieval</a:t>
            </a:r>
          </a:p>
          <a:p xmlns:a="http://schemas.openxmlformats.org/drawingml/2006/main">
            <a:r>
              <a:t>https://docs.vllm.ai/en/latest/</a:t>
            </a:r>
          </a:p>
          <a:p xmlns:a="http://schemas.openxmlformats.org/drawingml/2006/main">
            <a:r>
              <a:t>https://github.com/vllm-project/vllm</a:t>
            </a:r>
          </a:p>
          <a:p xmlns:a="http://schemas.openxmlformats.org/drawingml/2006/main">
            <a:r>
              <a:t>https://github.com/pgvector/pgvector</a:t>
            </a:r>
          </a:p>
          <a:p xmlns:a="http://schemas.openxmlformats.org/drawingml/2006/main">
            <a:r>
              <a:t/>
            </a:r>
          </a:p>
          <a:p xmlns:a="http://schemas.openxmlformats.org/drawingml/2006/main">
            <a:r>
              <a:t>S12: Amazon Bedrock</a:t>
            </a:r>
          </a:p>
          <a:p xmlns:a="http://schemas.openxmlformats.org/drawingml/2006/main">
            <a:r>
              <a:t>https://docs.aws.amazon.com/bedrock/latest/userguide/what-is-bedrock.html</a:t>
            </a:r>
          </a:p>
          <a:p xmlns:a="http://schemas.openxmlformats.org/drawingml/2006/main">
            <a:r>
              <a:t>https://docs.aws.amazon.com/bedrock/latest/userguide/data-protection.html</a:t>
            </a:r>
          </a:p>
          <a:p xmlns:a="http://schemas.openxmlformats.org/drawingml/2006/main">
            <a:r>
              <a:t/>
            </a:r>
          </a:p>
          <a:p xmlns:a="http://schemas.openxmlformats.org/drawingml/2006/main">
            <a:r>
              <a:t>S13: Floor-plan options</a:t>
            </a:r>
          </a:p>
          <a:p xmlns:a="http://schemas.openxmlformats.org/drawingml/2006/main">
            <a:r>
              <a:t>https://konvajs.org/</a:t>
            </a:r>
          </a:p>
          <a:p xmlns:a="http://schemas.openxmlformats.org/drawingml/2006/main">
            <a:r>
              <a:t>https://github.com/konvajs/konva/blob/master/LICENSE</a:t>
            </a:r>
          </a:p>
          <a:p xmlns:a="http://schemas.openxmlformats.org/drawingml/2006/main">
            <a:r>
              <a:t>https://docs.hamina.com/hamina</a:t>
            </a:r>
          </a:p>
          <a:p xmlns:a="http://schemas.openxmlformats.org/drawingml/2006/main">
            <a:r>
              <a:t/>
            </a:r>
          </a:p>
          <a:p xmlns:a="http://schemas.openxmlformats.org/drawingml/2006/main">
            <a:r>
              <a:t>S14: Discovery and inventory options</a:t>
            </a:r>
          </a:p>
          <a:p xmlns:a="http://schemas.openxmlformats.org/drawingml/2006/main">
            <a:r>
              <a:t>https://netboxlabs.com/docs/netbox/</a:t>
            </a:r>
          </a:p>
          <a:p xmlns:a="http://schemas.openxmlformats.org/drawingml/2006/main">
            <a:r>
              <a:t>https://github.com/netbox-community/netbox</a:t>
            </a:r>
          </a:p>
          <a:p xmlns:a="http://schemas.openxmlformats.org/drawingml/2006/main">
            <a:r>
              <a:t>https://www.runzero.com/platform/</a:t>
            </a:r>
          </a:p>
          <a:p xmlns:a="http://schemas.openxmlformats.org/drawingml/2006/main">
            <a:r>
              <a:t>https://nmap.org/book/man-legal.html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HubSpot CRM. Evaluate HubSpot CPQ first but do not presume subscriptions, automation APIs or technical multisite suitability. If it becomes quote authority, own technical validation can sit alongside it. Otherwise use custom or evaluated OSS quoting and synchronize summaries. HubSpot public documentation has evolving package names, so no fixed SKU or price is assumed. Managed identity/database/queue recommendations are unchanged in principle.</a:t>
            </a:r>
          </a:p>
          <a:p xmlns:a="http://schemas.openxmlformats.org/drawingml/2006/main">
            <a:r>
              <a:t/>
            </a:r>
          </a:p>
          <a:p xmlns:a="http://schemas.openxmlformats.org/drawingml/2006/main">
            <a:r>
              <a:t>Sources</a:t>
            </a:r>
          </a:p>
          <a:p xmlns:a="http://schemas.openxmlformats.org/drawingml/2006/main">
            <a:r>
              <a:t>S3: Keycloak administration and project</a:t>
            </a:r>
          </a:p>
          <a:p xmlns:a="http://schemas.openxmlformats.org/drawingml/2006/main">
            <a:r>
              <a:t>https://www.keycloak.org/docs/latest/server_admin/</a:t>
            </a:r>
          </a:p>
          <a:p xmlns:a="http://schemas.openxmlformats.org/drawingml/2006/main">
            <a:r>
              <a:t>https://github.com/keycloak/keycloak</a:t>
            </a:r>
          </a:p>
          <a:p xmlns:a="http://schemas.openxmlformats.org/drawingml/2006/main">
            <a:r>
              <a:t/>
            </a:r>
          </a:p>
          <a:p xmlns:a="http://schemas.openxmlformats.org/drawingml/2006/main">
            <a:r>
              <a:t>S4: Auth0 Organizations and pricing</a:t>
            </a:r>
          </a:p>
          <a:p xmlns:a="http://schemas.openxmlformats.org/drawingml/2006/main">
            <a:r>
              <a:t>https://auth0.com/docs/manage-users/organizations/create-first-organization</a:t>
            </a:r>
          </a:p>
          <a:p xmlns:a="http://schemas.openxmlformats.org/drawingml/2006/main">
            <a:r>
              <a:t>https://auth0.com/pricing</a:t>
            </a:r>
          </a:p>
          <a:p xmlns:a="http://schemas.openxmlformats.org/drawingml/2006/main">
            <a:r>
              <a:t/>
            </a:r>
          </a:p>
          <a:p xmlns:a="http://schemas.openxmlformats.org/drawingml/2006/main">
            <a:r>
              <a:t>S5: PostgreSQL row security and license</a:t>
            </a:r>
          </a:p>
          <a:p xmlns:a="http://schemas.openxmlformats.org/drawingml/2006/main">
            <a:r>
              <a:t>https://www.postgresql.org/docs/current/ddl-rowsecurity.html</a:t>
            </a:r>
          </a:p>
          <a:p xmlns:a="http://schemas.openxmlformats.org/drawingml/2006/main">
            <a:r>
              <a:t>https://www.postgresql.org/about/licence/</a:t>
            </a:r>
          </a:p>
          <a:p xmlns:a="http://schemas.openxmlformats.org/drawingml/2006/main">
            <a:r>
              <a:t/>
            </a:r>
          </a:p>
          <a:p xmlns:a="http://schemas.openxmlformats.org/drawingml/2006/main">
            <a:r>
              <a:t>S6: Managed PostgreSQL and containers</a:t>
            </a:r>
          </a:p>
          <a:p xmlns:a="http://schemas.openxmlformats.org/drawingml/2006/main">
            <a:r>
              <a:t>https://docs.aws.amazon.com/AmazonRDS/latest/UserGuide/CHAP_PostgreSQL.html</a:t>
            </a:r>
          </a:p>
          <a:p xmlns:a="http://schemas.openxmlformats.org/drawingml/2006/main">
            <a:r>
              <a:t>https://docs.aws.amazon.com/AmazonECS/latest/developerguide/AWS_Fargate.html</a:t>
            </a:r>
          </a:p>
          <a:p xmlns:a="http://schemas.openxmlformats.org/drawingml/2006/main">
            <a:r>
              <a:t/>
            </a:r>
          </a:p>
          <a:p xmlns:a="http://schemas.openxmlformats.org/drawingml/2006/main">
            <a:r>
              <a:t>S7: Reliable messaging and outbox</a:t>
            </a:r>
          </a:p>
          <a:p xmlns:a="http://schemas.openxmlformats.org/drawingml/2006/main">
            <a:r>
              <a:t>https://docs.aws.amazon.com/AWSSimpleQueueService/latest/SQSDeveloperGuide/standard-queues-at-least-once-delivery.html</a:t>
            </a:r>
          </a:p>
          <a:p xmlns:a="http://schemas.openxmlformats.org/drawingml/2006/main">
            <a:r>
              <a:t>https://docs.aws.amazon.com/prescriptive-guidance/latest/cloud-design-patterns/transactional-outbox.html</a:t>
            </a:r>
          </a:p>
          <a:p xmlns:a="http://schemas.openxmlformats.org/drawingml/2006/main">
            <a:r>
              <a:t>https://www.rabbitmq.com/docs/quorum-queues</a:t>
            </a:r>
          </a:p>
          <a:p xmlns:a="http://schemas.openxmlformats.org/drawingml/2006/main">
            <a:r>
              <a:t/>
            </a:r>
          </a:p>
          <a:p xmlns:a="http://schemas.openxmlformats.org/drawingml/2006/main">
            <a:r>
              <a:t>S9: ERPNext quoting and pricing</a:t>
            </a:r>
          </a:p>
          <a:p xmlns:a="http://schemas.openxmlformats.org/drawingml/2006/main">
            <a:r>
              <a:t>https://docs.frappe.io/erpnext/quotation</a:t>
            </a:r>
          </a:p>
          <a:p xmlns:a="http://schemas.openxmlformats.org/drawingml/2006/main">
            <a:r>
              <a:t>https://docs.frappe.io/erpnext/pricing-rule</a:t>
            </a:r>
          </a:p>
          <a:p xmlns:a="http://schemas.openxmlformats.org/drawingml/2006/main">
            <a:r>
              <a:t>https://github.com/frappe/erpnext</a:t>
            </a:r>
          </a:p>
          <a:p xmlns:a="http://schemas.openxmlformats.org/drawingml/2006/main">
            <a:r>
              <a:t/>
            </a:r>
          </a:p>
          <a:p xmlns:a="http://schemas.openxmlformats.org/drawingml/2006/main">
            <a:r>
              <a:t>S15: Business intelligence options</a:t>
            </a:r>
          </a:p>
          <a:p xmlns:a="http://schemas.openxmlformats.org/drawingml/2006/main">
            <a:r>
              <a:t>https://github.com/apache/superset</a:t>
            </a:r>
          </a:p>
          <a:p xmlns:a="http://schemas.openxmlformats.org/drawingml/2006/main">
            <a:r>
              <a:t>https://learn.microsoft.com/en-us/power-bi/developer/embedded/embedded-row-level-security</a:t>
            </a:r>
          </a:p>
          <a:p xmlns:a="http://schemas.openxmlformats.org/drawingml/2006/main">
            <a:r>
              <a:t>https://learn.microsoft.com/en-us/power-bi/guidance/powerbi-implementation-planning-usage-scenario-embed-for-your-customers</a:t>
            </a:r>
          </a:p>
          <a:p xmlns:a="http://schemas.openxmlformats.org/drawingml/2006/main">
            <a:r>
              <a:t/>
            </a:r>
          </a:p>
          <a:p xmlns:a="http://schemas.openxmlformats.org/drawingml/2006/main">
            <a:r>
              <a:t>S18: HubSpot commercial capabilities</a:t>
            </a:r>
          </a:p>
          <a:p xmlns:a="http://schemas.openxmlformats.org/drawingml/2006/main">
            <a:r>
              <a:t>https://knowledge.hubspot.com/cpq/getting-started-with-hubspot-cpq</a:t>
            </a:r>
          </a:p>
          <a:p xmlns:a="http://schemas.openxmlformats.org/drawingml/2006/main">
            <a:r>
              <a:t>https://knowledge.hubspot.com/products/create-and-manage-products</a:t>
            </a:r>
          </a:p>
          <a:p xmlns:a="http://schemas.openxmlformats.org/drawingml/2006/main">
            <a:r>
              <a:t>https://legal.hubspot.com/hubspot-product-and-services-catalog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Supersedes previous modular-core estimate. P0 2-3 weeks, P1 6-8, P2 6-8 and P3 4-6 give 18-25 total weeks. Pilot after P0/P1 at week 8-11. Assumes 8 FTE and narrow thin-slice scope. Independent services exist when delivered, not as later extraction. Vendor rights, unsupported interfaces and deeper specialist functions can alter the schedule. P0 must re-estimate.</a:t>
            </a:r>
          </a:p>
          <a:p xmlns:a="http://schemas.openxmlformats.org/drawingml/2006/main">
            <a:r>
              <a:t/>
            </a:r>
          </a:p>
          <a:p xmlns:a="http://schemas.openxmlformats.org/drawingml/2006/main">
            <a:r>
              <a:t>Sources</a:t>
            </a:r>
          </a:p>
          <a:p xmlns:a="http://schemas.openxmlformats.org/drawingml/2006/main">
            <a:r>
              <a:t>S1: Platform_Strategy_Updated.pdf</a:t>
            </a:r>
          </a:p>
          <a:p xmlns:a="http://schemas.openxmlformats.org/drawingml/2006/main">
            <a:r>
              <a:t>User-confirmed source, 24 pages, created 2 October 2026. SHA-256 fe6fd6bd2b90f74c245376e4a901cc1f9e02a7ec4430beb698ae488e6ab830d9. Page numbers in this proposal refer to physical PDF pages.</a:t>
            </a:r>
          </a:p>
          <a:p xmlns:a="http://schemas.openxmlformats.org/drawingml/2006/main">
            <a:r>
              <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R01-R50 replace B01-B50 as local planning IDs, not created task records. 50 items each 2-3 focused days, totaling 133 seed person-days. This is not the full program estimate. Every item has role, dependencies and acceptance criteria. Thin integration and vendor spikes produce additional implementation tasks. The examples here correspond to the revised backlog.</a:t>
            </a:r>
          </a:p>
          <a:p xmlns:a="http://schemas.openxmlformats.org/drawingml/2006/main">
            <a:r>
              <a:t/>
            </a:r>
          </a:p>
          <a:p xmlns:a="http://schemas.openxmlformats.org/drawingml/2006/main">
            <a:r>
              <a:t>Sources</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named targets are proposals, not measured results or vendor SLAs. P0 confirms 10 tenants, 100 named users, 25 concurrent, 60 sites and 5000 expanded lines per quote with 10000 offers. Critical shared services and portal target 99.9% monthly availability. Local reads p95 under 500 ms, local quote under 5 seconds, 20-page rendering under 60 seconds. External provider timing is separate and complete journeys also need measurement.</a:t>
            </a:r>
          </a:p>
          <a:p xmlns:a="http://schemas.openxmlformats.org/drawingml/2006/main">
            <a:r>
              <a:t/>
            </a:r>
          </a:p>
          <a:p xmlns:a="http://schemas.openxmlformats.org/drawingml/2006/main">
            <a:r>
              <a:t>Sources</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Assumption: five engineers including lead, one quality, one platform/security, half product, half design = 8 FTE. 18-25 weeks gives 144-200 FTE-weeks. This supersedes the previous 6.5 FTE assumption. HubSpot administrator, catalog/commercial stewards and specialist reviews require extra availability. Multiply role weeks by approved rates and add subscriptions/cloud/data rights; no monetary budget is claimed.</a:t>
            </a:r>
          </a:p>
          <a:p xmlns:a="http://schemas.openxmlformats.org/drawingml/2006/main">
            <a:r>
              <a:t/>
            </a:r>
          </a:p>
          <a:p xmlns:a="http://schemas.openxmlformats.org/drawingml/2006/main">
            <a:r>
              <a:t>Sources</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independent business services, portal integration, HubSpot CRM. Unresolved: product/pricing master, quote authority, account tier and scope, field mapping, identity/residency, per-service solution selection and staffing. The proposal contains D01-D08 with owners and timing. HubSpot is not a vendor to discover or replace; its configuration and commercial fit must be inspected with authorization during future delivery.</a:t>
            </a:r>
          </a:p>
          <a:p xmlns:a="http://schemas.openxmlformats.org/drawingml/2006/main">
            <a:r>
              <a:t/>
            </a:r>
          </a:p>
          <a:p xmlns:a="http://schemas.openxmlformats.org/drawingml/2006/main">
            <a:r>
              <a:t>Sources</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a:p xmlns:a="http://schemas.openxmlformats.org/drawingml/2006/main">
            <a:r>
              <a:t/>
            </a:r>
          </a:p>
          <a:p xmlns:a="http://schemas.openxmlformats.org/drawingml/2006/main">
            <a:r>
              <a:t>S17: HubSpot CRM and integration documentation</a:t>
            </a:r>
          </a:p>
          <a:p xmlns:a="http://schemas.openxmlformats.org/drawingml/2006/main">
            <a:r>
              <a:t>https://developers.hubspot.com/docs/reference/api/overview</a:t>
            </a:r>
          </a:p>
          <a:p xmlns:a="http://schemas.openxmlformats.org/drawingml/2006/main">
            <a:r>
              <a:t>https://developers.hubspot.com/blog/a-developers-guide-to-hubspot-crm-objects-deals-object</a:t>
            </a:r>
          </a:p>
          <a:p xmlns:a="http://schemas.openxmlformats.org/drawingml/2006/main">
            <a:r>
              <a:t>https://developers.hubspot.com/docs/apps/developer-platform/add-features/configure-webhooks</a:t>
            </a:r>
          </a:p>
          <a:p xmlns:a="http://schemas.openxmlformats.org/drawingml/2006/main">
            <a:r>
              <a:t/>
            </a:r>
          </a:p>
          <a:p xmlns:a="http://schemas.openxmlformats.org/drawingml/2006/main">
            <a:r>
              <a:t>S18: HubSpot commercial capabilities</a:t>
            </a:r>
          </a:p>
          <a:p xmlns:a="http://schemas.openxmlformats.org/drawingml/2006/main">
            <a:r>
              <a:t>https://knowledge.hubspot.com/cpq/getting-started-with-hubspot-cpq</a:t>
            </a:r>
          </a:p>
          <a:p xmlns:a="http://schemas.openxmlformats.org/drawingml/2006/main">
            <a:r>
              <a:t>https://knowledge.hubspot.com/products/create-and-manage-products</a:t>
            </a:r>
          </a:p>
          <a:p xmlns:a="http://schemas.openxmlformats.org/drawingml/2006/main">
            <a:r>
              <a:t>https://legal.hubspot.com/hubspot-product-and-services-catalog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 direction and definition work, not application implementation or deployment. User clarification is authoritative for independent business services and HubSpot CRM. Proposed shared contract/authority choices need validation. P0 returns evidence from candidate solutions and CRM mapping with a revised estimate. No live CRM changes were made during this planning update.</a:t>
            </a:r>
          </a:p>
          <a:p xmlns:a="http://schemas.openxmlformats.org/drawingml/2006/main">
            <a:r>
              <a:t/>
            </a:r>
          </a:p>
          <a:p xmlns:a="http://schemas.openxmlformats.org/drawingml/2006/main">
            <a:r>
              <a:t>Sources</a:t>
            </a:r>
          </a:p>
          <a:p xmlns:a="http://schemas.openxmlformats.org/drawingml/2006/main">
            <a:r>
              <a:t>S1: Platform_Strategy_Updated.pdf</a:t>
            </a:r>
          </a:p>
          <a:p xmlns:a="http://schemas.openxmlformats.org/drawingml/2006/main">
            <a:r>
              <a:t>User-confirmed source, 24 pages, created 2 October 2026. SHA-256 fe6fd6bd2b90f74c245376e4a901cc1f9e02a7ec4430beb698ae488e6ab830d9. Page numbers in this proposal refer to physical PDF pages.</a:t>
            </a:r>
          </a:p>
          <a:p xmlns:a="http://schemas.openxmlformats.org/drawingml/2006/main">
            <a:r>
              <a:t/>
            </a:r>
          </a:p>
          <a:p xmlns:a="http://schemas.openxmlformats.org/drawingml/2006/main">
            <a:r>
              <a:t>S2: Authoritative task brief and architecture clarification</a:t>
            </a:r>
          </a:p>
          <a:p xmlns:a="http://schemas.openxmlformats.org/drawingml/2006/main">
            <a:r>
              <a:t>User brief of 5 October and clarification of 6 October 2026. Independent entry points mean independent services with potentially different solutions. The portal integrates them. HubSpot is the existing CRM. Shared product and pricing data are allowed. This revision supersedes the earlier modular-core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4390cd8f8f45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2ecbf2f03946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0a01233d4e4b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5fcf4f052a49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83f433e7a54f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9e2436bff44d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94F65A-4939-4590-B85E-9118CD630E0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2043DE-104B-4860-BBB9-C4398AD4271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749D90-8DA4-4B56-9B1A-CFC4B3191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46D99D-8EAF-4C45-83D8-9DB7F6CAAD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E3CB5D-7351-4952-85CF-823A554110F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4BBB72-76FA-4CB6-93B3-8701821B94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359EB0-C040-4316-8789-094445D22F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64B3EA-26A1-446A-9C9A-6825BE7623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67FF36-78DD-4D32-92D4-9C9114E766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02C448-2AB0-49C5-BE7F-40DF23FC28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dad29a7cb34a54" /><Relationship Type="http://schemas.openxmlformats.org/officeDocument/2006/relationships/slideLayout" Target="/ppt/slideLayouts/slideLayout1.xml" Id="R5cec99adc8464ccb" /><Relationship Type="http://schemas.openxmlformats.org/officeDocument/2006/relationships/slideLayout" Target="/ppt/slideLayouts/slideLayout2.xml" Id="R327f71b99d2649b3" /><Relationship Type="http://schemas.openxmlformats.org/officeDocument/2006/relationships/slideLayout" Target="/ppt/slideLayouts/slideLayout3.xml" Id="R7397bbb127dd493a" /><Relationship Type="http://schemas.openxmlformats.org/officeDocument/2006/relationships/slideLayout" Target="/ppt/slideLayouts/slideLayout4.xml" Id="R707c0425e0084baa" /><Relationship Type="http://schemas.openxmlformats.org/officeDocument/2006/relationships/slideLayout" Target="/ppt/slideLayouts/slideLayout5.xml" Id="R7d4c50c854eb4478" /><Relationship Type="http://schemas.openxmlformats.org/officeDocument/2006/relationships/slideLayout" Target="/ppt/slideLayouts/slideLayout6.xml" Id="Rd1d4fd8ac37e46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ec99adc8464ccb"/>
    <p:sldLayoutId xmlns:r="http://schemas.openxmlformats.org/officeDocument/2006/relationships" id="2147483650" r:id="R327f71b99d2649b3"/>
    <p:sldLayoutId xmlns:r="http://schemas.openxmlformats.org/officeDocument/2006/relationships" id="2147483651" r:id="R7397bbb127dd493a"/>
    <p:sldLayoutId xmlns:r="http://schemas.openxmlformats.org/officeDocument/2006/relationships" id="2147483652" r:id="R707c0425e0084baa"/>
    <p:sldLayoutId xmlns:r="http://schemas.openxmlformats.org/officeDocument/2006/relationships" id="2147483653" r:id="R7d4c50c854eb4478"/>
    <p:sldLayoutId xmlns:r="http://schemas.openxmlformats.org/officeDocument/2006/relationships" id="2147483654" r:id="Rd1d4fd8ac37e46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c8578a40b64493" /><Relationship Type="http://schemas.openxmlformats.org/officeDocument/2006/relationships/notesSlide" Target="/ppt/notesSlides/notesSlide1.xml" Id="Rd78072525bf943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6ab72ab5b24170" /><Relationship Type="http://schemas.openxmlformats.org/officeDocument/2006/relationships/notesSlide" Target="/ppt/notesSlides/notesSlide2.xml" Id="Rcbbce0802a1b4f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2f563de7f741de" /><Relationship Type="http://schemas.openxmlformats.org/officeDocument/2006/relationships/notesSlide" Target="/ppt/notesSlides/notesSlide3.xml" Id="Re3984150bde44c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0f6c78225e4c09" /><Relationship Type="http://schemas.openxmlformats.org/officeDocument/2006/relationships/notesSlide" Target="/ppt/notesSlides/notesSlide4.xml" Id="R9029e62d953a4e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dd9b20ab45416a" /><Relationship Type="http://schemas.openxmlformats.org/officeDocument/2006/relationships/notesSlide" Target="/ppt/notesSlides/notesSlide5.xml" Id="Rfe0126e0ef914c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c5299f705c4e1a" /><Relationship Type="http://schemas.openxmlformats.org/officeDocument/2006/relationships/notesSlide" Target="/ppt/notesSlides/notesSlide6.xml" Id="Rc78ad36d92bf4a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1b6e0884e74c10" /><Relationship Type="http://schemas.openxmlformats.org/officeDocument/2006/relationships/notesSlide" Target="/ppt/notesSlides/notesSlide7.xml" Id="R72f3eb15945345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54b9e613ee417b" /><Relationship Type="http://schemas.openxmlformats.org/officeDocument/2006/relationships/notesSlide" Target="/ppt/notesSlides/notesSlide8.xml" Id="R9c754c841e5c44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f911bb68f546d2" /><Relationship Type="http://schemas.openxmlformats.org/officeDocument/2006/relationships/notesSlide" Target="/ppt/notesSlides/notesSlide9.xml" Id="Rf663c61e06bc4d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873bf02039041e3" /><Relationship Type="http://schemas.openxmlformats.org/officeDocument/2006/relationships/notesSlide" Target="/ppt/notesSlides/notesSlide10.xml" Id="R2e5bc0dcc4b244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8cd5a9832cd47f8" /><Relationship Type="http://schemas.openxmlformats.org/officeDocument/2006/relationships/notesSlide" Target="/ppt/notesSlides/notesSlide11.xml" Id="R8c69afd3e93a44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4e506dffd2f4af3" /><Relationship Type="http://schemas.openxmlformats.org/officeDocument/2006/relationships/notesSlide" Target="/ppt/notesSlides/notesSlide12.xml" Id="Rf0834f558fe348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25df13648ef46aa" /><Relationship Type="http://schemas.openxmlformats.org/officeDocument/2006/relationships/notesSlide" Target="/ppt/notesSlides/notesSlide13.xml" Id="R8a36e233e6e949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61c71c4200d4303" /><Relationship Type="http://schemas.openxmlformats.org/officeDocument/2006/relationships/notesSlide" Target="/ppt/notesSlides/notesSlide14.xml" Id="R1cf0a49638b34b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c618db39d154759" /><Relationship Type="http://schemas.openxmlformats.org/officeDocument/2006/relationships/notesSlide" Target="/ppt/notesSlides/notesSlide15.xml" Id="Re1e7979fc0f94b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2ef8e24b8194d50" /><Relationship Type="http://schemas.openxmlformats.org/officeDocument/2006/relationships/notesSlide" Target="/ppt/notesSlides/notesSlide16.xml" Id="Rd0e1ad3b850a47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a358b232234c75" /><Relationship Type="http://schemas.openxmlformats.org/officeDocument/2006/relationships/notesSlide" Target="/ppt/notesSlides/notesSlide17.xml" Id="Rbd915fe0d8d64c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4802aed566e4882" /><Relationship Type="http://schemas.openxmlformats.org/officeDocument/2006/relationships/notesSlide" Target="/ppt/notesSlides/notesSlide18.xml" Id="R50813f8b71014714" /></Relationships>
</file>

<file path=ppt/slides/slide1.xml><?xml version="1.0" encoding="utf-8"?>
<p:sld xmlns:p="http://schemas.openxmlformats.org/presentationml/2006/main">
  <p:cSld>
    <p:bg>
      <p:bgPr>
        <a:solidFill xmlns:a="http://schemas.openxmlformats.org/drawingml/2006/main">
          <a:srgbClr val="1231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6B39B8-2BEC-4EDF-8984-7BAFABC943E2}"/>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Liberation Sans"/>
                <a:ea typeface="Liberation Sans"/>
                <a:cs typeface="Liberation Sans"/>
              </a:defRPr>
            </a:def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10F2B9B6-CABB-401B-BE73-2ADCDDC5AB04}"/>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4C7D7"/>
                </a:solidFill>
                <a:latin typeface="Liberation Sans"/>
                <a:ea typeface="Liberation Sans"/>
                <a:cs typeface="Liberation Sans"/>
              </a:defRPr>
            </a:defPPr>
          </a:lstStyle>
          <a:p xmlns:a="http://schemas.openxmlformats.org/drawingml/2006/main">
            <a:pPr>
              <a:defRPr sz="1200" b="0">
                <a:solidFill>
                  <a:srgbClr val="B4C7D7"/>
                </a:solidFill>
                <a:latin typeface="Liberation Sans"/>
                <a:ea typeface="Liberation Sans"/>
                <a:cs typeface="Liberation Sans"/>
              </a:defRPr>
            </a:pPr>
            <a:r>
              <a:rPr sz="1200" b="0">
                <a:solidFill>
                  <a:srgbClr val="B4C7D7"/>
                </a:solidFill>
                <a:latin typeface="Liberation Sans"/>
                <a:ea typeface="Liberation Sans"/>
                <a:cs typeface="Liberation Sans"/>
              </a:rPr>
              <a:t>01</a:t>
            </a:r>
          </a:p>
        </p:txBody>
      </p:sp>
      <p:sp>
        <p:nvSpPr>
          <p:cNvPr id="3" name="">
            <a:extLst xmlns:a="http://schemas.openxmlformats.org/drawingml/2006/main">
              <a:ext uri="{FF2B5EF4-FFF2-40B4-BE49-F238E27FC236}">
                <a16:creationId xmlns:a16="http://schemas.microsoft.com/office/drawing/2014/main" id="{B445AB4A-C721-481E-B57A-0D5EFA20A18B}"/>
              </a:ext>
            </a:extLst>
          </p:cNvPr>
          <p:cNvSpPr>
            <a:spLocks xmlns:a="http://schemas.openxmlformats.org/drawingml/2006/main" noGrp="1"/>
          </p:cNvSpPr>
          <p:nvPr/>
        </p:nvSpPr>
        <p:spPr>
          <a:xfrm xmlns:a="http://schemas.openxmlformats.org/drawingml/2006/main">
            <a:off x="571500" y="1476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100" b="1">
                <a:solidFill>
                  <a:srgbClr val="FFFFFF"/>
                </a:solidFill>
                <a:latin typeface="Liberation Sans"/>
                <a:ea typeface="Liberation Sans"/>
                <a:cs typeface="Liberation Sans"/>
              </a:defRPr>
            </a:defPPr>
          </a:lstStyle>
          <a:p xmlns:a="http://schemas.openxmlformats.org/drawingml/2006/main">
            <a:pPr>
              <a:defRPr sz="5100" b="1">
                <a:solidFill>
                  <a:srgbClr val="FFFFFF"/>
                </a:solidFill>
                <a:latin typeface="Liberation Sans"/>
                <a:ea typeface="Liberation Sans"/>
                <a:cs typeface="Liberation Sans"/>
              </a:defRPr>
            </a:pPr>
            <a:r>
              <a:rPr sz="5100" b="1">
                <a:solidFill>
                  <a:srgbClr val="FFFFFF"/>
                </a:solidFill>
                <a:latin typeface="Liberation Sans"/>
                <a:ea typeface="Liberation Sans"/>
                <a:cs typeface="Liberation Sans"/>
              </a:rPr>
              <a:t>Partner Portal</a:t>
            </a:r>
          </a:p>
        </p:txBody>
      </p:sp>
      <p:sp>
        <p:nvSpPr>
          <p:cNvPr id="4" name="">
            <a:extLst xmlns:a="http://schemas.openxmlformats.org/drawingml/2006/main">
              <a:ext uri="{FF2B5EF4-FFF2-40B4-BE49-F238E27FC236}">
                <a16:creationId xmlns:a16="http://schemas.microsoft.com/office/drawing/2014/main" id="{32B50EAB-363D-46F4-9221-9F91CA457587}"/>
              </a:ext>
            </a:extLst>
          </p:cNvPr>
          <p:cNvSpPr>
            <a:spLocks xmlns:a="http://schemas.openxmlformats.org/drawingml/2006/main" noGrp="1"/>
          </p:cNvSpPr>
          <p:nvPr/>
        </p:nvSpPr>
        <p:spPr>
          <a:xfrm xmlns:a="http://schemas.openxmlformats.org/drawingml/2006/main">
            <a:off x="571500" y="27146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0">
                <a:solidFill>
                  <a:srgbClr val="FFFFFF"/>
                </a:solidFill>
                <a:latin typeface="Liberation Sans"/>
                <a:ea typeface="Liberation Sans"/>
                <a:cs typeface="Liberation Sans"/>
              </a:defRPr>
            </a:defPPr>
          </a:lstStyle>
          <a:p xmlns:a="http://schemas.openxmlformats.org/drawingml/2006/main">
            <a:pPr>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Independent services</a:t>
            </a:r>
          </a:p>
          <a:p xmlns:a="http://schemas.openxmlformats.org/drawingml/2006/main">
            <a:pPr>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and integration architecture</a:t>
            </a:r>
          </a:p>
        </p:txBody>
      </p:sp>
      <p:sp>
        <p:nvSpPr>
          <p:cNvPr id="5" name="">
            <a:extLst xmlns:a="http://schemas.openxmlformats.org/drawingml/2006/main">
              <a:ext uri="{FF2B5EF4-FFF2-40B4-BE49-F238E27FC236}">
                <a16:creationId xmlns:a16="http://schemas.microsoft.com/office/drawing/2014/main" id="{39D5D9B8-D50A-4118-A9E1-3C2687F7EECE}"/>
              </a:ext>
            </a:extLst>
          </p:cNvPr>
          <p:cNvSpPr>
            <a:spLocks xmlns:a="http://schemas.openxmlformats.org/drawingml/2006/main" noGrp="1"/>
          </p:cNvSpPr>
          <p:nvPr/>
        </p:nvSpPr>
        <p:spPr>
          <a:xfrm xmlns:a="http://schemas.openxmlformats.org/drawingml/2006/main">
            <a:off x="571500"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4C7D7"/>
                </a:solidFill>
                <a:latin typeface="Liberation Sans"/>
                <a:ea typeface="Liberation Sans"/>
                <a:cs typeface="Liberation Sans"/>
              </a:defRPr>
            </a:defPPr>
          </a:lstStyle>
          <a:p xmlns:a="http://schemas.openxmlformats.org/drawingml/2006/main">
            <a:pPr>
              <a:defRPr sz="1800" b="0">
                <a:solidFill>
                  <a:srgbClr val="B4C7D7"/>
                </a:solidFill>
                <a:latin typeface="Liberation Sans"/>
                <a:ea typeface="Liberation Sans"/>
                <a:cs typeface="Liberation Sans"/>
              </a:defRPr>
            </a:pPr>
            <a:r>
              <a:rPr sz="1800" b="0">
                <a:solidFill>
                  <a:srgbClr val="B4C7D7"/>
                </a:solidFill>
                <a:latin typeface="Liberation Sans"/>
                <a:ea typeface="Liberation Sans"/>
                <a:cs typeface="Liberation Sans"/>
              </a:rPr>
              <a:t>CTO review  /  NGENI-5  /  Revision 2  /  6 October 2026</a:t>
            </a:r>
          </a:p>
        </p:txBody>
      </p:sp>
    </p:spTree>
    <p:extLst>
      <p:ext uri="{BB962C8B-B14F-4D97-AF65-F5344CB8AC3E}">
        <p14:creationId xmlns:p14="http://schemas.microsoft.com/office/powerpoint/2010/main" val="18037635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C13BCF-6B3B-4D4E-921E-498C3340F1DF}"/>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Architecture direction</a:t>
            </a:r>
          </a:p>
        </p:txBody>
      </p:sp>
      <p:sp>
        <p:nvSpPr>
          <p:cNvPr id="2" name="">
            <a:extLst xmlns:a="http://schemas.openxmlformats.org/drawingml/2006/main">
              <a:ext uri="{FF2B5EF4-FFF2-40B4-BE49-F238E27FC236}">
                <a16:creationId xmlns:a16="http://schemas.microsoft.com/office/drawing/2014/main" id="{FDF987D9-52F9-4CE5-A12D-ECEC89B05669}"/>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02</a:t>
            </a:r>
          </a:p>
        </p:txBody>
      </p:sp>
      <p:sp>
        <p:nvSpPr>
          <p:cNvPr id="3" name="">
            <a:extLst xmlns:a="http://schemas.openxmlformats.org/drawingml/2006/main">
              <a:ext uri="{FF2B5EF4-FFF2-40B4-BE49-F238E27FC236}">
                <a16:creationId xmlns:a16="http://schemas.microsoft.com/office/drawing/2014/main" id="{C017A0A3-82F1-4A14-BE4B-DC671991E7EE}"/>
              </a:ext>
            </a:extLst>
          </p:cNvPr>
          <p:cNvSpPr>
            <a:spLocks xmlns:a="http://schemas.openxmlformats.org/drawingml/2006/main" noGrp="1"/>
          </p:cNvSpPr>
          <p:nvPr/>
        </p:nvSpPr>
        <p:spPr>
          <a:xfrm xmlns:a="http://schemas.openxmlformats.org/drawingml/2006/main">
            <a:off x="5715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85ADB"/>
                </a:solidFill>
                <a:latin typeface="Liberation Sans"/>
                <a:ea typeface="Liberation Sans"/>
                <a:cs typeface="Liberation Sans"/>
              </a:defRPr>
            </a:defPPr>
          </a:lstStyle>
          <a:p xmlns:a="http://schemas.openxmlformats.org/drawingml/2006/main">
            <a:pPr>
              <a:defRPr sz="2400" b="1">
                <a:solidFill>
                  <a:srgbClr val="185ADB"/>
                </a:solidFill>
                <a:latin typeface="Liberation Sans"/>
                <a:ea typeface="Liberation Sans"/>
                <a:cs typeface="Liberation Sans"/>
              </a:defRPr>
            </a:pPr>
            <a:r>
              <a:rPr sz="2400" b="1">
                <a:solidFill>
                  <a:srgbClr val="185ADB"/>
                </a:solidFill>
                <a:latin typeface="Liberation Sans"/>
                <a:ea typeface="Liberation Sans"/>
                <a:cs typeface="Liberation Sans"/>
              </a:rPr>
              <a:t>Five independent business services</a:t>
            </a:r>
          </a:p>
        </p:txBody>
      </p:sp>
      <p:sp>
        <p:nvSpPr>
          <p:cNvPr id="4" name="">
            <a:extLst xmlns:a="http://schemas.openxmlformats.org/drawingml/2006/main">
              <a:ext uri="{FF2B5EF4-FFF2-40B4-BE49-F238E27FC236}">
                <a16:creationId xmlns:a16="http://schemas.microsoft.com/office/drawing/2014/main" id="{AC9B3B86-C4DD-48D9-8D96-2C43AD7D1529}"/>
              </a:ext>
            </a:extLst>
          </p:cNvPr>
          <p:cNvSpPr>
            <a:spLocks xmlns:a="http://schemas.openxmlformats.org/drawingml/2006/main" noGrp="1"/>
          </p:cNvSpPr>
          <p:nvPr/>
        </p:nvSpPr>
        <p:spPr>
          <a:xfrm xmlns:a="http://schemas.openxmlformats.org/drawingml/2006/main">
            <a:off x="571500" y="22193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42A3C"/>
                </a:solidFill>
                <a:latin typeface="Liberation Sans"/>
                <a:ea typeface="Liberation Sans"/>
                <a:cs typeface="Liberation Sans"/>
              </a:defRPr>
            </a:defPPr>
          </a:lstStyle>
          <a:p xmlns:a="http://schemas.openxmlformats.org/drawingml/2006/main">
            <a:pPr>
              <a:defRPr sz="2400" b="0">
                <a:solidFill>
                  <a:srgbClr val="142A3C"/>
                </a:solidFill>
                <a:latin typeface="Liberation Sans"/>
                <a:ea typeface="Liberation Sans"/>
                <a:cs typeface="Liberation Sans"/>
              </a:defRPr>
            </a:pPr>
            <a:r>
              <a:rPr sz="2400" b="0">
                <a:solidFill>
                  <a:srgbClr val="142A3C"/>
                </a:solidFill>
                <a:latin typeface="Liberation Sans"/>
                <a:ea typeface="Liberation Sans"/>
                <a:cs typeface="Liberation Sans"/>
              </a:rPr>
              <a:t>Marketplace, Floor Plan, Discovery,</a:t>
            </a:r>
          </a:p>
          <a:p xmlns:a="http://schemas.openxmlformats.org/drawingml/2006/main">
            <a:pPr>
              <a:defRPr sz="2400" b="0">
                <a:solidFill>
                  <a:srgbClr val="142A3C"/>
                </a:solidFill>
                <a:latin typeface="Liberation Sans"/>
                <a:ea typeface="Liberation Sans"/>
                <a:cs typeface="Liberation Sans"/>
              </a:defRPr>
            </a:pPr>
            <a:r>
              <a:rPr sz="2400" b="0">
                <a:solidFill>
                  <a:srgbClr val="142A3C"/>
                </a:solidFill>
                <a:latin typeface="Liberation Sans"/>
                <a:ea typeface="Liberation Sans"/>
                <a:cs typeface="Liberation Sans"/>
              </a:rPr>
              <a:t>AI Solution Builder and Multi-Site Designer</a:t>
            </a:r>
          </a:p>
        </p:txBody>
      </p:sp>
      <p:sp>
        <p:nvSpPr>
          <p:cNvPr id="5" name="">
            <a:extLst xmlns:a="http://schemas.openxmlformats.org/drawingml/2006/main">
              <a:ext uri="{FF2B5EF4-FFF2-40B4-BE49-F238E27FC236}">
                <a16:creationId xmlns:a16="http://schemas.microsoft.com/office/drawing/2014/main" id="{69149BE5-C295-443F-86B3-B03C8E9A01D5}"/>
              </a:ext>
            </a:extLst>
          </p:cNvPr>
          <p:cNvSpPr>
            <a:spLocks xmlns:a="http://schemas.openxmlformats.org/drawingml/2006/main" noGrp="1"/>
          </p:cNvSpPr>
          <p:nvPr/>
        </p:nvSpPr>
        <p:spPr>
          <a:xfrm xmlns:a="http://schemas.openxmlformats.org/drawingml/2006/main">
            <a:off x="571500" y="3571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85ADB"/>
                </a:solidFill>
                <a:latin typeface="Liberation Sans"/>
                <a:ea typeface="Liberation Sans"/>
                <a:cs typeface="Liberation Sans"/>
              </a:defRPr>
            </a:defPPr>
          </a:lstStyle>
          <a:p xmlns:a="http://schemas.openxmlformats.org/drawingml/2006/main">
            <a:pPr>
              <a:defRPr sz="2400" b="1">
                <a:solidFill>
                  <a:srgbClr val="185ADB"/>
                </a:solidFill>
                <a:latin typeface="Liberation Sans"/>
                <a:ea typeface="Liberation Sans"/>
                <a:cs typeface="Liberation Sans"/>
              </a:defRPr>
            </a:pPr>
            <a:r>
              <a:rPr sz="2400" b="1">
                <a:solidFill>
                  <a:srgbClr val="185ADB"/>
                </a:solidFill>
                <a:latin typeface="Liberation Sans"/>
                <a:ea typeface="Liberation Sans"/>
                <a:cs typeface="Liberation Sans"/>
              </a:rPr>
              <a:t>A portal that integrates those solutions</a:t>
            </a:r>
          </a:p>
        </p:txBody>
      </p:sp>
      <p:sp>
        <p:nvSpPr>
          <p:cNvPr id="6" name="">
            <a:extLst xmlns:a="http://schemas.openxmlformats.org/drawingml/2006/main">
              <a:ext uri="{FF2B5EF4-FFF2-40B4-BE49-F238E27FC236}">
                <a16:creationId xmlns:a16="http://schemas.microsoft.com/office/drawing/2014/main" id="{26D24411-EEC1-4857-A27F-A1A012BCCC10}"/>
              </a:ext>
            </a:extLst>
          </p:cNvPr>
          <p:cNvSpPr>
            <a:spLocks xmlns:a="http://schemas.openxmlformats.org/drawingml/2006/main" noGrp="1"/>
          </p:cNvSpPr>
          <p:nvPr/>
        </p:nvSpPr>
        <p:spPr>
          <a:xfrm xmlns:a="http://schemas.openxmlformats.org/drawingml/2006/main">
            <a:off x="571500" y="41243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42A3C"/>
                </a:solidFill>
                <a:latin typeface="Liberation Sans"/>
                <a:ea typeface="Liberation Sans"/>
                <a:cs typeface="Liberation Sans"/>
              </a:defRPr>
            </a:defPPr>
          </a:lstStyle>
          <a:p xmlns:a="http://schemas.openxmlformats.org/drawingml/2006/main">
            <a:pPr>
              <a:defRPr sz="2400" b="0">
                <a:solidFill>
                  <a:srgbClr val="142A3C"/>
                </a:solidFill>
                <a:latin typeface="Liberation Sans"/>
                <a:ea typeface="Liberation Sans"/>
                <a:cs typeface="Liberation Sans"/>
              </a:defRPr>
            </a:pPr>
            <a:r>
              <a:rPr sz="2400" b="0">
                <a:solidFill>
                  <a:srgbClr val="142A3C"/>
                </a:solidFill>
                <a:latin typeface="Liberation Sans"/>
                <a:ea typeface="Liberation Sans"/>
                <a:cs typeface="Liberation Sans"/>
              </a:rPr>
              <a:t>Common access, context and handoffs.</a:t>
            </a:r>
          </a:p>
          <a:p xmlns:a="http://schemas.openxmlformats.org/drawingml/2006/main">
            <a:pPr>
              <a:defRPr sz="2400" b="0">
                <a:solidFill>
                  <a:srgbClr val="142A3C"/>
                </a:solidFill>
                <a:latin typeface="Liberation Sans"/>
                <a:ea typeface="Liberation Sans"/>
                <a:cs typeface="Liberation Sans"/>
              </a:defRPr>
            </a:pPr>
            <a:r>
              <a:rPr sz="2400" b="0">
                <a:solidFill>
                  <a:srgbClr val="142A3C"/>
                </a:solidFill>
                <a:latin typeface="Liberation Sans"/>
                <a:ea typeface="Liberation Sans"/>
                <a:cs typeface="Liberation Sans"/>
              </a:rPr>
              <a:t>Shared product and pricing authority. HubSpot CRM.</a:t>
            </a:r>
          </a:p>
        </p:txBody>
      </p:sp>
      <p:sp>
        <p:nvSpPr>
          <p:cNvPr id="7" name="">
            <a:extLst xmlns:a="http://schemas.openxmlformats.org/drawingml/2006/main">
              <a:ext uri="{FF2B5EF4-FFF2-40B4-BE49-F238E27FC236}">
                <a16:creationId xmlns:a16="http://schemas.microsoft.com/office/drawing/2014/main" id="{52503EAC-C324-4D06-B748-6F69FFF353A2}"/>
              </a:ext>
            </a:extLst>
          </p:cNvPr>
          <p:cNvSpPr>
            <a:spLocks xmlns:a="http://schemas.openxmlformats.org/drawingml/2006/main" noGrp="1"/>
          </p:cNvSpPr>
          <p:nvPr/>
        </p:nvSpPr>
        <p:spPr>
          <a:xfrm xmlns:a="http://schemas.openxmlformats.org/drawingml/2006/main">
            <a:off x="571500" y="585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66978"/>
                </a:solidFill>
                <a:latin typeface="Liberation Sans"/>
                <a:ea typeface="Liberation Sans"/>
                <a:cs typeface="Liberation Sans"/>
              </a:defRPr>
            </a:defPPr>
          </a:lstStyle>
          <a:p xmlns:a="http://schemas.openxmlformats.org/drawingml/2006/main">
            <a:pPr>
              <a:defRPr sz="1800" b="0">
                <a:solidFill>
                  <a:srgbClr val="566978"/>
                </a:solidFill>
                <a:latin typeface="Liberation Sans"/>
                <a:ea typeface="Liberation Sans"/>
                <a:cs typeface="Liberation Sans"/>
              </a:defRPr>
            </a:pPr>
            <a:r>
              <a:rPr sz="1800" b="0">
                <a:solidFill>
                  <a:srgbClr val="566978"/>
                </a:solidFill>
                <a:latin typeface="Liberation Sans"/>
                <a:ea typeface="Liberation Sans"/>
                <a:cs typeface="Liberation Sans"/>
              </a:rPr>
              <a:t>Different solutions can share contracts without sharing an application runtime.</a:t>
            </a:r>
          </a:p>
        </p:txBody>
      </p:sp>
    </p:spTree>
    <p:extLst>
      <p:ext uri="{BB962C8B-B14F-4D97-AF65-F5344CB8AC3E}">
        <p14:creationId xmlns:p14="http://schemas.microsoft.com/office/powerpoint/2010/main" val="4341280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EE14B4-A048-43A0-B91D-3206D5299D74}"/>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Independent service acceptance</a:t>
            </a:r>
          </a:p>
        </p:txBody>
      </p:sp>
      <p:sp>
        <p:nvSpPr>
          <p:cNvPr id="2" name="">
            <a:extLst xmlns:a="http://schemas.openxmlformats.org/drawingml/2006/main">
              <a:ext uri="{FF2B5EF4-FFF2-40B4-BE49-F238E27FC236}">
                <a16:creationId xmlns:a16="http://schemas.microsoft.com/office/drawing/2014/main" id="{36556222-5462-4DD1-B860-10F418940F6C}"/>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03</a:t>
            </a:r>
          </a:p>
        </p:txBody>
      </p:sp>
      <p:graphicFrame>
        <p:nvGraphicFramePr>
          <p:cNvPr id="3" name="">
            <a:extLst xmlns:a="http://schemas.openxmlformats.org/drawingml/2006/main">
              <a:ext uri="{FF2B5EF4-FFF2-40B4-BE49-F238E27FC236}">
                <a16:creationId xmlns:a16="http://schemas.microsoft.com/office/drawing/2014/main" id="{5B44469E-3AE1-40C1-927B-99910DB1D970}"/>
              </a:ext>
            </a:extLst>
          </p:cNvPr>
          <p:cNvGraphicFramePr/>
          <p:nvPr/>
        </p:nvGraphicFramePr>
        <p:xfrm>
          <a:off xmlns:a="http://schemas.openxmlformats.org/drawingml/2006/main" x="571500" y="1600200"/>
          <a:ext xmlns:a="http://schemas.openxmlformats.org/drawingml/2006/main" cx="11049000" cy="4000500"/>
        </p:xfrm>
        <a:graphic xmlns:a="http://schemas.openxmlformats.org/drawingml/2006/main">
          <a:graphicData uri="http://schemas.openxmlformats.org/drawingml/2006/table">
            <a:tbl>
              <a:tblPr firstRow="1" bandRow="0"/>
              <a:tblGrid>
                <a:gridCol w="3000375"/>
                <a:gridCol w="8048625"/>
              </a:tblGrid>
              <a:tr h="514350">
                <a:tc>
                  <a:txBody>
                    <a:bodyPr/>
                    <a:lstStyle/>
                    <a:p>
                      <a:r>
                        <a:rPr sz="1800" b="1">
                          <a:solidFill>
                            <a:srgbClr val="FFFFFF"/>
                          </a:solidFill>
                          <a:latin typeface="Liberation Sans"/>
                          <a:ea typeface="Liberation Sans"/>
                          <a:cs typeface="Liberation Sans"/>
                        </a:rPr>
                        <a:t>Boundary</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Required evidence</a:t>
                      </a:r>
                    </a:p>
                  </a:txBody>
                  <a:tcPr marL="133350" marR="133350" marT="114300" marB="95250" anchor="ctr">
                    <a:solidFill>
                      <a:srgbClr val="123148"/>
                    </a:solidFill>
                  </a:tcPr>
                </a:tc>
              </a:tr>
              <a:tr h="697230">
                <a:tc>
                  <a:txBody>
                    <a:bodyPr/>
                    <a:lstStyle/>
                    <a:p>
                      <a:r>
                        <a:rPr sz="1800" b="0">
                          <a:solidFill>
                            <a:srgbClr val="142A3C"/>
                          </a:solidFill>
                          <a:latin typeface="Liberation Sans"/>
                          <a:ea typeface="Liberation Sans"/>
                          <a:cs typeface="Liberation Sans"/>
                        </a:rPr>
                        <a:t>Native access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Complete the service workflow without the portal</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Own lifecycle</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Release or disable one service without redeploying others</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Own state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Service or vendor controls its records and credentials</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Shared contract</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Export a versioned package with canonical product IDs</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Contained failures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An unavailable service leaves other workflows usable</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EBCA4A4-AFEF-401D-B777-F7D39CA85E6F}"/>
              </a:ext>
            </a:extLst>
          </p:cNvPr>
          <p:cNvSpPr>
            <a:spLocks xmlns:a="http://schemas.openxmlformats.org/drawingml/2006/main" noGrp="1"/>
          </p:cNvSpPr>
          <p:nvPr/>
        </p:nvSpPr>
        <p:spPr>
          <a:xfrm xmlns:a="http://schemas.openxmlformats.org/drawingml/2006/main">
            <a:off x="571500" y="58578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C83"/>
                </a:solidFill>
                <a:latin typeface="Liberation Sans"/>
                <a:ea typeface="Liberation Sans"/>
                <a:cs typeface="Liberation Sans"/>
              </a:defRPr>
            </a:defPPr>
          </a:lstStyle>
          <a:p xmlns:a="http://schemas.openxmlformats.org/drawingml/2006/main">
            <a:pPr>
              <a:defRPr sz="1875" b="1">
                <a:solidFill>
                  <a:srgbClr val="007C83"/>
                </a:solidFill>
                <a:latin typeface="Liberation Sans"/>
                <a:ea typeface="Liberation Sans"/>
                <a:cs typeface="Liberation Sans"/>
              </a:defRPr>
            </a:pPr>
            <a:r>
              <a:rPr sz="1875" b="1">
                <a:solidFill>
                  <a:srgbClr val="007C83"/>
                </a:solidFill>
                <a:latin typeface="Liberation Sans"/>
                <a:ea typeface="Liberation Sans"/>
                <a:cs typeface="Liberation Sans"/>
              </a:rPr>
              <a:t>A vendor solution with an adapter can satisfy the boundary.</a:t>
            </a:r>
          </a:p>
        </p:txBody>
      </p:sp>
    </p:spTree>
    <p:extLst>
      <p:ext uri="{BB962C8B-B14F-4D97-AF65-F5344CB8AC3E}">
        <p14:creationId xmlns:p14="http://schemas.microsoft.com/office/powerpoint/2010/main" val="19110722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1C8CDF-5D41-4814-BFF3-E35ED84BABB4}"/>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Business service ownership</a:t>
            </a:r>
          </a:p>
        </p:txBody>
      </p:sp>
      <p:sp>
        <p:nvSpPr>
          <p:cNvPr id="2" name="">
            <a:extLst xmlns:a="http://schemas.openxmlformats.org/drawingml/2006/main">
              <a:ext uri="{FF2B5EF4-FFF2-40B4-BE49-F238E27FC236}">
                <a16:creationId xmlns:a16="http://schemas.microsoft.com/office/drawing/2014/main" id="{4EF9C6B1-C249-4AE7-A55E-C8596B013061}"/>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04</a:t>
            </a:r>
          </a:p>
        </p:txBody>
      </p:sp>
      <p:graphicFrame>
        <p:nvGraphicFramePr>
          <p:cNvPr id="3" name="">
            <a:extLst xmlns:a="http://schemas.openxmlformats.org/drawingml/2006/main">
              <a:ext uri="{FF2B5EF4-FFF2-40B4-BE49-F238E27FC236}">
                <a16:creationId xmlns:a16="http://schemas.microsoft.com/office/drawing/2014/main" id="{726E2648-FC3F-44DA-9071-BE09E8442302}"/>
              </a:ext>
            </a:extLst>
          </p:cNvPr>
          <p:cNvGraphicFramePr/>
          <p:nvPr/>
        </p:nvGraphicFramePr>
        <p:xfrm>
          <a:off xmlns:a="http://schemas.openxmlformats.org/drawingml/2006/main" x="571500" y="1600200"/>
          <a:ext xmlns:a="http://schemas.openxmlformats.org/drawingml/2006/main" cx="11049000" cy="4000500"/>
        </p:xfrm>
        <a:graphic xmlns:a="http://schemas.openxmlformats.org/drawingml/2006/main">
          <a:graphicData uri="http://schemas.openxmlformats.org/drawingml/2006/table">
            <a:tbl>
              <a:tblPr firstRow="1" bandRow="0"/>
              <a:tblGrid>
                <a:gridCol w="2809875"/>
                <a:gridCol w="4476750"/>
                <a:gridCol w="3762375"/>
              </a:tblGrid>
              <a:tr h="514350">
                <a:tc>
                  <a:txBody>
                    <a:bodyPr/>
                    <a:lstStyle/>
                    <a:p>
                      <a:r>
                        <a:rPr sz="1800" b="1">
                          <a:solidFill>
                            <a:srgbClr val="FFFFFF"/>
                          </a:solidFill>
                          <a:latin typeface="Liberation Sans"/>
                          <a:ea typeface="Liberation Sans"/>
                          <a:cs typeface="Liberation Sans"/>
                        </a:rPr>
                        <a:t>Service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Owned state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Output</a:t>
                      </a:r>
                    </a:p>
                  </a:txBody>
                  <a:tcPr marL="133350" marR="133350" marT="114300" marB="95250" anchor="ctr">
                    <a:solidFill>
                      <a:srgbClr val="123148"/>
                    </a:solidFill>
                  </a:tcPr>
                </a:tc>
              </a:tr>
              <a:tr h="697230">
                <a:tc>
                  <a:txBody>
                    <a:bodyPr/>
                    <a:lstStyle/>
                    <a:p>
                      <a:r>
                        <a:rPr sz="1800" b="0">
                          <a:solidFill>
                            <a:srgbClr val="142A3C"/>
                          </a:solidFill>
                          <a:latin typeface="Liberation Sans"/>
                          <a:ea typeface="Liberation Sans"/>
                          <a:cs typeface="Liberation Sans"/>
                        </a:rPr>
                        <a:t>Marketplace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Saved selections and comparisons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Product selection</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Floor Plan</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Geometry, placements, simulation jobs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Design and BOM</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Discovery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Observations and disposition evidence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Reviewed asset assessment</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AI Solution Builder</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Conversations and proposed changes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Explained solution proposal</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Multi-Site Designer</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Sites, profiles and local overrides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Expanded site BOM</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9A9632C-3DCC-49F8-ADFE-8F4F96211D42}"/>
              </a:ext>
            </a:extLst>
          </p:cNvPr>
          <p:cNvSpPr>
            <a:spLocks xmlns:a="http://schemas.openxmlformats.org/drawingml/2006/main" noGrp="1"/>
          </p:cNvSpPr>
          <p:nvPr/>
        </p:nvSpPr>
        <p:spPr>
          <a:xfrm xmlns:a="http://schemas.openxmlformats.org/drawingml/2006/main">
            <a:off x="571500" y="58578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C83"/>
                </a:solidFill>
                <a:latin typeface="Liberation Sans"/>
                <a:ea typeface="Liberation Sans"/>
                <a:cs typeface="Liberation Sans"/>
              </a:defRPr>
            </a:defPPr>
          </a:lstStyle>
          <a:p xmlns:a="http://schemas.openxmlformats.org/drawingml/2006/main">
            <a:pPr>
              <a:defRPr sz="1875" b="1">
                <a:solidFill>
                  <a:srgbClr val="007C83"/>
                </a:solidFill>
                <a:latin typeface="Liberation Sans"/>
                <a:ea typeface="Liberation Sans"/>
                <a:cs typeface="Liberation Sans"/>
              </a:defRPr>
            </a:pPr>
            <a:r>
              <a:rPr sz="1875" b="1">
                <a:solidFill>
                  <a:srgbClr val="007C83"/>
                </a:solidFill>
                <a:latin typeface="Liberation Sans"/>
                <a:ea typeface="Liberation Sans"/>
                <a:cs typeface="Liberation Sans"/>
              </a:rPr>
              <a:t>Each service may use a different purchased or custom solution.</a:t>
            </a:r>
          </a:p>
        </p:txBody>
      </p:sp>
    </p:spTree>
    <p:extLst>
      <p:ext uri="{BB962C8B-B14F-4D97-AF65-F5344CB8AC3E}">
        <p14:creationId xmlns:p14="http://schemas.microsoft.com/office/powerpoint/2010/main" val="860512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B643F40-C7E2-401E-8F92-295BDACF2906}"/>
              </a:ext>
            </a:extLst>
          </p:cNvPr>
          <p:cNvCxnSpPr>
            <a:stCxn xmlns:a="http://schemas.openxmlformats.org/drawingml/2006/main" id="12" idx="1"/>
            <a:endCxn xmlns:a="http://schemas.openxmlformats.org/drawingml/2006/main" id="14" idx="3"/>
          </p:cNvCxnSpPr>
          <p:nvPr/>
        </p:nvCxnSpPr>
        <p:spPr>
          <a:xfrm xmlns:a="http://schemas.openxmlformats.org/drawingml/2006/main" flipH="1">
            <a:off x="7667625" y="5572125"/>
            <a:ext cx="809625" cy="0"/>
          </a:xfrm>
          <a:prstGeom xmlns:a="http://schemas.openxmlformats.org/drawingml/2006/main" prst="straightConnector1">
            <a:avLst/>
          </a:prstGeom>
          <a:ln xmlns:a="http://schemas.openxmlformats.org/drawingml/2006/main" w="23813">
            <a:solidFill>
              <a:srgbClr val="185ADB"/>
            </a:solidFill>
            <a:tailEnd type="arrow" w="med" len="med"/>
          </a:ln>
        </p:spPr>
      </p:cxnSp>
      <p:cxnSp>
        <p:nvCxnSpPr>
          <p:cNvPr id="13" name="">
            <a:extLst xmlns:a="http://schemas.openxmlformats.org/drawingml/2006/main">
              <a:ext uri="{FF2B5EF4-FFF2-40B4-BE49-F238E27FC236}">
                <a16:creationId xmlns:a16="http://schemas.microsoft.com/office/drawing/2014/main" id="{38512375-FCD8-4F04-AF17-0A7F3EE52170}"/>
              </a:ext>
            </a:extLst>
          </p:cNvPr>
          <p:cNvCxnSpPr>
            <a:stCxn xmlns:a="http://schemas.openxmlformats.org/drawingml/2006/main" id="10" idx="2"/>
            <a:endCxn xmlns:a="http://schemas.openxmlformats.org/drawingml/2006/main" id="12" idx="0"/>
          </p:cNvCxnSpPr>
          <p:nvPr/>
        </p:nvCxnSpPr>
        <p:spPr>
          <a:xfrm xmlns:a="http://schemas.openxmlformats.org/drawingml/2006/main">
            <a:off x="10048875" y="4333875"/>
            <a:ext cx="0" cy="857250"/>
          </a:xfrm>
          <a:prstGeom xmlns:a="http://schemas.openxmlformats.org/drawingml/2006/main" prst="straightConnector1">
            <a:avLst/>
          </a:prstGeom>
          <a:ln xmlns:a="http://schemas.openxmlformats.org/drawingml/2006/main" w="23813">
            <a:solidFill>
              <a:srgbClr val="185ADB"/>
            </a:solidFill>
            <a:tailEnd type="arrow" w="med" len="med"/>
          </a:ln>
        </p:spPr>
      </p:cxnSp>
      <p:cxnSp>
        <p:nvCxnSpPr>
          <p:cNvPr id="11" name="">
            <a:extLst xmlns:a="http://schemas.openxmlformats.org/drawingml/2006/main">
              <a:ext uri="{FF2B5EF4-FFF2-40B4-BE49-F238E27FC236}">
                <a16:creationId xmlns:a16="http://schemas.microsoft.com/office/drawing/2014/main" id="{F86C0E55-1A95-4DF0-B301-FD230A7240BA}"/>
              </a:ext>
            </a:extLst>
          </p:cNvPr>
          <p:cNvCxnSpPr>
            <a:stCxn xmlns:a="http://schemas.openxmlformats.org/drawingml/2006/main" id="7" idx="3"/>
            <a:endCxn xmlns:a="http://schemas.openxmlformats.org/drawingml/2006/main" id="10" idx="1"/>
          </p:cNvCxnSpPr>
          <p:nvPr/>
        </p:nvCxnSpPr>
        <p:spPr>
          <a:xfrm xmlns:a="http://schemas.openxmlformats.org/drawingml/2006/main">
            <a:off x="7667625" y="3905250"/>
            <a:ext cx="809625" cy="0"/>
          </a:xfrm>
          <a:prstGeom xmlns:a="http://schemas.openxmlformats.org/drawingml/2006/main" prst="straightConnector1">
            <a:avLst/>
          </a:prstGeom>
          <a:ln xmlns:a="http://schemas.openxmlformats.org/drawingml/2006/main" w="23813">
            <a:solidFill>
              <a:srgbClr val="185ADB"/>
            </a:solidFill>
            <a:tailEnd type="arrow" w="med" len="med"/>
          </a:ln>
        </p:spPr>
      </p:cxnSp>
      <p:cxnSp>
        <p:nvCxnSpPr>
          <p:cNvPr id="9" name="">
            <a:extLst xmlns:a="http://schemas.openxmlformats.org/drawingml/2006/main">
              <a:ext uri="{FF2B5EF4-FFF2-40B4-BE49-F238E27FC236}">
                <a16:creationId xmlns:a16="http://schemas.microsoft.com/office/drawing/2014/main" id="{3DED0942-81F3-4EB4-A66A-4E8E6E20D725}"/>
              </a:ext>
            </a:extLst>
          </p:cNvPr>
          <p:cNvCxnSpPr>
            <a:stCxn xmlns:a="http://schemas.openxmlformats.org/drawingml/2006/main" id="4" idx="2"/>
            <a:endCxn xmlns:a="http://schemas.openxmlformats.org/drawingml/2006/main" id="7" idx="0"/>
          </p:cNvCxnSpPr>
          <p:nvPr/>
        </p:nvCxnSpPr>
        <p:spPr>
          <a:xfrm xmlns:a="http://schemas.openxmlformats.org/drawingml/2006/main" flipH="1">
            <a:off x="6072188" y="2428875"/>
            <a:ext cx="1809750" cy="1047750"/>
          </a:xfrm>
          <a:prstGeom xmlns:a="http://schemas.openxmlformats.org/drawingml/2006/main" prst="bentConnector4">
            <a:avLst>
              <a:gd name="adj1" fmla="val 0"/>
              <a:gd name="adj2" fmla="val 50000"/>
            </a:avLst>
          </a:prstGeom>
          <a:ln xmlns:a="http://schemas.openxmlformats.org/drawingml/2006/main" w="23813">
            <a:solidFill>
              <a:srgbClr val="185ADB"/>
            </a:solidFill>
            <a:tailEnd type="arrow" w="med" len="med"/>
          </a:ln>
        </p:spPr>
      </p:cxnSp>
      <p:cxnSp>
        <p:nvCxnSpPr>
          <p:cNvPr id="8" name="">
            <a:extLst xmlns:a="http://schemas.openxmlformats.org/drawingml/2006/main">
              <a:ext uri="{FF2B5EF4-FFF2-40B4-BE49-F238E27FC236}">
                <a16:creationId xmlns:a16="http://schemas.microsoft.com/office/drawing/2014/main" id="{894BB80E-B83E-4158-8558-66BD7E409734}"/>
              </a:ext>
            </a:extLst>
          </p:cNvPr>
          <p:cNvCxnSpPr>
            <a:stCxn xmlns:a="http://schemas.openxmlformats.org/drawingml/2006/main" id="4" idx="2"/>
            <a:endCxn xmlns:a="http://schemas.openxmlformats.org/drawingml/2006/main" id="6" idx="0"/>
          </p:cNvCxnSpPr>
          <p:nvPr/>
        </p:nvCxnSpPr>
        <p:spPr>
          <a:xfrm xmlns:a="http://schemas.openxmlformats.org/drawingml/2006/main" flipH="1">
            <a:off x="2381250" y="2428875"/>
            <a:ext cx="5500688" cy="1047750"/>
          </a:xfrm>
          <a:prstGeom xmlns:a="http://schemas.openxmlformats.org/drawingml/2006/main" prst="bentConnector4">
            <a:avLst>
              <a:gd name="adj1" fmla="val 0"/>
              <a:gd name="adj2" fmla="val 50000"/>
            </a:avLst>
          </a:prstGeom>
          <a:ln xmlns:a="http://schemas.openxmlformats.org/drawingml/2006/main" w="23813">
            <a:solidFill>
              <a:srgbClr val="185ADB"/>
            </a:solidFill>
            <a:tailEnd type="arrow" w="med" len="med"/>
          </a:ln>
        </p:spPr>
      </p:cxnSp>
      <p:cxnSp>
        <p:nvCxnSpPr>
          <p:cNvPr id="5" name="">
            <a:extLst xmlns:a="http://schemas.openxmlformats.org/drawingml/2006/main">
              <a:ext uri="{FF2B5EF4-FFF2-40B4-BE49-F238E27FC236}">
                <a16:creationId xmlns:a16="http://schemas.microsoft.com/office/drawing/2014/main" id="{C141B946-8EA4-4C23-9D80-0C1AF9EE054C}"/>
              </a:ext>
            </a:extLst>
          </p:cNvPr>
          <p:cNvCxnSpPr>
            <a:stCxn xmlns:a="http://schemas.openxmlformats.org/drawingml/2006/main" id="3" idx="3"/>
            <a:endCxn xmlns:a="http://schemas.openxmlformats.org/drawingml/2006/main" id="4" idx="1"/>
          </p:cNvCxnSpPr>
          <p:nvPr/>
        </p:nvCxnSpPr>
        <p:spPr>
          <a:xfrm xmlns:a="http://schemas.openxmlformats.org/drawingml/2006/main">
            <a:off x="3429000" y="1905000"/>
            <a:ext cx="714375" cy="71438"/>
          </a:xfrm>
          <a:prstGeom xmlns:a="http://schemas.openxmlformats.org/drawingml/2006/main" prst="bentConnector3">
            <a:avLst>
              <a:gd name="adj1" fmla="val 50000"/>
            </a:avLst>
          </a:prstGeom>
          <a:ln xmlns:a="http://schemas.openxmlformats.org/drawingml/2006/main" w="23813">
            <a:solidFill>
              <a:srgbClr val="185ADB"/>
            </a:solidFill>
            <a:tailEnd type="arrow" w="med" len="med"/>
          </a:ln>
        </p:spPr>
      </p:cxnSp>
      <p:sp>
        <p:nvSpPr>
          <p:cNvPr id="17" name="">
            <a:extLst xmlns:a="http://schemas.openxmlformats.org/drawingml/2006/main">
              <a:ext uri="{FF2B5EF4-FFF2-40B4-BE49-F238E27FC236}">
                <a16:creationId xmlns:a16="http://schemas.microsoft.com/office/drawing/2014/main" id="{37B6367F-97DD-41E7-8721-E18FE2644840}"/>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Portal and service integration</a:t>
            </a:r>
          </a:p>
        </p:txBody>
      </p:sp>
      <p:sp>
        <p:nvSpPr>
          <p:cNvPr id="2" name="">
            <a:extLst xmlns:a="http://schemas.openxmlformats.org/drawingml/2006/main">
              <a:ext uri="{FF2B5EF4-FFF2-40B4-BE49-F238E27FC236}">
                <a16:creationId xmlns:a16="http://schemas.microsoft.com/office/drawing/2014/main" id="{A5FE9FA1-7424-4AFA-89B0-54AE5F8D1DDF}"/>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05</a:t>
            </a:r>
          </a:p>
        </p:txBody>
      </p:sp>
      <p:sp>
        <p:nvSpPr>
          <p:cNvPr id="3" name="">
            <a:extLst xmlns:a="http://schemas.openxmlformats.org/drawingml/2006/main">
              <a:ext uri="{FF2B5EF4-FFF2-40B4-BE49-F238E27FC236}">
                <a16:creationId xmlns:a16="http://schemas.microsoft.com/office/drawing/2014/main" id="{9973508A-1A42-4991-88E5-40D480EBFEDD}"/>
              </a:ext>
            </a:extLst>
          </p:cNvPr>
          <p:cNvSpPr>
            <a:spLocks xmlns:a="http://schemas.openxmlformats.org/drawingml/2006/main" noGrp="1"/>
          </p:cNvSpPr>
          <p:nvPr/>
        </p:nvSpPr>
        <p:spPr>
          <a:xfrm xmlns:a="http://schemas.openxmlformats.org/drawingml/2006/main">
            <a:off x="571500" y="1524000"/>
            <a:ext cx="2857500" cy="762000"/>
          </a:xfrm>
          <a:prstGeom xmlns:a="http://schemas.openxmlformats.org/drawingml/2006/main" prst="rect">
            <a:avLst/>
          </a:prstGeom>
          <a:solidFill xmlns:a="http://schemas.openxmlformats.org/drawingml/2006/main">
            <a:srgbClr val="EFF4F8"/>
          </a:solidFill>
          <a:ln xmlns:a="http://schemas.openxmlformats.org/drawingml/2006/main" w="9525">
            <a:solidFill>
              <a:srgbClr val="A9BACA"/>
            </a:solidFill>
          </a:ln>
        </p:spPr>
        <p:txBody>
          <a:bodyPr xmlns:a="http://schemas.openxmlformats.org/drawingml/2006/main" anchor="ctr">
            <a:noAutofit/>
          </a:bodyPr>
          <a:lstStyle xmlns:a="http://schemas.openxmlformats.org/drawingml/2006/main">
            <a:defPPr algn="ctr">
              <a:defRPr sz="1950" b="1">
                <a:solidFill>
                  <a:srgbClr val="142A3C"/>
                </a:solidFill>
                <a:latin typeface="Liberation Sans"/>
                <a:ea typeface="Liberation Sans"/>
                <a:cs typeface="Liberation Sans"/>
              </a:defRPr>
            </a:defPPr>
          </a:lstStyle>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Portal and access</a:t>
            </a:r>
          </a:p>
        </p:txBody>
      </p:sp>
      <p:sp>
        <p:nvSpPr>
          <p:cNvPr id="4" name="">
            <a:extLst xmlns:a="http://schemas.openxmlformats.org/drawingml/2006/main">
              <a:ext uri="{FF2B5EF4-FFF2-40B4-BE49-F238E27FC236}">
                <a16:creationId xmlns:a16="http://schemas.microsoft.com/office/drawing/2014/main" id="{30F48C4A-5277-47FE-883C-A46935D9DF02}"/>
              </a:ext>
            </a:extLst>
          </p:cNvPr>
          <p:cNvSpPr>
            <a:spLocks xmlns:a="http://schemas.openxmlformats.org/drawingml/2006/main" noGrp="1"/>
          </p:cNvSpPr>
          <p:nvPr/>
        </p:nvSpPr>
        <p:spPr>
          <a:xfrm xmlns:a="http://schemas.openxmlformats.org/drawingml/2006/main">
            <a:off x="4143375" y="1524000"/>
            <a:ext cx="7477125" cy="904875"/>
          </a:xfrm>
          <a:prstGeom xmlns:a="http://schemas.openxmlformats.org/drawingml/2006/main" prst="rect">
            <a:avLst/>
          </a:prstGeom>
          <a:solidFill xmlns:a="http://schemas.openxmlformats.org/drawingml/2006/main">
            <a:srgbClr val="EFF4F8"/>
          </a:solidFill>
          <a:ln xmlns:a="http://schemas.openxmlformats.org/drawingml/2006/main" w="9525">
            <a:solidFill>
              <a:srgbClr val="A9BACA"/>
            </a:solidFill>
          </a:ln>
        </p:spPr>
        <p:txBody>
          <a:bodyPr xmlns:a="http://schemas.openxmlformats.org/drawingml/2006/main" anchor="ctr">
            <a:noAutofit/>
          </a:bodyPr>
          <a:lstStyle xmlns:a="http://schemas.openxmlformats.org/drawingml/2006/main">
            <a:defPPr algn="ctr">
              <a:defRPr sz="1950" b="1">
                <a:solidFill>
                  <a:srgbClr val="142A3C"/>
                </a:solidFill>
                <a:latin typeface="Liberation Sans"/>
                <a:ea typeface="Liberation Sans"/>
                <a:cs typeface="Liberation Sans"/>
              </a:defRPr>
            </a:defPPr>
          </a:lstStyle>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Five independent services</a:t>
            </a:r>
          </a:p>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Native interfaces and owned state</a:t>
            </a:r>
          </a:p>
        </p:txBody>
      </p:sp>
      <p:sp>
        <p:nvSpPr>
          <p:cNvPr id="6" name="">
            <a:extLst xmlns:a="http://schemas.openxmlformats.org/drawingml/2006/main">
              <a:ext uri="{FF2B5EF4-FFF2-40B4-BE49-F238E27FC236}">
                <a16:creationId xmlns:a16="http://schemas.microsoft.com/office/drawing/2014/main" id="{D0A6A33F-B0B3-48D3-AF00-D7D30F3CAE4A}"/>
              </a:ext>
            </a:extLst>
          </p:cNvPr>
          <p:cNvSpPr>
            <a:spLocks xmlns:a="http://schemas.openxmlformats.org/drawingml/2006/main" noGrp="1"/>
          </p:cNvSpPr>
          <p:nvPr/>
        </p:nvSpPr>
        <p:spPr>
          <a:xfrm xmlns:a="http://schemas.openxmlformats.org/drawingml/2006/main">
            <a:off x="952500" y="3476625"/>
            <a:ext cx="2857500" cy="857250"/>
          </a:xfrm>
          <a:prstGeom xmlns:a="http://schemas.openxmlformats.org/drawingml/2006/main" prst="rect">
            <a:avLst/>
          </a:prstGeom>
          <a:solidFill xmlns:a="http://schemas.openxmlformats.org/drawingml/2006/main">
            <a:srgbClr val="EFF4F8"/>
          </a:solidFill>
          <a:ln xmlns:a="http://schemas.openxmlformats.org/drawingml/2006/main" w="9525">
            <a:solidFill>
              <a:srgbClr val="A9BACA"/>
            </a:solidFill>
          </a:ln>
        </p:spPr>
        <p:txBody>
          <a:bodyPr xmlns:a="http://schemas.openxmlformats.org/drawingml/2006/main" anchor="ctr">
            <a:noAutofit/>
          </a:bodyPr>
          <a:lstStyle xmlns:a="http://schemas.openxmlformats.org/drawingml/2006/main">
            <a:defPPr algn="ctr">
              <a:defRPr sz="1950" b="1">
                <a:solidFill>
                  <a:srgbClr val="142A3C"/>
                </a:solidFill>
                <a:latin typeface="Liberation Sans"/>
                <a:ea typeface="Liberation Sans"/>
                <a:cs typeface="Liberation Sans"/>
              </a:defRPr>
            </a:defPPr>
          </a:lstStyle>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Product and</a:t>
            </a:r>
          </a:p>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Pricing API</a:t>
            </a:r>
          </a:p>
        </p:txBody>
      </p:sp>
      <p:sp>
        <p:nvSpPr>
          <p:cNvPr id="7" name="">
            <a:extLst xmlns:a="http://schemas.openxmlformats.org/drawingml/2006/main">
              <a:ext uri="{FF2B5EF4-FFF2-40B4-BE49-F238E27FC236}">
                <a16:creationId xmlns:a16="http://schemas.microsoft.com/office/drawing/2014/main" id="{05E48BE2-24E2-49DA-A830-540E9B8E0B01}"/>
              </a:ext>
            </a:extLst>
          </p:cNvPr>
          <p:cNvSpPr>
            <a:spLocks xmlns:a="http://schemas.openxmlformats.org/drawingml/2006/main" noGrp="1"/>
          </p:cNvSpPr>
          <p:nvPr/>
        </p:nvSpPr>
        <p:spPr>
          <a:xfrm xmlns:a="http://schemas.openxmlformats.org/drawingml/2006/main">
            <a:off x="4476750" y="3476625"/>
            <a:ext cx="3190875" cy="857250"/>
          </a:xfrm>
          <a:prstGeom xmlns:a="http://schemas.openxmlformats.org/drawingml/2006/main" prst="rect">
            <a:avLst/>
          </a:prstGeom>
          <a:solidFill xmlns:a="http://schemas.openxmlformats.org/drawingml/2006/main">
            <a:srgbClr val="EFF4F8"/>
          </a:solidFill>
          <a:ln xmlns:a="http://schemas.openxmlformats.org/drawingml/2006/main" w="9525">
            <a:solidFill>
              <a:srgbClr val="A9BACA"/>
            </a:solidFill>
          </a:ln>
        </p:spPr>
        <p:txBody>
          <a:bodyPr xmlns:a="http://schemas.openxmlformats.org/drawingml/2006/main" anchor="ctr">
            <a:noAutofit/>
          </a:bodyPr>
          <a:lstStyle xmlns:a="http://schemas.openxmlformats.org/drawingml/2006/main">
            <a:defPPr algn="ctr">
              <a:defRPr sz="1950" b="1">
                <a:solidFill>
                  <a:srgbClr val="142A3C"/>
                </a:solidFill>
                <a:latin typeface="Liberation Sans"/>
                <a:ea typeface="Liberation Sans"/>
                <a:cs typeface="Liberation Sans"/>
              </a:defRPr>
            </a:defPPr>
          </a:lstStyle>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Solution Exchange</a:t>
            </a:r>
          </a:p>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Versioned packages</a:t>
            </a:r>
          </a:p>
        </p:txBody>
      </p:sp>
      <p:sp>
        <p:nvSpPr>
          <p:cNvPr id="10" name="">
            <a:extLst xmlns:a="http://schemas.openxmlformats.org/drawingml/2006/main">
              <a:ext uri="{FF2B5EF4-FFF2-40B4-BE49-F238E27FC236}">
                <a16:creationId xmlns:a16="http://schemas.microsoft.com/office/drawing/2014/main" id="{5AAE72A3-FE42-4ACA-9C25-9D1C5AD12B68}"/>
              </a:ext>
            </a:extLst>
          </p:cNvPr>
          <p:cNvSpPr>
            <a:spLocks xmlns:a="http://schemas.openxmlformats.org/drawingml/2006/main" noGrp="1"/>
          </p:cNvSpPr>
          <p:nvPr/>
        </p:nvSpPr>
        <p:spPr>
          <a:xfrm xmlns:a="http://schemas.openxmlformats.org/drawingml/2006/main">
            <a:off x="8477250" y="3476625"/>
            <a:ext cx="3143250" cy="857250"/>
          </a:xfrm>
          <a:prstGeom xmlns:a="http://schemas.openxmlformats.org/drawingml/2006/main" prst="rect">
            <a:avLst/>
          </a:prstGeom>
          <a:solidFill xmlns:a="http://schemas.openxmlformats.org/drawingml/2006/main">
            <a:srgbClr val="EFF4F8"/>
          </a:solidFill>
          <a:ln xmlns:a="http://schemas.openxmlformats.org/drawingml/2006/main" w="9525">
            <a:solidFill>
              <a:srgbClr val="A9BACA"/>
            </a:solidFill>
          </a:ln>
        </p:spPr>
        <p:txBody>
          <a:bodyPr xmlns:a="http://schemas.openxmlformats.org/drawingml/2006/main" anchor="ctr">
            <a:noAutofit/>
          </a:bodyPr>
          <a:lstStyle xmlns:a="http://schemas.openxmlformats.org/drawingml/2006/main">
            <a:defPPr algn="ctr">
              <a:defRPr sz="1950" b="1">
                <a:solidFill>
                  <a:srgbClr val="142A3C"/>
                </a:solidFill>
                <a:latin typeface="Liberation Sans"/>
                <a:ea typeface="Liberation Sans"/>
                <a:cs typeface="Liberation Sans"/>
              </a:defRPr>
            </a:defPPr>
          </a:lstStyle>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Quote and Proposal</a:t>
            </a:r>
          </a:p>
        </p:txBody>
      </p:sp>
      <p:sp>
        <p:nvSpPr>
          <p:cNvPr id="12" name="">
            <a:extLst xmlns:a="http://schemas.openxmlformats.org/drawingml/2006/main">
              <a:ext uri="{FF2B5EF4-FFF2-40B4-BE49-F238E27FC236}">
                <a16:creationId xmlns:a16="http://schemas.microsoft.com/office/drawing/2014/main" id="{BABC318C-E0A2-4A66-BB34-B4D1773781F9}"/>
              </a:ext>
            </a:extLst>
          </p:cNvPr>
          <p:cNvSpPr>
            <a:spLocks xmlns:a="http://schemas.openxmlformats.org/drawingml/2006/main" noGrp="1"/>
          </p:cNvSpPr>
          <p:nvPr/>
        </p:nvSpPr>
        <p:spPr>
          <a:xfrm xmlns:a="http://schemas.openxmlformats.org/drawingml/2006/main">
            <a:off x="8477250" y="5191125"/>
            <a:ext cx="3143250" cy="762000"/>
          </a:xfrm>
          <a:prstGeom xmlns:a="http://schemas.openxmlformats.org/drawingml/2006/main" prst="rect">
            <a:avLst/>
          </a:prstGeom>
          <a:solidFill xmlns:a="http://schemas.openxmlformats.org/drawingml/2006/main">
            <a:srgbClr val="EFF4F8"/>
          </a:solidFill>
          <a:ln xmlns:a="http://schemas.openxmlformats.org/drawingml/2006/main" w="9525">
            <a:solidFill>
              <a:srgbClr val="A9BACA"/>
            </a:solidFill>
          </a:ln>
        </p:spPr>
        <p:txBody>
          <a:bodyPr xmlns:a="http://schemas.openxmlformats.org/drawingml/2006/main" anchor="ctr">
            <a:noAutofit/>
          </a:bodyPr>
          <a:lstStyle xmlns:a="http://schemas.openxmlformats.org/drawingml/2006/main">
            <a:defPPr algn="ctr">
              <a:defRPr sz="1950" b="1">
                <a:solidFill>
                  <a:srgbClr val="142A3C"/>
                </a:solidFill>
                <a:latin typeface="Liberation Sans"/>
                <a:ea typeface="Liberation Sans"/>
                <a:cs typeface="Liberation Sans"/>
              </a:defRPr>
            </a:defPPr>
          </a:lstStyle>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HubSpot connector</a:t>
            </a:r>
          </a:p>
        </p:txBody>
      </p:sp>
      <p:sp>
        <p:nvSpPr>
          <p:cNvPr id="14" name="">
            <a:extLst xmlns:a="http://schemas.openxmlformats.org/drawingml/2006/main">
              <a:ext uri="{FF2B5EF4-FFF2-40B4-BE49-F238E27FC236}">
                <a16:creationId xmlns:a16="http://schemas.microsoft.com/office/drawing/2014/main" id="{DAEB20FD-8788-4057-9706-BFBEDE699C6E}"/>
              </a:ext>
            </a:extLst>
          </p:cNvPr>
          <p:cNvSpPr>
            <a:spLocks xmlns:a="http://schemas.openxmlformats.org/drawingml/2006/main" noGrp="1"/>
          </p:cNvSpPr>
          <p:nvPr/>
        </p:nvSpPr>
        <p:spPr>
          <a:xfrm xmlns:a="http://schemas.openxmlformats.org/drawingml/2006/main">
            <a:off x="4476750" y="5191125"/>
            <a:ext cx="3190875" cy="762000"/>
          </a:xfrm>
          <a:prstGeom xmlns:a="http://schemas.openxmlformats.org/drawingml/2006/main" prst="rect">
            <a:avLst/>
          </a:prstGeom>
          <a:solidFill xmlns:a="http://schemas.openxmlformats.org/drawingml/2006/main">
            <a:srgbClr val="EFF4F8"/>
          </a:solidFill>
          <a:ln xmlns:a="http://schemas.openxmlformats.org/drawingml/2006/main" w="9525">
            <a:solidFill>
              <a:srgbClr val="A9BACA"/>
            </a:solidFill>
          </a:ln>
        </p:spPr>
        <p:txBody>
          <a:bodyPr xmlns:a="http://schemas.openxmlformats.org/drawingml/2006/main" anchor="ctr">
            <a:noAutofit/>
          </a:bodyPr>
          <a:lstStyle xmlns:a="http://schemas.openxmlformats.org/drawingml/2006/main">
            <a:defPPr algn="ctr">
              <a:defRPr sz="1950" b="1">
                <a:solidFill>
                  <a:srgbClr val="142A3C"/>
                </a:solidFill>
                <a:latin typeface="Liberation Sans"/>
                <a:ea typeface="Liberation Sans"/>
                <a:cs typeface="Liberation Sans"/>
              </a:defRPr>
            </a:defPPr>
          </a:lstStyle>
          <a:p xmlns:a="http://schemas.openxmlformats.org/drawingml/2006/main">
            <a:pPr algn="ctr">
              <a:defRPr sz="1950" b="1">
                <a:solidFill>
                  <a:srgbClr val="142A3C"/>
                </a:solidFill>
                <a:latin typeface="Liberation Sans"/>
                <a:ea typeface="Liberation Sans"/>
                <a:cs typeface="Liberation Sans"/>
              </a:defRPr>
            </a:pPr>
            <a:r>
              <a:rPr sz="1950" b="1">
                <a:solidFill>
                  <a:srgbClr val="142A3C"/>
                </a:solidFill>
                <a:latin typeface="Liberation Sans"/>
                <a:ea typeface="Liberation Sans"/>
                <a:cs typeface="Liberation Sans"/>
              </a:rPr>
              <a:t>HubSpot CRM</a:t>
            </a:r>
          </a:p>
        </p:txBody>
      </p:sp>
      <p:sp>
        <p:nvSpPr>
          <p:cNvPr id="16" name="">
            <a:extLst xmlns:a="http://schemas.openxmlformats.org/drawingml/2006/main">
              <a:ext uri="{FF2B5EF4-FFF2-40B4-BE49-F238E27FC236}">
                <a16:creationId xmlns:a16="http://schemas.microsoft.com/office/drawing/2014/main" id="{CB322B77-B81C-4DB8-A65A-914532C5C6B7}"/>
              </a:ext>
            </a:extLst>
          </p:cNvPr>
          <p:cNvSpPr>
            <a:spLocks xmlns:a="http://schemas.openxmlformats.org/drawingml/2006/main" noGrp="1"/>
          </p:cNvSpPr>
          <p:nvPr/>
        </p:nvSpPr>
        <p:spPr>
          <a:xfrm xmlns:a="http://schemas.openxmlformats.org/drawingml/2006/main">
            <a:off x="571500" y="5238750"/>
            <a:ext cx="338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66978"/>
                </a:solidFill>
                <a:latin typeface="Liberation Sans"/>
                <a:ea typeface="Liberation Sans"/>
                <a:cs typeface="Liberation Sans"/>
              </a:defRPr>
            </a:defPPr>
          </a:lstStyle>
          <a:p xmlns:a="http://schemas.openxmlformats.org/drawingml/2006/main">
            <a:pPr>
              <a:defRPr sz="1800" b="0">
                <a:solidFill>
                  <a:srgbClr val="566978"/>
                </a:solidFill>
                <a:latin typeface="Liberation Sans"/>
                <a:ea typeface="Liberation Sans"/>
                <a:cs typeface="Liberation Sans"/>
              </a:defRPr>
            </a:pPr>
            <a:r>
              <a:rPr sz="1800" b="0">
                <a:solidFill>
                  <a:srgbClr val="566978"/>
                </a:solidFill>
                <a:latin typeface="Liberation Sans"/>
                <a:ea typeface="Liberation Sans"/>
                <a:cs typeface="Liberation Sans"/>
              </a:rPr>
              <a:t>Shared data through governed contracts.</a:t>
            </a:r>
          </a:p>
          <a:p xmlns:a="http://schemas.openxmlformats.org/drawingml/2006/main">
            <a:pPr>
              <a:defRPr sz="1800" b="0">
                <a:solidFill>
                  <a:srgbClr val="566978"/>
                </a:solidFill>
                <a:latin typeface="Liberation Sans"/>
                <a:ea typeface="Liberation Sans"/>
                <a:cs typeface="Liberation Sans"/>
              </a:defRPr>
            </a:pPr>
            <a:r>
              <a:rPr sz="1800" b="0">
                <a:solidFill>
                  <a:srgbClr val="566978"/>
                </a:solidFill>
                <a:latin typeface="Liberation Sans"/>
                <a:ea typeface="Liberation Sans"/>
                <a:cs typeface="Liberation Sans"/>
              </a:rPr>
              <a:t>Each source tool retains its own designs.</a:t>
            </a:r>
          </a:p>
        </p:txBody>
      </p:sp>
    </p:spTree>
    <p:extLst>
      <p:ext uri="{BB962C8B-B14F-4D97-AF65-F5344CB8AC3E}">
        <p14:creationId xmlns:p14="http://schemas.microsoft.com/office/powerpoint/2010/main" val="12181835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CCA048-EDB1-4B3F-8B4F-085E38D9CF64}"/>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Shared product and pricing authority</a:t>
            </a:r>
          </a:p>
        </p:txBody>
      </p:sp>
      <p:sp>
        <p:nvSpPr>
          <p:cNvPr id="2" name="">
            <a:extLst xmlns:a="http://schemas.openxmlformats.org/drawingml/2006/main">
              <a:ext uri="{FF2B5EF4-FFF2-40B4-BE49-F238E27FC236}">
                <a16:creationId xmlns:a16="http://schemas.microsoft.com/office/drawing/2014/main" id="{E0F92A5B-F766-4005-BEA4-55C6C73CAF33}"/>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06</a:t>
            </a:r>
          </a:p>
        </p:txBody>
      </p:sp>
      <p:graphicFrame>
        <p:nvGraphicFramePr>
          <p:cNvPr id="3" name="">
            <a:extLst xmlns:a="http://schemas.openxmlformats.org/drawingml/2006/main">
              <a:ext uri="{FF2B5EF4-FFF2-40B4-BE49-F238E27FC236}">
                <a16:creationId xmlns:a16="http://schemas.microsoft.com/office/drawing/2014/main" id="{EB41F8DD-2F74-4432-8DA0-83B0C564D28D}"/>
              </a:ext>
            </a:extLst>
          </p:cNvPr>
          <p:cNvGraphicFramePr/>
          <p:nvPr/>
        </p:nvGraphicFramePr>
        <p:xfrm>
          <a:off xmlns:a="http://schemas.openxmlformats.org/drawingml/2006/main" x="571500" y="1600200"/>
          <a:ext xmlns:a="http://schemas.openxmlformats.org/drawingml/2006/main" cx="11049000" cy="3886200"/>
        </p:xfrm>
        <a:graphic xmlns:a="http://schemas.openxmlformats.org/drawingml/2006/main">
          <a:graphicData uri="http://schemas.openxmlformats.org/drawingml/2006/table">
            <a:tbl>
              <a:tblPr firstRow="1" bandRow="0"/>
              <a:tblGrid>
                <a:gridCol w="3476625"/>
                <a:gridCol w="7572375"/>
              </a:tblGrid>
              <a:tr h="514350">
                <a:tc>
                  <a:txBody>
                    <a:bodyPr/>
                    <a:lstStyle/>
                    <a:p>
                      <a:r>
                        <a:rPr sz="1875" b="1">
                          <a:solidFill>
                            <a:srgbClr val="FFFFFF"/>
                          </a:solidFill>
                          <a:latin typeface="Liberation Sans"/>
                          <a:ea typeface="Liberation Sans"/>
                          <a:cs typeface="Liberation Sans"/>
                        </a:rPr>
                        <a:t>Access pattern</a:t>
                      </a:r>
                    </a:p>
                  </a:txBody>
                  <a:tcPr marL="133350" marR="133350" marT="114300" marB="95250" anchor="ctr">
                    <a:solidFill>
                      <a:srgbClr val="123148"/>
                    </a:solidFill>
                  </a:tcPr>
                </a:tc>
                <a:tc>
                  <a:txBody>
                    <a:bodyPr/>
                    <a:lstStyle/>
                    <a:p>
                      <a:r>
                        <a:rPr sz="1875" b="1">
                          <a:solidFill>
                            <a:srgbClr val="FFFFFF"/>
                          </a:solidFill>
                          <a:latin typeface="Liberation Sans"/>
                          <a:ea typeface="Liberation Sans"/>
                          <a:cs typeface="Liberation Sans"/>
                        </a:rPr>
                        <a:t>Use and tradeoff</a:t>
                      </a:r>
                    </a:p>
                  </a:txBody>
                  <a:tcPr marL="133350" marR="133350" marT="114300" marB="95250" anchor="ctr">
                    <a:solidFill>
                      <a:srgbClr val="123148"/>
                    </a:solidFill>
                  </a:tcPr>
                </a:tc>
              </a:tr>
              <a:tr h="842963">
                <a:tc>
                  <a:txBody>
                    <a:bodyPr/>
                    <a:lstStyle/>
                    <a:p>
                      <a:r>
                        <a:rPr sz="1875" b="0">
                          <a:solidFill>
                            <a:srgbClr val="142A3C"/>
                          </a:solidFill>
                          <a:latin typeface="Liberation Sans"/>
                          <a:ea typeface="Liberation Sans"/>
                          <a:cs typeface="Liberation Sans"/>
                        </a:rPr>
                        <a:t>Versioned shared API</a:t>
                      </a:r>
                    </a:p>
                  </a:txBody>
                  <a:tcPr marL="133350" marR="133350" marT="114300" marB="95250" anchor="ctr">
                    <a:solidFill>
                      <a:srgbClr val="FFFFFF"/>
                    </a:solidFill>
                  </a:tcPr>
                </a:tc>
                <a:tc>
                  <a:txBody>
                    <a:bodyPr/>
                    <a:lstStyle/>
                    <a:p>
                      <a:r>
                        <a:rPr sz="1875" b="0">
                          <a:solidFill>
                            <a:srgbClr val="142A3C"/>
                          </a:solidFill>
                          <a:latin typeface="Liberation Sans"/>
                          <a:ea typeface="Liberation Sans"/>
                          <a:cs typeface="Liberation Sans"/>
                        </a:rPr>
                        <a:t>Default for eligibility, price evaluation and auditing</a:t>
                      </a:r>
                    </a:p>
                  </a:txBody>
                  <a:tcPr marL="133350" marR="133350" marT="114300" marB="95250" anchor="ctr">
                    <a:solidFill>
                      <a:srgbClr val="FFFFFF"/>
                    </a:solidFill>
                  </a:tcPr>
                </a:tc>
              </a:tr>
              <a:tr h="842963">
                <a:tc>
                  <a:txBody>
                    <a:bodyPr/>
                    <a:lstStyle/>
                    <a:p>
                      <a:r>
                        <a:rPr sz="1875" b="0">
                          <a:solidFill>
                            <a:srgbClr val="142A3C"/>
                          </a:solidFill>
                          <a:latin typeface="Liberation Sans"/>
                          <a:ea typeface="Liberation Sans"/>
                          <a:cs typeface="Liberation Sans"/>
                        </a:rPr>
                        <a:t>Published snapshots</a:t>
                      </a:r>
                    </a:p>
                  </a:txBody>
                  <a:tcPr marL="133350" marR="133350" marT="114300" marB="95250" anchor="ctr">
                    <a:solidFill>
                      <a:srgbClr val="EFF4F8"/>
                    </a:solidFill>
                  </a:tcPr>
                </a:tc>
                <a:tc>
                  <a:txBody>
                    <a:bodyPr/>
                    <a:lstStyle/>
                    <a:p>
                      <a:r>
                        <a:rPr sz="1875" b="0">
                          <a:solidFill>
                            <a:srgbClr val="142A3C"/>
                          </a:solidFill>
                          <a:latin typeface="Liberation Sans"/>
                          <a:ea typeface="Liberation Sans"/>
                          <a:cs typeface="Liberation Sans"/>
                        </a:rPr>
                        <a:t>Fast browsing and imports with expiry/version checks</a:t>
                      </a:r>
                    </a:p>
                  </a:txBody>
                  <a:tcPr marL="133350" marR="133350" marT="114300" marB="95250" anchor="ctr">
                    <a:solidFill>
                      <a:srgbClr val="EFF4F8"/>
                    </a:solidFill>
                  </a:tcPr>
                </a:tc>
              </a:tr>
              <a:tr h="842963">
                <a:tc>
                  <a:txBody>
                    <a:bodyPr/>
                    <a:lstStyle/>
                    <a:p>
                      <a:r>
                        <a:rPr sz="1875" b="0">
                          <a:solidFill>
                            <a:srgbClr val="142A3C"/>
                          </a:solidFill>
                          <a:latin typeface="Liberation Sans"/>
                          <a:ea typeface="Liberation Sans"/>
                          <a:cs typeface="Liberation Sans"/>
                        </a:rPr>
                        <a:t>Restricted database views</a:t>
                      </a:r>
                    </a:p>
                  </a:txBody>
                  <a:tcPr marL="133350" marR="133350" marT="114300" marB="95250" anchor="ctr">
                    <a:solidFill>
                      <a:srgbClr val="FFFFFF"/>
                    </a:solidFill>
                  </a:tcPr>
                </a:tc>
                <a:tc>
                  <a:txBody>
                    <a:bodyPr/>
                    <a:lstStyle/>
                    <a:p>
                      <a:r>
                        <a:rPr sz="1875" b="0">
                          <a:solidFill>
                            <a:srgbClr val="142A3C"/>
                          </a:solidFill>
                          <a:latin typeface="Liberation Sans"/>
                          <a:ea typeface="Liberation Sans"/>
                          <a:cs typeface="Liberation Sans"/>
                        </a:rPr>
                        <a:t>Exception for a compatible self-hosted solution</a:t>
                      </a:r>
                    </a:p>
                  </a:txBody>
                  <a:tcPr marL="133350" marR="133350" marT="114300" marB="95250" anchor="ctr">
                    <a:solidFill>
                      <a:srgbClr val="FFFFFF"/>
                    </a:solidFill>
                  </a:tcPr>
                </a:tc>
              </a:tr>
              <a:tr h="842963">
                <a:tc>
                  <a:txBody>
                    <a:bodyPr/>
                    <a:lstStyle/>
                    <a:p>
                      <a:r>
                        <a:rPr sz="1875" b="0">
                          <a:solidFill>
                            <a:srgbClr val="142A3C"/>
                          </a:solidFill>
                          <a:latin typeface="Liberation Sans"/>
                          <a:ea typeface="Liberation Sans"/>
                          <a:cs typeface="Liberation Sans"/>
                        </a:rPr>
                        <a:t>Single write authority</a:t>
                      </a:r>
                    </a:p>
                  </a:txBody>
                  <a:tcPr marL="133350" marR="133350" marT="114300" marB="95250" anchor="ctr">
                    <a:solidFill>
                      <a:srgbClr val="EFF4F8"/>
                    </a:solidFill>
                  </a:tcPr>
                </a:tc>
                <a:tc>
                  <a:txBody>
                    <a:bodyPr/>
                    <a:lstStyle/>
                    <a:p>
                      <a:r>
                        <a:rPr sz="1875" b="0">
                          <a:solidFill>
                            <a:srgbClr val="142A3C"/>
                          </a:solidFill>
                          <a:latin typeface="Liberation Sans"/>
                          <a:ea typeface="Liberation Sans"/>
                          <a:cs typeface="Liberation Sans"/>
                        </a:rPr>
                        <a:t>Prevents conflicting prices and fragile shared migrations</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E67D271F-3673-41FE-9EF7-4C2FA20C50EB}"/>
              </a:ext>
            </a:extLst>
          </p:cNvPr>
          <p:cNvSpPr>
            <a:spLocks xmlns:a="http://schemas.openxmlformats.org/drawingml/2006/main" noGrp="1"/>
          </p:cNvSpPr>
          <p:nvPr/>
        </p:nvSpPr>
        <p:spPr>
          <a:xfrm xmlns:a="http://schemas.openxmlformats.org/drawingml/2006/main">
            <a:off x="571500" y="58102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C83"/>
                </a:solidFill>
                <a:latin typeface="Liberation Sans"/>
                <a:ea typeface="Liberation Sans"/>
                <a:cs typeface="Liberation Sans"/>
              </a:defRPr>
            </a:defPPr>
          </a:lstStyle>
          <a:p xmlns:a="http://schemas.openxmlformats.org/drawingml/2006/main">
            <a:pPr>
              <a:defRPr sz="1800" b="1">
                <a:solidFill>
                  <a:srgbClr val="007C83"/>
                </a:solidFill>
                <a:latin typeface="Liberation Sans"/>
                <a:ea typeface="Liberation Sans"/>
                <a:cs typeface="Liberation Sans"/>
              </a:defRPr>
            </a:pPr>
            <a:r>
              <a:rPr sz="1800" b="1">
                <a:solidFill>
                  <a:srgbClr val="007C83"/>
                </a:solidFill>
                <a:latin typeface="Liberation Sans"/>
                <a:ea typeface="Liberation Sans"/>
                <a:cs typeface="Liberation Sans"/>
              </a:rPr>
              <a:t>Revalidate authoritative pricing before quote issue. Keep internal cost permissioned.</a:t>
            </a:r>
          </a:p>
        </p:txBody>
      </p:sp>
    </p:spTree>
    <p:extLst>
      <p:ext uri="{BB962C8B-B14F-4D97-AF65-F5344CB8AC3E}">
        <p14:creationId xmlns:p14="http://schemas.microsoft.com/office/powerpoint/2010/main" val="17575931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9B8612-A738-41E6-AF7F-D23033C74361}"/>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HubSpot is the existing CRM</a:t>
            </a:r>
          </a:p>
        </p:txBody>
      </p:sp>
      <p:sp>
        <p:nvSpPr>
          <p:cNvPr id="2" name="">
            <a:extLst xmlns:a="http://schemas.openxmlformats.org/drawingml/2006/main">
              <a:ext uri="{FF2B5EF4-FFF2-40B4-BE49-F238E27FC236}">
                <a16:creationId xmlns:a16="http://schemas.microsoft.com/office/drawing/2014/main" id="{5812A26B-4012-49AC-B95F-36C3B6894FFC}"/>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07</a:t>
            </a:r>
          </a:p>
        </p:txBody>
      </p:sp>
      <p:graphicFrame>
        <p:nvGraphicFramePr>
          <p:cNvPr id="3" name="">
            <a:extLst xmlns:a="http://schemas.openxmlformats.org/drawingml/2006/main">
              <a:ext uri="{FF2B5EF4-FFF2-40B4-BE49-F238E27FC236}">
                <a16:creationId xmlns:a16="http://schemas.microsoft.com/office/drawing/2014/main" id="{6A177094-CEBC-4B2C-961E-C6421DC49064}"/>
              </a:ext>
            </a:extLst>
          </p:cNvPr>
          <p:cNvGraphicFramePr/>
          <p:nvPr/>
        </p:nvGraphicFramePr>
        <p:xfrm>
          <a:off xmlns:a="http://schemas.openxmlformats.org/drawingml/2006/main" x="571500" y="1600200"/>
          <a:ext xmlns:a="http://schemas.openxmlformats.org/drawingml/2006/main" cx="11049000" cy="4000500"/>
        </p:xfrm>
        <a:graphic xmlns:a="http://schemas.openxmlformats.org/drawingml/2006/main">
          <a:graphicData uri="http://schemas.openxmlformats.org/drawingml/2006/table">
            <a:tbl>
              <a:tblPr firstRow="1" bandRow="0"/>
              <a:tblGrid>
                <a:gridCol w="6191250"/>
                <a:gridCol w="4857750"/>
              </a:tblGrid>
              <a:tr h="514350">
                <a:tc>
                  <a:txBody>
                    <a:bodyPr/>
                    <a:lstStyle/>
                    <a:p>
                      <a:r>
                        <a:rPr sz="1800" b="1">
                          <a:solidFill>
                            <a:srgbClr val="FFFFFF"/>
                          </a:solidFill>
                          <a:latin typeface="Liberation Sans"/>
                          <a:ea typeface="Liberation Sans"/>
                          <a:cs typeface="Liberation Sans"/>
                        </a:rPr>
                        <a:t>Information</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Proposed authority</a:t>
                      </a:r>
                    </a:p>
                  </a:txBody>
                  <a:tcPr marL="133350" marR="133350" marT="114300" marB="95250" anchor="ctr">
                    <a:solidFill>
                      <a:srgbClr val="123148"/>
                    </a:solidFill>
                  </a:tcPr>
                </a:tc>
              </a:tr>
              <a:tr h="697230">
                <a:tc>
                  <a:txBody>
                    <a:bodyPr/>
                    <a:lstStyle/>
                    <a:p>
                      <a:r>
                        <a:rPr sz="1800" b="0">
                          <a:solidFill>
                            <a:srgbClr val="142A3C"/>
                          </a:solidFill>
                          <a:latin typeface="Liberation Sans"/>
                          <a:ea typeface="Liberation Sans"/>
                          <a:cs typeface="Liberation Sans"/>
                        </a:rPr>
                        <a:t>Companies, contacts, deals and stages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HubSpot</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Partner access and record visibility</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Shared identity and explicit grants</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Sites, profiles, designs and observations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Owning independent service</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Product and price</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One selected shared authority</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Quote version and approval</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One selected CPQ or quote service</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898AB14-9C6B-4821-9C92-C5ECB8487BD6}"/>
              </a:ext>
            </a:extLst>
          </p:cNvPr>
          <p:cNvSpPr>
            <a:spLocks xmlns:a="http://schemas.openxmlformats.org/drawingml/2006/main" noGrp="1"/>
          </p:cNvSpPr>
          <p:nvPr/>
        </p:nvSpPr>
        <p:spPr>
          <a:xfrm xmlns:a="http://schemas.openxmlformats.org/drawingml/2006/main">
            <a:off x="571500" y="585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C83"/>
                </a:solidFill>
                <a:latin typeface="Liberation Sans"/>
                <a:ea typeface="Liberation Sans"/>
                <a:cs typeface="Liberation Sans"/>
              </a:defRPr>
            </a:defPPr>
          </a:lstStyle>
          <a:p xmlns:a="http://schemas.openxmlformats.org/drawingml/2006/main">
            <a:pPr>
              <a:defRPr sz="1875" b="1">
                <a:solidFill>
                  <a:srgbClr val="007C83"/>
                </a:solidFill>
                <a:latin typeface="Liberation Sans"/>
                <a:ea typeface="Liberation Sans"/>
                <a:cs typeface="Liberation Sans"/>
              </a:defRPr>
            </a:pPr>
            <a:r>
              <a:rPr sz="1875" b="1">
                <a:solidFill>
                  <a:srgbClr val="007C83"/>
                </a:solidFill>
                <a:latin typeface="Liberation Sans"/>
                <a:ea typeface="Liberation Sans"/>
                <a:cs typeface="Liberation Sans"/>
              </a:rPr>
              <a:t>The portal composes a customer view and keeps source references.</a:t>
            </a:r>
          </a:p>
        </p:txBody>
      </p:sp>
    </p:spTree>
    <p:extLst>
      <p:ext uri="{BB962C8B-B14F-4D97-AF65-F5344CB8AC3E}">
        <p14:creationId xmlns:p14="http://schemas.microsoft.com/office/powerpoint/2010/main" val="13988899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D3C100-B66C-466D-B9AC-628E55C3A025}"/>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HubSpot synchronization and recovery</a:t>
            </a:r>
          </a:p>
        </p:txBody>
      </p:sp>
      <p:sp>
        <p:nvSpPr>
          <p:cNvPr id="2" name="">
            <a:extLst xmlns:a="http://schemas.openxmlformats.org/drawingml/2006/main">
              <a:ext uri="{FF2B5EF4-FFF2-40B4-BE49-F238E27FC236}">
                <a16:creationId xmlns:a16="http://schemas.microsoft.com/office/drawing/2014/main" id="{D4456B4F-6319-4297-B26F-FD59877E740F}"/>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08</a:t>
            </a:r>
          </a:p>
        </p:txBody>
      </p:sp>
      <p:sp>
        <p:nvSpPr>
          <p:cNvPr id="3" name="">
            <a:extLst xmlns:a="http://schemas.openxmlformats.org/drawingml/2006/main">
              <a:ext uri="{FF2B5EF4-FFF2-40B4-BE49-F238E27FC236}">
                <a16:creationId xmlns:a16="http://schemas.microsoft.com/office/drawing/2014/main" id="{8E5A2FDE-B717-49CC-8EB4-EF76497DBB8B}"/>
              </a:ext>
            </a:extLst>
          </p:cNvPr>
          <p:cNvSpPr>
            <a:spLocks xmlns:a="http://schemas.openxmlformats.org/drawingml/2006/main" noGrp="1"/>
          </p:cNvSpPr>
          <p:nvPr/>
        </p:nvSpPr>
        <p:spPr>
          <a:xfrm xmlns:a="http://schemas.openxmlformats.org/drawingml/2006/main">
            <a:off x="571500" y="1666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85ADB"/>
                </a:solidFill>
                <a:latin typeface="Liberation Sans"/>
                <a:ea typeface="Liberation Sans"/>
                <a:cs typeface="Liberation Sans"/>
              </a:defRPr>
            </a:defPPr>
          </a:lstStyle>
          <a:p xmlns:a="http://schemas.openxmlformats.org/drawingml/2006/main">
            <a:pPr>
              <a:defRPr sz="2250" b="1">
                <a:solidFill>
                  <a:srgbClr val="185ADB"/>
                </a:solidFill>
                <a:latin typeface="Liberation Sans"/>
                <a:ea typeface="Liberation Sans"/>
                <a:cs typeface="Liberation Sans"/>
              </a:defRPr>
            </a:pPr>
            <a:r>
              <a:rPr sz="2250" b="1">
                <a:solidFill>
                  <a:srgbClr val="185ADB"/>
                </a:solidFill>
                <a:latin typeface="Liberation Sans"/>
                <a:ea typeface="Liberation Sans"/>
                <a:cs typeface="Liberation Sans"/>
              </a:rPr>
              <a:t>Inbound CRM updates</a:t>
            </a:r>
          </a:p>
        </p:txBody>
      </p:sp>
      <p:sp>
        <p:nvSpPr>
          <p:cNvPr id="4" name="">
            <a:extLst xmlns:a="http://schemas.openxmlformats.org/drawingml/2006/main">
              <a:ext uri="{FF2B5EF4-FFF2-40B4-BE49-F238E27FC236}">
                <a16:creationId xmlns:a16="http://schemas.microsoft.com/office/drawing/2014/main" id="{6F20D78C-4612-4885-86D1-E081CA8F44F7}"/>
              </a:ext>
            </a:extLst>
          </p:cNvPr>
          <p:cNvSpPr>
            <a:spLocks xmlns:a="http://schemas.openxmlformats.org/drawingml/2006/main" noGrp="1"/>
          </p:cNvSpPr>
          <p:nvPr/>
        </p:nvSpPr>
        <p:spPr>
          <a:xfrm xmlns:a="http://schemas.openxmlformats.org/drawingml/2006/main">
            <a:off x="571500" y="21526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A3C"/>
                </a:solidFill>
                <a:latin typeface="Liberation Sans"/>
                <a:ea typeface="Liberation Sans"/>
                <a:cs typeface="Liberation Sans"/>
              </a:defRPr>
            </a:defPPr>
          </a:lstStyle>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Verified events and reconciliation refresh authorized projections.</a:t>
            </a:r>
          </a:p>
        </p:txBody>
      </p:sp>
      <p:sp>
        <p:nvSpPr>
          <p:cNvPr id="5" name="">
            <a:extLst xmlns:a="http://schemas.openxmlformats.org/drawingml/2006/main">
              <a:ext uri="{FF2B5EF4-FFF2-40B4-BE49-F238E27FC236}">
                <a16:creationId xmlns:a16="http://schemas.microsoft.com/office/drawing/2014/main" id="{7A053C08-9633-4644-A13B-C0034C4D0163}"/>
              </a:ext>
            </a:extLst>
          </p:cNvPr>
          <p:cNvSpPr>
            <a:spLocks xmlns:a="http://schemas.openxmlformats.org/drawingml/2006/main" noGrp="1"/>
          </p:cNvSpPr>
          <p:nvPr/>
        </p:nvSpPr>
        <p:spPr>
          <a:xfrm xmlns:a="http://schemas.openxmlformats.org/drawingml/2006/main">
            <a:off x="571500" y="3190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85ADB"/>
                </a:solidFill>
                <a:latin typeface="Liberation Sans"/>
                <a:ea typeface="Liberation Sans"/>
                <a:cs typeface="Liberation Sans"/>
              </a:defRPr>
            </a:defPPr>
          </a:lstStyle>
          <a:p xmlns:a="http://schemas.openxmlformats.org/drawingml/2006/main">
            <a:pPr>
              <a:defRPr sz="2250" b="1">
                <a:solidFill>
                  <a:srgbClr val="185ADB"/>
                </a:solidFill>
                <a:latin typeface="Liberation Sans"/>
                <a:ea typeface="Liberation Sans"/>
                <a:cs typeface="Liberation Sans"/>
              </a:defRPr>
            </a:pPr>
            <a:r>
              <a:rPr sz="2250" b="1">
                <a:solidFill>
                  <a:srgbClr val="185ADB"/>
                </a:solidFill>
                <a:latin typeface="Liberation Sans"/>
                <a:ea typeface="Liberation Sans"/>
                <a:cs typeface="Liberation Sans"/>
              </a:rPr>
              <a:t>Outbound quote summaries</a:t>
            </a:r>
          </a:p>
        </p:txBody>
      </p:sp>
      <p:sp>
        <p:nvSpPr>
          <p:cNvPr id="6" name="">
            <a:extLst xmlns:a="http://schemas.openxmlformats.org/drawingml/2006/main">
              <a:ext uri="{FF2B5EF4-FFF2-40B4-BE49-F238E27FC236}">
                <a16:creationId xmlns:a16="http://schemas.microsoft.com/office/drawing/2014/main" id="{29D85D69-4A57-404F-AD33-9901F53B2669}"/>
              </a:ext>
            </a:extLst>
          </p:cNvPr>
          <p:cNvSpPr>
            <a:spLocks xmlns:a="http://schemas.openxmlformats.org/drawingml/2006/main" noGrp="1"/>
          </p:cNvSpPr>
          <p:nvPr/>
        </p:nvSpPr>
        <p:spPr>
          <a:xfrm xmlns:a="http://schemas.openxmlformats.org/drawingml/2006/main">
            <a:off x="571500" y="36861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A3C"/>
                </a:solidFill>
                <a:latin typeface="Liberation Sans"/>
                <a:ea typeface="Liberation Sans"/>
                <a:cs typeface="Liberation Sans"/>
              </a:defRPr>
            </a:defPPr>
          </a:lstStyle>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Durable commands update mapped fields and proposal links.</a:t>
            </a:r>
          </a:p>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Read back uncertain writes before creating another record.</a:t>
            </a:r>
          </a:p>
        </p:txBody>
      </p:sp>
      <p:sp>
        <p:nvSpPr>
          <p:cNvPr id="7" name="">
            <a:extLst xmlns:a="http://schemas.openxmlformats.org/drawingml/2006/main">
              <a:ext uri="{FF2B5EF4-FFF2-40B4-BE49-F238E27FC236}">
                <a16:creationId xmlns:a16="http://schemas.microsoft.com/office/drawing/2014/main" id="{ADAED464-33C7-4811-8F25-5C4B92AD8959}"/>
              </a:ext>
            </a:extLst>
          </p:cNvPr>
          <p:cNvSpPr>
            <a:spLocks xmlns:a="http://schemas.openxmlformats.org/drawingml/2006/main" noGrp="1"/>
          </p:cNvSpPr>
          <p:nvPr/>
        </p:nvSpPr>
        <p:spPr>
          <a:xfrm xmlns:a="http://schemas.openxmlformats.org/drawingml/2006/main">
            <a:off x="571500" y="4953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85ADB"/>
                </a:solidFill>
                <a:latin typeface="Liberation Sans"/>
                <a:ea typeface="Liberation Sans"/>
                <a:cs typeface="Liberation Sans"/>
              </a:defRPr>
            </a:defPPr>
          </a:lstStyle>
          <a:p xmlns:a="http://schemas.openxmlformats.org/drawingml/2006/main">
            <a:pPr>
              <a:defRPr sz="2250" b="1">
                <a:solidFill>
                  <a:srgbClr val="185ADB"/>
                </a:solidFill>
                <a:latin typeface="Liberation Sans"/>
                <a:ea typeface="Liberation Sans"/>
                <a:cs typeface="Liberation Sans"/>
              </a:defRPr>
            </a:pPr>
            <a:r>
              <a:rPr sz="2250" b="1">
                <a:solidFill>
                  <a:srgbClr val="185ADB"/>
                </a:solidFill>
                <a:latin typeface="Liberation Sans"/>
                <a:ea typeface="Liberation Sans"/>
                <a:cs typeface="Liberation Sans"/>
              </a:rPr>
              <a:t>Visible failure state</a:t>
            </a:r>
          </a:p>
        </p:txBody>
      </p:sp>
      <p:sp>
        <p:nvSpPr>
          <p:cNvPr id="8" name="">
            <a:extLst xmlns:a="http://schemas.openxmlformats.org/drawingml/2006/main">
              <a:ext uri="{FF2B5EF4-FFF2-40B4-BE49-F238E27FC236}">
                <a16:creationId xmlns:a16="http://schemas.microsoft.com/office/drawing/2014/main" id="{09B8F317-BFE3-4D90-A0C2-E559324480F9}"/>
              </a:ext>
            </a:extLst>
          </p:cNvPr>
          <p:cNvSpPr>
            <a:spLocks xmlns:a="http://schemas.openxmlformats.org/drawingml/2006/main" noGrp="1"/>
          </p:cNvSpPr>
          <p:nvPr/>
        </p:nvSpPr>
        <p:spPr>
          <a:xfrm xmlns:a="http://schemas.openxmlformats.org/drawingml/2006/main">
            <a:off x="571500" y="54578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A3C"/>
                </a:solidFill>
                <a:latin typeface="Liberation Sans"/>
                <a:ea typeface="Liberation Sans"/>
                <a:cs typeface="Liberation Sans"/>
              </a:defRPr>
            </a:defPPr>
          </a:lstStyle>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Pending CRM sync, bounded retries and an operator recovery path.</a:t>
            </a:r>
          </a:p>
        </p:txBody>
      </p:sp>
    </p:spTree>
    <p:extLst>
      <p:ext uri="{BB962C8B-B14F-4D97-AF65-F5344CB8AC3E}">
        <p14:creationId xmlns:p14="http://schemas.microsoft.com/office/powerpoint/2010/main" val="1194510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A0C9124-3CAD-4BD7-80F4-67EEFDD8A866}"/>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Versioned solution handoff</a:t>
            </a:r>
          </a:p>
        </p:txBody>
      </p:sp>
      <p:sp>
        <p:nvSpPr>
          <p:cNvPr id="2" name="">
            <a:extLst xmlns:a="http://schemas.openxmlformats.org/drawingml/2006/main">
              <a:ext uri="{FF2B5EF4-FFF2-40B4-BE49-F238E27FC236}">
                <a16:creationId xmlns:a16="http://schemas.microsoft.com/office/drawing/2014/main" id="{F1B1BC58-9906-4565-9622-BFDCB1D1CAAB}"/>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09</a:t>
            </a:r>
          </a:p>
        </p:txBody>
      </p:sp>
      <p:sp>
        <p:nvSpPr>
          <p:cNvPr id="3" name="">
            <a:extLst xmlns:a="http://schemas.openxmlformats.org/drawingml/2006/main">
              <a:ext uri="{FF2B5EF4-FFF2-40B4-BE49-F238E27FC236}">
                <a16:creationId xmlns:a16="http://schemas.microsoft.com/office/drawing/2014/main" id="{059F1CF4-AC7D-4D51-AFBB-FEB874D780D4}"/>
              </a:ext>
            </a:extLst>
          </p:cNvPr>
          <p:cNvSpPr>
            <a:spLocks xmlns:a="http://schemas.openxmlformats.org/drawingml/2006/main" noGrp="1"/>
          </p:cNvSpPr>
          <p:nvPr/>
        </p:nvSpPr>
        <p:spPr>
          <a:xfrm xmlns:a="http://schemas.openxmlformats.org/drawingml/2006/main">
            <a:off x="571500" y="16192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5ADB"/>
                </a:solidFill>
                <a:latin typeface="Liberation Sans"/>
                <a:ea typeface="Liberation Sans"/>
                <a:cs typeface="Liberation Sans"/>
              </a:defRPr>
            </a:defPPr>
          </a:lstStyle>
          <a:p xmlns:a="http://schemas.openxmlformats.org/drawingml/2006/main">
            <a:pPr>
              <a:defRPr sz="2850" b="1">
                <a:solidFill>
                  <a:srgbClr val="185ADB"/>
                </a:solidFill>
                <a:latin typeface="Liberation Sans"/>
                <a:ea typeface="Liberation Sans"/>
                <a:cs typeface="Liberation Sans"/>
              </a:defRPr>
            </a:pPr>
            <a:r>
              <a:rPr sz="2850" b="1">
                <a:solidFill>
                  <a:srgbClr val="185ADB"/>
                </a:solidFill>
                <a:latin typeface="Liberation Sans"/>
                <a:ea typeface="Liberation Sans"/>
                <a:cs typeface="Liberation Sans"/>
              </a:rPr>
              <a:t>1</a:t>
            </a:r>
          </a:p>
        </p:txBody>
      </p:sp>
      <p:sp>
        <p:nvSpPr>
          <p:cNvPr id="4" name="">
            <a:extLst xmlns:a="http://schemas.openxmlformats.org/drawingml/2006/main">
              <a:ext uri="{FF2B5EF4-FFF2-40B4-BE49-F238E27FC236}">
                <a16:creationId xmlns:a16="http://schemas.microsoft.com/office/drawing/2014/main" id="{659DF2B4-4F93-46B2-8086-31070B3894A1}"/>
              </a:ext>
            </a:extLst>
          </p:cNvPr>
          <p:cNvSpPr>
            <a:spLocks xmlns:a="http://schemas.openxmlformats.org/drawingml/2006/main" noGrp="1"/>
          </p:cNvSpPr>
          <p:nvPr/>
        </p:nvSpPr>
        <p:spPr>
          <a:xfrm xmlns:a="http://schemas.openxmlformats.org/drawingml/2006/main">
            <a:off x="1381125" y="1619250"/>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2A3C"/>
                </a:solidFill>
                <a:latin typeface="Liberation Sans"/>
                <a:ea typeface="Liberation Sans"/>
                <a:cs typeface="Liberation Sans"/>
              </a:defRPr>
            </a:defPPr>
          </a:lstStyle>
          <a:p xmlns:a="http://schemas.openxmlformats.org/drawingml/2006/main">
            <a:pPr>
              <a:defRPr sz="2175" b="1">
                <a:solidFill>
                  <a:srgbClr val="142A3C"/>
                </a:solidFill>
                <a:latin typeface="Liberation Sans"/>
                <a:ea typeface="Liberation Sans"/>
                <a:cs typeface="Liberation Sans"/>
              </a:defRPr>
            </a:pPr>
            <a:r>
              <a:rPr sz="2175" b="1">
                <a:solidFill>
                  <a:srgbClr val="142A3C"/>
                </a:solidFill>
                <a:latin typeface="Liberation Sans"/>
                <a:ea typeface="Liberation Sans"/>
                <a:cs typeface="Liberation Sans"/>
              </a:rPr>
              <a:t>Export a source revision</a:t>
            </a:r>
          </a:p>
        </p:txBody>
      </p:sp>
      <p:sp>
        <p:nvSpPr>
          <p:cNvPr id="5" name="">
            <a:extLst xmlns:a="http://schemas.openxmlformats.org/drawingml/2006/main">
              <a:ext uri="{FF2B5EF4-FFF2-40B4-BE49-F238E27FC236}">
                <a16:creationId xmlns:a16="http://schemas.microsoft.com/office/drawing/2014/main" id="{143EA089-28E1-4BE0-ABE2-303EB293DC89}"/>
              </a:ext>
            </a:extLst>
          </p:cNvPr>
          <p:cNvSpPr>
            <a:spLocks xmlns:a="http://schemas.openxmlformats.org/drawingml/2006/main" noGrp="1"/>
          </p:cNvSpPr>
          <p:nvPr/>
        </p:nvSpPr>
        <p:spPr>
          <a:xfrm xmlns:a="http://schemas.openxmlformats.org/drawingml/2006/main">
            <a:off x="1381125" y="206692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42A3C"/>
                </a:solidFill>
                <a:latin typeface="Liberation Sans"/>
                <a:ea typeface="Liberation Sans"/>
                <a:cs typeface="Liberation Sans"/>
              </a:defRPr>
            </a:defPPr>
          </a:lstStyle>
          <a:p xmlns:a="http://schemas.openxmlformats.org/drawingml/2006/main">
            <a:pPr>
              <a:defRPr sz="1875" b="0">
                <a:solidFill>
                  <a:srgbClr val="142A3C"/>
                </a:solidFill>
                <a:latin typeface="Liberation Sans"/>
                <a:ea typeface="Liberation Sans"/>
                <a:cs typeface="Liberation Sans"/>
              </a:defRPr>
            </a:pPr>
            <a:r>
              <a:rPr sz="1875" b="0">
                <a:solidFill>
                  <a:srgbClr val="142A3C"/>
                </a:solidFill>
                <a:latin typeface="Liberation Sans"/>
                <a:ea typeface="Liberation Sans"/>
                <a:cs typeface="Liberation Sans"/>
              </a:rPr>
              <a:t>Keep the originating design and its provenance.</a:t>
            </a:r>
          </a:p>
        </p:txBody>
      </p:sp>
      <p:sp>
        <p:nvSpPr>
          <p:cNvPr id="6" name="">
            <a:extLst xmlns:a="http://schemas.openxmlformats.org/drawingml/2006/main">
              <a:ext uri="{FF2B5EF4-FFF2-40B4-BE49-F238E27FC236}">
                <a16:creationId xmlns:a16="http://schemas.microsoft.com/office/drawing/2014/main" id="{6C9F0823-C865-40F5-8AA7-C76EECFF54D0}"/>
              </a:ext>
            </a:extLst>
          </p:cNvPr>
          <p:cNvSpPr>
            <a:spLocks xmlns:a="http://schemas.openxmlformats.org/drawingml/2006/main" noGrp="1"/>
          </p:cNvSpPr>
          <p:nvPr/>
        </p:nvSpPr>
        <p:spPr>
          <a:xfrm xmlns:a="http://schemas.openxmlformats.org/drawingml/2006/main">
            <a:off x="571500" y="26670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5ADB"/>
                </a:solidFill>
                <a:latin typeface="Liberation Sans"/>
                <a:ea typeface="Liberation Sans"/>
                <a:cs typeface="Liberation Sans"/>
              </a:defRPr>
            </a:defPPr>
          </a:lstStyle>
          <a:p xmlns:a="http://schemas.openxmlformats.org/drawingml/2006/main">
            <a:pPr>
              <a:defRPr sz="2850" b="1">
                <a:solidFill>
                  <a:srgbClr val="185ADB"/>
                </a:solidFill>
                <a:latin typeface="Liberation Sans"/>
                <a:ea typeface="Liberation Sans"/>
                <a:cs typeface="Liberation Sans"/>
              </a:defRPr>
            </a:pPr>
            <a:r>
              <a:rPr sz="2850" b="1">
                <a:solidFill>
                  <a:srgbClr val="185ADB"/>
                </a:solidFill>
                <a:latin typeface="Liberation Sans"/>
                <a:ea typeface="Liberation Sans"/>
                <a:cs typeface="Liberation Sans"/>
              </a:rPr>
              <a:t>2</a:t>
            </a:r>
          </a:p>
        </p:txBody>
      </p:sp>
      <p:sp>
        <p:nvSpPr>
          <p:cNvPr id="7" name="">
            <a:extLst xmlns:a="http://schemas.openxmlformats.org/drawingml/2006/main">
              <a:ext uri="{FF2B5EF4-FFF2-40B4-BE49-F238E27FC236}">
                <a16:creationId xmlns:a16="http://schemas.microsoft.com/office/drawing/2014/main" id="{08D56A68-64FC-40D5-B5E0-E8E402302DEC}"/>
              </a:ext>
            </a:extLst>
          </p:cNvPr>
          <p:cNvSpPr>
            <a:spLocks xmlns:a="http://schemas.openxmlformats.org/drawingml/2006/main" noGrp="1"/>
          </p:cNvSpPr>
          <p:nvPr/>
        </p:nvSpPr>
        <p:spPr>
          <a:xfrm xmlns:a="http://schemas.openxmlformats.org/drawingml/2006/main">
            <a:off x="1381125" y="2667000"/>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2A3C"/>
                </a:solidFill>
                <a:latin typeface="Liberation Sans"/>
                <a:ea typeface="Liberation Sans"/>
                <a:cs typeface="Liberation Sans"/>
              </a:defRPr>
            </a:defPPr>
          </a:lstStyle>
          <a:p xmlns:a="http://schemas.openxmlformats.org/drawingml/2006/main">
            <a:pPr>
              <a:defRPr sz="2175" b="1">
                <a:solidFill>
                  <a:srgbClr val="142A3C"/>
                </a:solidFill>
                <a:latin typeface="Liberation Sans"/>
                <a:ea typeface="Liberation Sans"/>
                <a:cs typeface="Liberation Sans"/>
              </a:defRPr>
            </a:pPr>
            <a:r>
              <a:rPr sz="2175" b="1">
                <a:solidFill>
                  <a:srgbClr val="142A3C"/>
                </a:solidFill>
                <a:latin typeface="Liberation Sans"/>
                <a:ea typeface="Liberation Sans"/>
                <a:cs typeface="Liberation Sans"/>
              </a:rPr>
              <a:t>Validate the exchange package</a:t>
            </a:r>
          </a:p>
        </p:txBody>
      </p:sp>
      <p:sp>
        <p:nvSpPr>
          <p:cNvPr id="8" name="">
            <a:extLst xmlns:a="http://schemas.openxmlformats.org/drawingml/2006/main">
              <a:ext uri="{FF2B5EF4-FFF2-40B4-BE49-F238E27FC236}">
                <a16:creationId xmlns:a16="http://schemas.microsoft.com/office/drawing/2014/main" id="{39C850F2-67C2-47F5-A58D-DEC8CA72CE20}"/>
              </a:ext>
            </a:extLst>
          </p:cNvPr>
          <p:cNvSpPr>
            <a:spLocks xmlns:a="http://schemas.openxmlformats.org/drawingml/2006/main" noGrp="1"/>
          </p:cNvSpPr>
          <p:nvPr/>
        </p:nvSpPr>
        <p:spPr>
          <a:xfrm xmlns:a="http://schemas.openxmlformats.org/drawingml/2006/main">
            <a:off x="1381125" y="311467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42A3C"/>
                </a:solidFill>
                <a:latin typeface="Liberation Sans"/>
                <a:ea typeface="Liberation Sans"/>
                <a:cs typeface="Liberation Sans"/>
              </a:defRPr>
            </a:defPPr>
          </a:lstStyle>
          <a:p xmlns:a="http://schemas.openxmlformats.org/drawingml/2006/main">
            <a:pPr>
              <a:defRPr sz="1875" b="0">
                <a:solidFill>
                  <a:srgbClr val="142A3C"/>
                </a:solidFill>
                <a:latin typeface="Liberation Sans"/>
                <a:ea typeface="Liberation Sans"/>
                <a:cs typeface="Liberation Sans"/>
              </a:defRPr>
            </a:pPr>
            <a:r>
              <a:rPr sz="1875" b="0">
                <a:solidFill>
                  <a:srgbClr val="142A3C"/>
                </a:solidFill>
                <a:latin typeface="Liberation Sans"/>
                <a:ea typeface="Liberation Sans"/>
                <a:cs typeface="Liberation Sans"/>
              </a:rPr>
              <a:t>Resolve canonical products and review the diff.</a:t>
            </a:r>
          </a:p>
        </p:txBody>
      </p:sp>
      <p:sp>
        <p:nvSpPr>
          <p:cNvPr id="9" name="">
            <a:extLst xmlns:a="http://schemas.openxmlformats.org/drawingml/2006/main">
              <a:ext uri="{FF2B5EF4-FFF2-40B4-BE49-F238E27FC236}">
                <a16:creationId xmlns:a16="http://schemas.microsoft.com/office/drawing/2014/main" id="{E5D38018-3CC2-4B40-9B08-F978031F014E}"/>
              </a:ext>
            </a:extLst>
          </p:cNvPr>
          <p:cNvSpPr>
            <a:spLocks xmlns:a="http://schemas.openxmlformats.org/drawingml/2006/main" noGrp="1"/>
          </p:cNvSpPr>
          <p:nvPr/>
        </p:nvSpPr>
        <p:spPr>
          <a:xfrm xmlns:a="http://schemas.openxmlformats.org/drawingml/2006/main">
            <a:off x="571500" y="37147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5ADB"/>
                </a:solidFill>
                <a:latin typeface="Liberation Sans"/>
                <a:ea typeface="Liberation Sans"/>
                <a:cs typeface="Liberation Sans"/>
              </a:defRPr>
            </a:defPPr>
          </a:lstStyle>
          <a:p xmlns:a="http://schemas.openxmlformats.org/drawingml/2006/main">
            <a:pPr>
              <a:defRPr sz="2850" b="1">
                <a:solidFill>
                  <a:srgbClr val="185ADB"/>
                </a:solidFill>
                <a:latin typeface="Liberation Sans"/>
                <a:ea typeface="Liberation Sans"/>
                <a:cs typeface="Liberation Sans"/>
              </a:defRPr>
            </a:pPr>
            <a:r>
              <a:rPr sz="2850" b="1">
                <a:solidFill>
                  <a:srgbClr val="185ADB"/>
                </a:solidFill>
                <a:latin typeface="Liberation Sans"/>
                <a:ea typeface="Liberation Sans"/>
                <a:cs typeface="Liberation Sans"/>
              </a:rPr>
              <a:t>3</a:t>
            </a:r>
          </a:p>
        </p:txBody>
      </p:sp>
      <p:sp>
        <p:nvSpPr>
          <p:cNvPr id="10" name="">
            <a:extLst xmlns:a="http://schemas.openxmlformats.org/drawingml/2006/main">
              <a:ext uri="{FF2B5EF4-FFF2-40B4-BE49-F238E27FC236}">
                <a16:creationId xmlns:a16="http://schemas.microsoft.com/office/drawing/2014/main" id="{587D3CA9-8C04-4E96-8F27-71B827C0A38E}"/>
              </a:ext>
            </a:extLst>
          </p:cNvPr>
          <p:cNvSpPr>
            <a:spLocks xmlns:a="http://schemas.openxmlformats.org/drawingml/2006/main" noGrp="1"/>
          </p:cNvSpPr>
          <p:nvPr/>
        </p:nvSpPr>
        <p:spPr>
          <a:xfrm xmlns:a="http://schemas.openxmlformats.org/drawingml/2006/main">
            <a:off x="1381125" y="3714750"/>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2A3C"/>
                </a:solidFill>
                <a:latin typeface="Liberation Sans"/>
                <a:ea typeface="Liberation Sans"/>
                <a:cs typeface="Liberation Sans"/>
              </a:defRPr>
            </a:defPPr>
          </a:lstStyle>
          <a:p xmlns:a="http://schemas.openxmlformats.org/drawingml/2006/main">
            <a:pPr>
              <a:defRPr sz="2175" b="1">
                <a:solidFill>
                  <a:srgbClr val="142A3C"/>
                </a:solidFill>
                <a:latin typeface="Liberation Sans"/>
                <a:ea typeface="Liberation Sans"/>
                <a:cs typeface="Liberation Sans"/>
              </a:defRPr>
            </a:pPr>
            <a:r>
              <a:rPr sz="2175" b="1">
                <a:solidFill>
                  <a:srgbClr val="142A3C"/>
                </a:solidFill>
                <a:latin typeface="Liberation Sans"/>
                <a:ea typeface="Liberation Sans"/>
                <a:cs typeface="Liberation Sans"/>
              </a:rPr>
              <a:t>Validate and price the quote</a:t>
            </a:r>
          </a:p>
        </p:txBody>
      </p:sp>
      <p:sp>
        <p:nvSpPr>
          <p:cNvPr id="11" name="">
            <a:extLst xmlns:a="http://schemas.openxmlformats.org/drawingml/2006/main">
              <a:ext uri="{FF2B5EF4-FFF2-40B4-BE49-F238E27FC236}">
                <a16:creationId xmlns:a16="http://schemas.microsoft.com/office/drawing/2014/main" id="{C6D484BC-7D99-491F-9EED-323DDC224313}"/>
              </a:ext>
            </a:extLst>
          </p:cNvPr>
          <p:cNvSpPr>
            <a:spLocks xmlns:a="http://schemas.openxmlformats.org/drawingml/2006/main" noGrp="1"/>
          </p:cNvSpPr>
          <p:nvPr/>
        </p:nvSpPr>
        <p:spPr>
          <a:xfrm xmlns:a="http://schemas.openxmlformats.org/drawingml/2006/main">
            <a:off x="1381125" y="416242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42A3C"/>
                </a:solidFill>
                <a:latin typeface="Liberation Sans"/>
                <a:ea typeface="Liberation Sans"/>
                <a:cs typeface="Liberation Sans"/>
              </a:defRPr>
            </a:defPPr>
          </a:lstStyle>
          <a:p xmlns:a="http://schemas.openxmlformats.org/drawingml/2006/main">
            <a:pPr>
              <a:defRPr sz="1875" b="0">
                <a:solidFill>
                  <a:srgbClr val="142A3C"/>
                </a:solidFill>
                <a:latin typeface="Liberation Sans"/>
                <a:ea typeface="Liberation Sans"/>
                <a:cs typeface="Liberation Sans"/>
              </a:defRPr>
            </a:pPr>
            <a:r>
              <a:rPr sz="1875" b="0">
                <a:solidFill>
                  <a:srgbClr val="142A3C"/>
                </a:solidFill>
                <a:latin typeface="Liberation Sans"/>
                <a:ea typeface="Liberation Sans"/>
                <a:cs typeface="Liberation Sans"/>
              </a:rPr>
              <a:t>Record exact catalog, rules and pricing versions.</a:t>
            </a:r>
          </a:p>
        </p:txBody>
      </p:sp>
      <p:sp>
        <p:nvSpPr>
          <p:cNvPr id="12" name="">
            <a:extLst xmlns:a="http://schemas.openxmlformats.org/drawingml/2006/main">
              <a:ext uri="{FF2B5EF4-FFF2-40B4-BE49-F238E27FC236}">
                <a16:creationId xmlns:a16="http://schemas.microsoft.com/office/drawing/2014/main" id="{1363E9B4-25A1-4788-AA19-486CDCB39D45}"/>
              </a:ext>
            </a:extLst>
          </p:cNvPr>
          <p:cNvSpPr>
            <a:spLocks xmlns:a="http://schemas.openxmlformats.org/drawingml/2006/main" noGrp="1"/>
          </p:cNvSpPr>
          <p:nvPr/>
        </p:nvSpPr>
        <p:spPr>
          <a:xfrm xmlns:a="http://schemas.openxmlformats.org/drawingml/2006/main">
            <a:off x="571500" y="47625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5ADB"/>
                </a:solidFill>
                <a:latin typeface="Liberation Sans"/>
                <a:ea typeface="Liberation Sans"/>
                <a:cs typeface="Liberation Sans"/>
              </a:defRPr>
            </a:defPPr>
          </a:lstStyle>
          <a:p xmlns:a="http://schemas.openxmlformats.org/drawingml/2006/main">
            <a:pPr>
              <a:defRPr sz="2850" b="1">
                <a:solidFill>
                  <a:srgbClr val="185ADB"/>
                </a:solidFill>
                <a:latin typeface="Liberation Sans"/>
                <a:ea typeface="Liberation Sans"/>
                <a:cs typeface="Liberation Sans"/>
              </a:defRPr>
            </a:pPr>
            <a:r>
              <a:rPr sz="2850" b="1">
                <a:solidFill>
                  <a:srgbClr val="185ADB"/>
                </a:solidFill>
                <a:latin typeface="Liberation Sans"/>
                <a:ea typeface="Liberation Sans"/>
                <a:cs typeface="Liberation Sans"/>
              </a:rPr>
              <a:t>4</a:t>
            </a:r>
          </a:p>
        </p:txBody>
      </p:sp>
      <p:sp>
        <p:nvSpPr>
          <p:cNvPr id="13" name="">
            <a:extLst xmlns:a="http://schemas.openxmlformats.org/drawingml/2006/main">
              <a:ext uri="{FF2B5EF4-FFF2-40B4-BE49-F238E27FC236}">
                <a16:creationId xmlns:a16="http://schemas.microsoft.com/office/drawing/2014/main" id="{EB993086-A689-4A15-9545-FB62E29CEEB4}"/>
              </a:ext>
            </a:extLst>
          </p:cNvPr>
          <p:cNvSpPr>
            <a:spLocks xmlns:a="http://schemas.openxmlformats.org/drawingml/2006/main" noGrp="1"/>
          </p:cNvSpPr>
          <p:nvPr/>
        </p:nvSpPr>
        <p:spPr>
          <a:xfrm xmlns:a="http://schemas.openxmlformats.org/drawingml/2006/main">
            <a:off x="1381125" y="4762500"/>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2A3C"/>
                </a:solidFill>
                <a:latin typeface="Liberation Sans"/>
                <a:ea typeface="Liberation Sans"/>
                <a:cs typeface="Liberation Sans"/>
              </a:defRPr>
            </a:defPPr>
          </a:lstStyle>
          <a:p xmlns:a="http://schemas.openxmlformats.org/drawingml/2006/main">
            <a:pPr>
              <a:defRPr sz="2175" b="1">
                <a:solidFill>
                  <a:srgbClr val="142A3C"/>
                </a:solidFill>
                <a:latin typeface="Liberation Sans"/>
                <a:ea typeface="Liberation Sans"/>
                <a:cs typeface="Liberation Sans"/>
              </a:defRPr>
            </a:pPr>
            <a:r>
              <a:rPr sz="2175" b="1">
                <a:solidFill>
                  <a:srgbClr val="142A3C"/>
                </a:solidFill>
                <a:latin typeface="Liberation Sans"/>
                <a:ea typeface="Liberation Sans"/>
                <a:cs typeface="Liberation Sans"/>
              </a:rPr>
              <a:t>Approve and publish</a:t>
            </a:r>
          </a:p>
        </p:txBody>
      </p:sp>
      <p:sp>
        <p:nvSpPr>
          <p:cNvPr id="14" name="">
            <a:extLst xmlns:a="http://schemas.openxmlformats.org/drawingml/2006/main">
              <a:ext uri="{FF2B5EF4-FFF2-40B4-BE49-F238E27FC236}">
                <a16:creationId xmlns:a16="http://schemas.microsoft.com/office/drawing/2014/main" id="{D60BCBB2-FF26-432C-B1FA-444BE47BA04A}"/>
              </a:ext>
            </a:extLst>
          </p:cNvPr>
          <p:cNvSpPr>
            <a:spLocks xmlns:a="http://schemas.openxmlformats.org/drawingml/2006/main" noGrp="1"/>
          </p:cNvSpPr>
          <p:nvPr/>
        </p:nvSpPr>
        <p:spPr>
          <a:xfrm xmlns:a="http://schemas.openxmlformats.org/drawingml/2006/main">
            <a:off x="1381125" y="521017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42A3C"/>
                </a:solidFill>
                <a:latin typeface="Liberation Sans"/>
                <a:ea typeface="Liberation Sans"/>
                <a:cs typeface="Liberation Sans"/>
              </a:defRPr>
            </a:defPPr>
          </a:lstStyle>
          <a:p xmlns:a="http://schemas.openxmlformats.org/drawingml/2006/main">
            <a:pPr>
              <a:defRPr sz="1875" b="0">
                <a:solidFill>
                  <a:srgbClr val="142A3C"/>
                </a:solidFill>
                <a:latin typeface="Liberation Sans"/>
                <a:ea typeface="Liberation Sans"/>
                <a:cs typeface="Liberation Sans"/>
              </a:defRPr>
            </a:pPr>
            <a:r>
              <a:rPr sz="1875" b="0">
                <a:solidFill>
                  <a:srgbClr val="142A3C"/>
                </a:solidFill>
                <a:latin typeface="Liberation Sans"/>
                <a:ea typeface="Liberation Sans"/>
                <a:cs typeface="Liberation Sans"/>
              </a:rPr>
              <a:t>Render the snapshot and synchronize HubSpot summary.</a:t>
            </a:r>
          </a:p>
        </p:txBody>
      </p:sp>
    </p:spTree>
    <p:extLst>
      <p:ext uri="{BB962C8B-B14F-4D97-AF65-F5344CB8AC3E}">
        <p14:creationId xmlns:p14="http://schemas.microsoft.com/office/powerpoint/2010/main" val="2390934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648EE5-CFAA-45FF-AC33-2B55EC735A1D}"/>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Security across independent solutions</a:t>
            </a:r>
          </a:p>
        </p:txBody>
      </p:sp>
      <p:sp>
        <p:nvSpPr>
          <p:cNvPr id="2" name="">
            <a:extLst xmlns:a="http://schemas.openxmlformats.org/drawingml/2006/main">
              <a:ext uri="{FF2B5EF4-FFF2-40B4-BE49-F238E27FC236}">
                <a16:creationId xmlns:a16="http://schemas.microsoft.com/office/drawing/2014/main" id="{B5537F0D-EF37-4138-A75B-A589A8DAAE80}"/>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10</a:t>
            </a:r>
          </a:p>
        </p:txBody>
      </p:sp>
      <p:sp>
        <p:nvSpPr>
          <p:cNvPr id="3" name="">
            <a:extLst xmlns:a="http://schemas.openxmlformats.org/drawingml/2006/main">
              <a:ext uri="{FF2B5EF4-FFF2-40B4-BE49-F238E27FC236}">
                <a16:creationId xmlns:a16="http://schemas.microsoft.com/office/drawing/2014/main" id="{6D0A0E48-46C6-43FA-95D3-EAE251538188}"/>
              </a:ext>
            </a:extLst>
          </p:cNvPr>
          <p:cNvSpPr>
            <a:spLocks xmlns:a="http://schemas.openxmlformats.org/drawingml/2006/main" noGrp="1"/>
          </p:cNvSpPr>
          <p:nvPr/>
        </p:nvSpPr>
        <p:spPr>
          <a:xfrm xmlns:a="http://schemas.openxmlformats.org/drawingml/2006/main">
            <a:off x="571500" y="166687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85ADB"/>
                </a:solidFill>
                <a:latin typeface="Liberation Sans"/>
                <a:ea typeface="Liberation Sans"/>
                <a:cs typeface="Liberation Sans"/>
              </a:defRPr>
            </a:defPPr>
          </a:lstStyle>
          <a:p xmlns:a="http://schemas.openxmlformats.org/drawingml/2006/main">
            <a:pPr>
              <a:defRPr sz="2250" b="1">
                <a:solidFill>
                  <a:srgbClr val="185ADB"/>
                </a:solidFill>
                <a:latin typeface="Liberation Sans"/>
                <a:ea typeface="Liberation Sans"/>
                <a:cs typeface="Liberation Sans"/>
              </a:defRPr>
            </a:pPr>
            <a:r>
              <a:rPr sz="2250" b="1">
                <a:solidFill>
                  <a:srgbClr val="185ADB"/>
                </a:solidFill>
                <a:latin typeface="Liberation Sans"/>
                <a:ea typeface="Liberation Sans"/>
                <a:cs typeface="Liberation Sans"/>
              </a:rPr>
              <a:t>Every service boundary</a:t>
            </a:r>
          </a:p>
        </p:txBody>
      </p:sp>
      <p:sp>
        <p:nvSpPr>
          <p:cNvPr id="4" name="">
            <a:extLst xmlns:a="http://schemas.openxmlformats.org/drawingml/2006/main">
              <a:ext uri="{FF2B5EF4-FFF2-40B4-BE49-F238E27FC236}">
                <a16:creationId xmlns:a16="http://schemas.microsoft.com/office/drawing/2014/main" id="{5693D74A-19EC-49F8-AD1C-5963385F92F5}"/>
              </a:ext>
            </a:extLst>
          </p:cNvPr>
          <p:cNvSpPr>
            <a:spLocks xmlns:a="http://schemas.openxmlformats.org/drawingml/2006/main" noGrp="1"/>
          </p:cNvSpPr>
          <p:nvPr/>
        </p:nvSpPr>
        <p:spPr>
          <a:xfrm xmlns:a="http://schemas.openxmlformats.org/drawingml/2006/main">
            <a:off x="571500" y="2286000"/>
            <a:ext cx="5095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42A3C"/>
                </a:solidFill>
                <a:latin typeface="Liberation Sans"/>
                <a:ea typeface="Liberation Sans"/>
                <a:cs typeface="Liberation Sans"/>
              </a:defRPr>
            </a:defPPr>
          </a:lstStyle>
          <a:p xmlns:a="http://schemas.openxmlformats.org/drawingml/2006/main">
            <a:pPr>
              <a:defRPr sz="2100" b="0">
                <a:solidFill>
                  <a:srgbClr val="142A3C"/>
                </a:solidFill>
                <a:latin typeface="Liberation Sans"/>
                <a:ea typeface="Liberation Sans"/>
                <a:cs typeface="Liberation Sans"/>
              </a:defRPr>
            </a:pPr>
            <a:r>
              <a:rPr sz="2100" b="0">
                <a:solidFill>
                  <a:srgbClr val="142A3C"/>
                </a:solidFill>
                <a:latin typeface="Liberation Sans"/>
                <a:ea typeface="Liberation Sans"/>
                <a:cs typeface="Liberation Sans"/>
              </a:rPr>
              <a:t>Verified actor and tenant</a:t>
            </a:r>
          </a:p>
          <a:p xmlns:a="http://schemas.openxmlformats.org/drawingml/2006/main">
            <a:r>
              <a:t/>
            </a:r>
          </a:p>
          <a:p xmlns:a="http://schemas.openxmlformats.org/drawingml/2006/main">
            <a:pPr>
              <a:defRPr sz="2100" b="0">
                <a:solidFill>
                  <a:srgbClr val="142A3C"/>
                </a:solidFill>
                <a:latin typeface="Liberation Sans"/>
                <a:ea typeface="Liberation Sans"/>
                <a:cs typeface="Liberation Sans"/>
              </a:defRPr>
            </a:pPr>
            <a:r>
              <a:rPr sz="2100" b="0">
                <a:solidFill>
                  <a:srgbClr val="142A3C"/>
                </a:solidFill>
                <a:latin typeface="Liberation Sans"/>
                <a:ea typeface="Liberation Sans"/>
                <a:cs typeface="Liberation Sans"/>
              </a:rPr>
              <a:t>Authorized CRM record mapping</a:t>
            </a:r>
          </a:p>
          <a:p xmlns:a="http://schemas.openxmlformats.org/drawingml/2006/main">
            <a:r>
              <a:t/>
            </a:r>
          </a:p>
          <a:p xmlns:a="http://schemas.openxmlformats.org/drawingml/2006/main">
            <a:pPr>
              <a:defRPr sz="2100" b="0">
                <a:solidFill>
                  <a:srgbClr val="142A3C"/>
                </a:solidFill>
                <a:latin typeface="Liberation Sans"/>
                <a:ea typeface="Liberation Sans"/>
                <a:cs typeface="Liberation Sans"/>
              </a:defRPr>
            </a:pPr>
            <a:r>
              <a:rPr sz="2100" b="0">
                <a:solidFill>
                  <a:srgbClr val="142A3C"/>
                </a:solidFill>
                <a:latin typeface="Liberation Sans"/>
                <a:ea typeface="Liberation Sans"/>
                <a:cs typeface="Liberation Sans"/>
              </a:rPr>
              <a:t>Scoped service credentials</a:t>
            </a:r>
          </a:p>
          <a:p xmlns:a="http://schemas.openxmlformats.org/drawingml/2006/main">
            <a:r>
              <a:t/>
            </a:r>
          </a:p>
          <a:p xmlns:a="http://schemas.openxmlformats.org/drawingml/2006/main">
            <a:pPr>
              <a:defRPr sz="2100" b="0">
                <a:solidFill>
                  <a:srgbClr val="142A3C"/>
                </a:solidFill>
                <a:latin typeface="Liberation Sans"/>
                <a:ea typeface="Liberation Sans"/>
                <a:cs typeface="Liberation Sans"/>
              </a:defRPr>
            </a:pPr>
            <a:r>
              <a:rPr sz="2100" b="0">
                <a:solidFill>
                  <a:srgbClr val="142A3C"/>
                </a:solidFill>
                <a:latin typeface="Liberation Sans"/>
                <a:ea typeface="Liberation Sans"/>
                <a:cs typeface="Liberation Sans"/>
              </a:rPr>
              <a:t>Independent rollback and audit</a:t>
            </a:r>
          </a:p>
        </p:txBody>
      </p:sp>
      <p:sp>
        <p:nvSpPr>
          <p:cNvPr id="5" name="">
            <a:extLst xmlns:a="http://schemas.openxmlformats.org/drawingml/2006/main">
              <a:ext uri="{FF2B5EF4-FFF2-40B4-BE49-F238E27FC236}">
                <a16:creationId xmlns:a16="http://schemas.microsoft.com/office/drawing/2014/main" id="{3DCAEE95-4801-4D8D-ABB7-C8517D40657B}"/>
              </a:ext>
            </a:extLst>
          </p:cNvPr>
          <p:cNvSpPr>
            <a:spLocks xmlns:a="http://schemas.openxmlformats.org/drawingml/2006/main" noGrp="1"/>
          </p:cNvSpPr>
          <p:nvPr/>
        </p:nvSpPr>
        <p:spPr>
          <a:xfrm xmlns:a="http://schemas.openxmlformats.org/drawingml/2006/main">
            <a:off x="6524625" y="166687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85ADB"/>
                </a:solidFill>
                <a:latin typeface="Liberation Sans"/>
                <a:ea typeface="Liberation Sans"/>
                <a:cs typeface="Liberation Sans"/>
              </a:defRPr>
            </a:defPPr>
          </a:lstStyle>
          <a:p xmlns:a="http://schemas.openxmlformats.org/drawingml/2006/main">
            <a:pPr>
              <a:defRPr sz="2250" b="1">
                <a:solidFill>
                  <a:srgbClr val="185ADB"/>
                </a:solidFill>
                <a:latin typeface="Liberation Sans"/>
                <a:ea typeface="Liberation Sans"/>
                <a:cs typeface="Liberation Sans"/>
              </a:defRPr>
            </a:pPr>
            <a:r>
              <a:rPr sz="2250" b="1">
                <a:solidFill>
                  <a:srgbClr val="185ADB"/>
                </a:solidFill>
                <a:latin typeface="Liberation Sans"/>
                <a:ea typeface="Liberation Sans"/>
                <a:cs typeface="Liberation Sans"/>
              </a:rPr>
              <a:t>Every data path</a:t>
            </a:r>
          </a:p>
        </p:txBody>
      </p:sp>
      <p:sp>
        <p:nvSpPr>
          <p:cNvPr id="6" name="">
            <a:extLst xmlns:a="http://schemas.openxmlformats.org/drawingml/2006/main">
              <a:ext uri="{FF2B5EF4-FFF2-40B4-BE49-F238E27FC236}">
                <a16:creationId xmlns:a16="http://schemas.microsoft.com/office/drawing/2014/main" id="{5C82649A-15C2-4F91-A9C7-955A247DAA5B}"/>
              </a:ext>
            </a:extLst>
          </p:cNvPr>
          <p:cNvSpPr>
            <a:spLocks xmlns:a="http://schemas.openxmlformats.org/drawingml/2006/main" noGrp="1"/>
          </p:cNvSpPr>
          <p:nvPr/>
        </p:nvSpPr>
        <p:spPr>
          <a:xfrm xmlns:a="http://schemas.openxmlformats.org/drawingml/2006/main">
            <a:off x="6524625" y="2286000"/>
            <a:ext cx="5095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42A3C"/>
                </a:solidFill>
                <a:latin typeface="Liberation Sans"/>
                <a:ea typeface="Liberation Sans"/>
                <a:cs typeface="Liberation Sans"/>
              </a:defRPr>
            </a:defPPr>
          </a:lstStyle>
          <a:p xmlns:a="http://schemas.openxmlformats.org/drawingml/2006/main">
            <a:pPr>
              <a:defRPr sz="2100" b="0">
                <a:solidFill>
                  <a:srgbClr val="142A3C"/>
                </a:solidFill>
                <a:latin typeface="Liberation Sans"/>
                <a:ea typeface="Liberation Sans"/>
                <a:cs typeface="Liberation Sans"/>
              </a:defRPr>
            </a:pPr>
            <a:r>
              <a:rPr sz="2100" b="0">
                <a:solidFill>
                  <a:srgbClr val="142A3C"/>
                </a:solidFill>
                <a:latin typeface="Liberation Sans"/>
                <a:ea typeface="Liberation Sans"/>
                <a:cs typeface="Liberation Sans"/>
              </a:rPr>
              <a:t>Files and package handoffs</a:t>
            </a:r>
          </a:p>
          <a:p xmlns:a="http://schemas.openxmlformats.org/drawingml/2006/main">
            <a:r>
              <a:t/>
            </a:r>
          </a:p>
          <a:p xmlns:a="http://schemas.openxmlformats.org/drawingml/2006/main">
            <a:pPr>
              <a:defRPr sz="2100" b="0">
                <a:solidFill>
                  <a:srgbClr val="142A3C"/>
                </a:solidFill>
                <a:latin typeface="Liberation Sans"/>
                <a:ea typeface="Liberation Sans"/>
                <a:cs typeface="Liberation Sans"/>
              </a:defRPr>
            </a:pPr>
            <a:r>
              <a:rPr sz="2100" b="0">
                <a:solidFill>
                  <a:srgbClr val="142A3C"/>
                </a:solidFill>
                <a:latin typeface="Liberation Sans"/>
                <a:ea typeface="Liberation Sans"/>
                <a:cs typeface="Liberation Sans"/>
              </a:rPr>
              <a:t>AI knowledge and typed tools</a:t>
            </a:r>
          </a:p>
          <a:p xmlns:a="http://schemas.openxmlformats.org/drawingml/2006/main">
            <a:r>
              <a:t/>
            </a:r>
          </a:p>
          <a:p xmlns:a="http://schemas.openxmlformats.org/drawingml/2006/main">
            <a:pPr>
              <a:defRPr sz="2100" b="0">
                <a:solidFill>
                  <a:srgbClr val="142A3C"/>
                </a:solidFill>
                <a:latin typeface="Liberation Sans"/>
                <a:ea typeface="Liberation Sans"/>
                <a:cs typeface="Liberation Sans"/>
              </a:defRPr>
            </a:pPr>
            <a:r>
              <a:rPr sz="2100" b="0">
                <a:solidFill>
                  <a:srgbClr val="142A3C"/>
                </a:solidFill>
                <a:latin typeface="Liberation Sans"/>
                <a:ea typeface="Liberation Sans"/>
                <a:cs typeface="Liberation Sans"/>
              </a:rPr>
              <a:t>Events and CRM projections</a:t>
            </a:r>
          </a:p>
          <a:p xmlns:a="http://schemas.openxmlformats.org/drawingml/2006/main">
            <a:r>
              <a:t/>
            </a:r>
          </a:p>
          <a:p xmlns:a="http://schemas.openxmlformats.org/drawingml/2006/main">
            <a:pPr>
              <a:defRPr sz="2100" b="0">
                <a:solidFill>
                  <a:srgbClr val="142A3C"/>
                </a:solidFill>
                <a:latin typeface="Liberation Sans"/>
                <a:ea typeface="Liberation Sans"/>
                <a:cs typeface="Liberation Sans"/>
              </a:defRPr>
            </a:pPr>
            <a:r>
              <a:rPr sz="2100" b="0">
                <a:solidFill>
                  <a:srgbClr val="142A3C"/>
                </a:solidFill>
                <a:latin typeface="Liberation Sans"/>
                <a:ea typeface="Liberation Sans"/>
                <a:cs typeface="Liberation Sans"/>
              </a:rPr>
              <a:t>Reports and object downloads</a:t>
            </a:r>
          </a:p>
        </p:txBody>
      </p:sp>
      <p:sp>
        <p:nvSpPr>
          <p:cNvPr id="7" name="">
            <a:extLst xmlns:a="http://schemas.openxmlformats.org/drawingml/2006/main">
              <a:ext uri="{FF2B5EF4-FFF2-40B4-BE49-F238E27FC236}">
                <a16:creationId xmlns:a16="http://schemas.microsoft.com/office/drawing/2014/main" id="{595C7A19-5F7F-4CB3-8DEA-FFDD1B53C7E1}"/>
              </a:ext>
            </a:extLst>
          </p:cNvPr>
          <p:cNvSpPr>
            <a:spLocks xmlns:a="http://schemas.openxmlformats.org/drawingml/2006/main" noGrp="1"/>
          </p:cNvSpPr>
          <p:nvPr/>
        </p:nvSpPr>
        <p:spPr>
          <a:xfrm xmlns:a="http://schemas.openxmlformats.org/drawingml/2006/main">
            <a:off x="571500" y="5876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C83"/>
                </a:solidFill>
                <a:latin typeface="Liberation Sans"/>
                <a:ea typeface="Liberation Sans"/>
                <a:cs typeface="Liberation Sans"/>
              </a:defRPr>
            </a:defPPr>
          </a:lstStyle>
          <a:p xmlns:a="http://schemas.openxmlformats.org/drawingml/2006/main">
            <a:pPr>
              <a:defRPr sz="1800" b="1">
                <a:solidFill>
                  <a:srgbClr val="007C83"/>
                </a:solidFill>
                <a:latin typeface="Liberation Sans"/>
                <a:ea typeface="Liberation Sans"/>
                <a:cs typeface="Liberation Sans"/>
              </a:defRPr>
            </a:pPr>
            <a:r>
              <a:rPr sz="1800" b="1">
                <a:solidFill>
                  <a:srgbClr val="007C83"/>
                </a:solidFill>
                <a:latin typeface="Liberation Sans"/>
                <a:ea typeface="Liberation Sans"/>
                <a:cs typeface="Liberation Sans"/>
              </a:rPr>
              <a:t>AI proposes changes. A human reviews them and the receiving service validates.</a:t>
            </a:r>
          </a:p>
        </p:txBody>
      </p:sp>
    </p:spTree>
    <p:extLst>
      <p:ext uri="{BB962C8B-B14F-4D97-AF65-F5344CB8AC3E}">
        <p14:creationId xmlns:p14="http://schemas.microsoft.com/office/powerpoint/2010/main" val="18188330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F22D26-9A2D-43CD-8B8C-8CA40B57DFEC}"/>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Solution choices by service</a:t>
            </a:r>
          </a:p>
        </p:txBody>
      </p:sp>
      <p:sp>
        <p:nvSpPr>
          <p:cNvPr id="2" name="">
            <a:extLst xmlns:a="http://schemas.openxmlformats.org/drawingml/2006/main">
              <a:ext uri="{FF2B5EF4-FFF2-40B4-BE49-F238E27FC236}">
                <a16:creationId xmlns:a16="http://schemas.microsoft.com/office/drawing/2014/main" id="{DA5FDB65-7E0D-4EAB-940E-85EF3B2ABBF5}"/>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11</a:t>
            </a:r>
          </a:p>
        </p:txBody>
      </p:sp>
      <p:graphicFrame>
        <p:nvGraphicFramePr>
          <p:cNvPr id="3" name="">
            <a:extLst xmlns:a="http://schemas.openxmlformats.org/drawingml/2006/main">
              <a:ext uri="{FF2B5EF4-FFF2-40B4-BE49-F238E27FC236}">
                <a16:creationId xmlns:a16="http://schemas.microsoft.com/office/drawing/2014/main" id="{273B076F-A280-4C37-9A02-6F7C04C8A911}"/>
              </a:ext>
            </a:extLst>
          </p:cNvPr>
          <p:cNvGraphicFramePr/>
          <p:nvPr/>
        </p:nvGraphicFramePr>
        <p:xfrm>
          <a:off xmlns:a="http://schemas.openxmlformats.org/drawingml/2006/main" x="571500" y="1600200"/>
          <a:ext xmlns:a="http://schemas.openxmlformats.org/drawingml/2006/main" cx="11049000" cy="4095750"/>
        </p:xfrm>
        <a:graphic xmlns:a="http://schemas.openxmlformats.org/drawingml/2006/main">
          <a:graphicData uri="http://schemas.openxmlformats.org/drawingml/2006/table">
            <a:tbl>
              <a:tblPr firstRow="1" bandRow="0"/>
              <a:tblGrid>
                <a:gridCol w="2095500"/>
                <a:gridCol w="4048125"/>
                <a:gridCol w="4905375"/>
              </a:tblGrid>
              <a:tr h="514350">
                <a:tc>
                  <a:txBody>
                    <a:bodyPr/>
                    <a:lstStyle/>
                    <a:p>
                      <a:r>
                        <a:rPr sz="1725" b="1">
                          <a:solidFill>
                            <a:srgbClr val="FFFFFF"/>
                          </a:solidFill>
                          <a:latin typeface="Liberation Sans"/>
                          <a:ea typeface="Liberation Sans"/>
                          <a:cs typeface="Liberation Sans"/>
                        </a:rPr>
                        <a:t>Service</a:t>
                      </a:r>
                    </a:p>
                  </a:txBody>
                  <a:tcPr marL="133350" marR="133350" marT="114300" marB="95250" anchor="ctr">
                    <a:solidFill>
                      <a:srgbClr val="123148"/>
                    </a:solidFill>
                  </a:tcPr>
                </a:tc>
                <a:tc>
                  <a:txBody>
                    <a:bodyPr/>
                    <a:lstStyle/>
                    <a:p>
                      <a:r>
                        <a:rPr sz="1725" b="1">
                          <a:solidFill>
                            <a:srgbClr val="FFFFFF"/>
                          </a:solidFill>
                          <a:latin typeface="Liberation Sans"/>
                          <a:ea typeface="Liberation Sans"/>
                          <a:cs typeface="Liberation Sans"/>
                        </a:rPr>
                        <a:t>Open-source path</a:t>
                      </a:r>
                    </a:p>
                  </a:txBody>
                  <a:tcPr marL="133350" marR="133350" marT="114300" marB="95250" anchor="ctr">
                    <a:solidFill>
                      <a:srgbClr val="123148"/>
                    </a:solidFill>
                  </a:tcPr>
                </a:tc>
                <a:tc>
                  <a:txBody>
                    <a:bodyPr/>
                    <a:lstStyle/>
                    <a:p>
                      <a:r>
                        <a:rPr sz="1725" b="1">
                          <a:solidFill>
                            <a:srgbClr val="FFFFFF"/>
                          </a:solidFill>
                          <a:latin typeface="Liberation Sans"/>
                          <a:ea typeface="Liberation Sans"/>
                          <a:cs typeface="Liberation Sans"/>
                        </a:rPr>
                        <a:t>Paid candidate or direction</a:t>
                      </a:r>
                    </a:p>
                  </a:txBody>
                  <a:tcPr marL="133350" marR="133350" marT="114300" marB="95250" anchor="ctr">
                    <a:solidFill>
                      <a:srgbClr val="123148"/>
                    </a:solidFill>
                  </a:tcPr>
                </a:tc>
              </a:tr>
              <a:tr h="716280">
                <a:tc>
                  <a:txBody>
                    <a:bodyPr/>
                    <a:lstStyle/>
                    <a:p>
                      <a:r>
                        <a:rPr sz="1725" b="0">
                          <a:solidFill>
                            <a:srgbClr val="142A3C"/>
                          </a:solidFill>
                          <a:latin typeface="Liberation Sans"/>
                          <a:ea typeface="Liberation Sans"/>
                          <a:cs typeface="Liberation Sans"/>
                        </a:rPr>
                        <a:t>Marketplace</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Custom catalog application</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Existing supplier feeds if entitled</a:t>
                      </a:r>
                    </a:p>
                  </a:txBody>
                  <a:tcPr marL="133350" marR="133350" marT="114300" marB="95250" anchor="ctr">
                    <a:solidFill>
                      <a:srgbClr val="FFFFFF"/>
                    </a:solidFill>
                  </a:tcPr>
                </a:tc>
              </a:tr>
              <a:tr h="716280">
                <a:tc>
                  <a:txBody>
                    <a:bodyPr/>
                    <a:lstStyle/>
                    <a:p>
                      <a:r>
                        <a:rPr sz="1725" b="0">
                          <a:solidFill>
                            <a:srgbClr val="142A3C"/>
                          </a:solidFill>
                          <a:latin typeface="Liberation Sans"/>
                          <a:ea typeface="Liberation Sans"/>
                          <a:cs typeface="Liberation Sans"/>
                        </a:rPr>
                        <a:t>Floor Plan</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Custom Konva application</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Hamina proof of fit</a:t>
                      </a:r>
                    </a:p>
                  </a:txBody>
                  <a:tcPr marL="133350" marR="133350" marT="114300" marB="95250" anchor="ctr">
                    <a:solidFill>
                      <a:srgbClr val="EFF4F8"/>
                    </a:solidFill>
                  </a:tcPr>
                </a:tc>
              </a:tr>
              <a:tr h="716280">
                <a:tc>
                  <a:txBody>
                    <a:bodyPr/>
                    <a:lstStyle/>
                    <a:p>
                      <a:r>
                        <a:rPr sz="1725" b="0">
                          <a:solidFill>
                            <a:srgbClr val="142A3C"/>
                          </a:solidFill>
                          <a:latin typeface="Liberation Sans"/>
                          <a:ea typeface="Liberation Sans"/>
                          <a:cs typeface="Liberation Sans"/>
                        </a:rPr>
                        <a:t>Discovery</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NetBox + inventory imports</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runZero proof of fit</a:t>
                      </a:r>
                    </a:p>
                  </a:txBody>
                  <a:tcPr marL="133350" marR="133350" marT="114300" marB="95250" anchor="ctr">
                    <a:solidFill>
                      <a:srgbClr val="FFFFFF"/>
                    </a:solidFill>
                  </a:tcPr>
                </a:tc>
              </a:tr>
              <a:tr h="716280">
                <a:tc>
                  <a:txBody>
                    <a:bodyPr/>
                    <a:lstStyle/>
                    <a:p>
                      <a:r>
                        <a:rPr sz="1725" b="0">
                          <a:solidFill>
                            <a:srgbClr val="142A3C"/>
                          </a:solidFill>
                          <a:latin typeface="Liberation Sans"/>
                          <a:ea typeface="Liberation Sans"/>
                          <a:cs typeface="Liberation Sans"/>
                        </a:rPr>
                        <a:t>AI Builder</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vLLM + pgvector + owned tools</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Bedrock + owned orchestration</a:t>
                      </a:r>
                    </a:p>
                  </a:txBody>
                  <a:tcPr marL="133350" marR="133350" marT="114300" marB="95250" anchor="ctr">
                    <a:solidFill>
                      <a:srgbClr val="EFF4F8"/>
                    </a:solidFill>
                  </a:tcPr>
                </a:tc>
              </a:tr>
              <a:tr h="716280">
                <a:tc>
                  <a:txBody>
                    <a:bodyPr/>
                    <a:lstStyle/>
                    <a:p>
                      <a:r>
                        <a:rPr sz="1725" b="0">
                          <a:solidFill>
                            <a:srgbClr val="142A3C"/>
                          </a:solidFill>
                          <a:latin typeface="Liberation Sans"/>
                          <a:ea typeface="Liberation Sans"/>
                          <a:cs typeface="Liberation Sans"/>
                        </a:rPr>
                        <a:t>Multi-Site</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Custom profile and BOM service</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Vendor extension only after fit test</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9C7A6D-8D9F-4D4F-A5C4-4E108FDDB96C}"/>
              </a:ext>
            </a:extLst>
          </p:cNvPr>
          <p:cNvSpPr>
            <a:spLocks xmlns:a="http://schemas.openxmlformats.org/drawingml/2006/main" noGrp="1"/>
          </p:cNvSpPr>
          <p:nvPr/>
        </p:nvSpPr>
        <p:spPr>
          <a:xfrm xmlns:a="http://schemas.openxmlformats.org/drawingml/2006/main">
            <a:off x="571500" y="58864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Vendor gate: standalone use, SSO, product mapping, handoff, recovery and data exit.</a:t>
            </a:r>
          </a:p>
        </p:txBody>
      </p:sp>
    </p:spTree>
    <p:extLst>
      <p:ext uri="{BB962C8B-B14F-4D97-AF65-F5344CB8AC3E}">
        <p14:creationId xmlns:p14="http://schemas.microsoft.com/office/powerpoint/2010/main" val="10084676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7F842C-BAE7-4B9E-9CDD-F58978AE7892}"/>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Commercial and platform choices</a:t>
            </a:r>
          </a:p>
        </p:txBody>
      </p:sp>
      <p:sp>
        <p:nvSpPr>
          <p:cNvPr id="2" name="">
            <a:extLst xmlns:a="http://schemas.openxmlformats.org/drawingml/2006/main">
              <a:ext uri="{FF2B5EF4-FFF2-40B4-BE49-F238E27FC236}">
                <a16:creationId xmlns:a16="http://schemas.microsoft.com/office/drawing/2014/main" id="{B52812EF-9673-4A50-8876-6F1D94800936}"/>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12</a:t>
            </a:r>
          </a:p>
        </p:txBody>
      </p:sp>
      <p:graphicFrame>
        <p:nvGraphicFramePr>
          <p:cNvPr id="3" name="">
            <a:extLst xmlns:a="http://schemas.openxmlformats.org/drawingml/2006/main">
              <a:ext uri="{FF2B5EF4-FFF2-40B4-BE49-F238E27FC236}">
                <a16:creationId xmlns:a16="http://schemas.microsoft.com/office/drawing/2014/main" id="{384B0A18-0626-4F42-A1B2-A88194C7B719}"/>
              </a:ext>
            </a:extLst>
          </p:cNvPr>
          <p:cNvGraphicFramePr/>
          <p:nvPr/>
        </p:nvGraphicFramePr>
        <p:xfrm>
          <a:off xmlns:a="http://schemas.openxmlformats.org/drawingml/2006/main" x="571500" y="1600200"/>
          <a:ext xmlns:a="http://schemas.openxmlformats.org/drawingml/2006/main" cx="11049000" cy="4000500"/>
        </p:xfrm>
        <a:graphic xmlns:a="http://schemas.openxmlformats.org/drawingml/2006/main">
          <a:graphicData uri="http://schemas.openxmlformats.org/drawingml/2006/table">
            <a:tbl>
              <a:tblPr firstRow="1" bandRow="0"/>
              <a:tblGrid>
                <a:gridCol w="2428875"/>
                <a:gridCol w="4000500"/>
                <a:gridCol w="4619625"/>
              </a:tblGrid>
              <a:tr h="514350">
                <a:tc>
                  <a:txBody>
                    <a:bodyPr/>
                    <a:lstStyle/>
                    <a:p>
                      <a:r>
                        <a:rPr sz="1725" b="1">
                          <a:solidFill>
                            <a:srgbClr val="FFFFFF"/>
                          </a:solidFill>
                          <a:latin typeface="Liberation Sans"/>
                          <a:ea typeface="Liberation Sans"/>
                          <a:cs typeface="Liberation Sans"/>
                        </a:rPr>
                        <a:t>Capability</a:t>
                      </a:r>
                    </a:p>
                  </a:txBody>
                  <a:tcPr marL="133350" marR="133350" marT="114300" marB="95250" anchor="ctr">
                    <a:solidFill>
                      <a:srgbClr val="123148"/>
                    </a:solidFill>
                  </a:tcPr>
                </a:tc>
                <a:tc>
                  <a:txBody>
                    <a:bodyPr/>
                    <a:lstStyle/>
                    <a:p>
                      <a:r>
                        <a:rPr sz="1725" b="1">
                          <a:solidFill>
                            <a:srgbClr val="FFFFFF"/>
                          </a:solidFill>
                          <a:latin typeface="Liberation Sans"/>
                          <a:ea typeface="Liberation Sans"/>
                          <a:cs typeface="Liberation Sans"/>
                        </a:rPr>
                        <a:t>Open source or custom</a:t>
                      </a:r>
                    </a:p>
                  </a:txBody>
                  <a:tcPr marL="133350" marR="133350" marT="114300" marB="95250" anchor="ctr">
                    <a:solidFill>
                      <a:srgbClr val="123148"/>
                    </a:solidFill>
                  </a:tcPr>
                </a:tc>
                <a:tc>
                  <a:txBody>
                    <a:bodyPr/>
                    <a:lstStyle/>
                    <a:p>
                      <a:r>
                        <a:rPr sz="1725" b="1">
                          <a:solidFill>
                            <a:srgbClr val="FFFFFF"/>
                          </a:solidFill>
                          <a:latin typeface="Liberation Sans"/>
                          <a:ea typeface="Liberation Sans"/>
                          <a:cs typeface="Liberation Sans"/>
                        </a:rPr>
                        <a:t>Paid path and recommendation</a:t>
                      </a:r>
                    </a:p>
                  </a:txBody>
                  <a:tcPr marL="133350" marR="133350" marT="114300" marB="95250" anchor="ctr">
                    <a:solidFill>
                      <a:srgbClr val="123148"/>
                    </a:solidFill>
                  </a:tcPr>
                </a:tc>
              </a:tr>
              <a:tr h="697230">
                <a:tc>
                  <a:txBody>
                    <a:bodyPr/>
                    <a:lstStyle/>
                    <a:p>
                      <a:r>
                        <a:rPr sz="1725" b="0">
                          <a:solidFill>
                            <a:srgbClr val="142A3C"/>
                          </a:solidFill>
                          <a:latin typeface="Liberation Sans"/>
                          <a:ea typeface="Liberation Sans"/>
                          <a:cs typeface="Liberation Sans"/>
                        </a:rPr>
                        <a:t>CRM</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No replacement proposed</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Retain HubSpot</a:t>
                      </a:r>
                    </a:p>
                  </a:txBody>
                  <a:tcPr marL="133350" marR="133350" marT="114300" marB="95250" anchor="ctr">
                    <a:solidFill>
                      <a:srgbClr val="FFFFFF"/>
                    </a:solidFill>
                  </a:tcPr>
                </a:tc>
              </a:tr>
              <a:tr h="697230">
                <a:tc>
                  <a:txBody>
                    <a:bodyPr/>
                    <a:lstStyle/>
                    <a:p>
                      <a:r>
                        <a:rPr sz="1725" b="0">
                          <a:solidFill>
                            <a:srgbClr val="142A3C"/>
                          </a:solidFill>
                          <a:latin typeface="Liberation Sans"/>
                          <a:ea typeface="Liberation Sans"/>
                          <a:cs typeface="Liberation Sans"/>
                        </a:rPr>
                        <a:t>Quote authority</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Custom service or ERPNext fit test</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Evaluate HubSpot CPQ first</a:t>
                      </a:r>
                    </a:p>
                  </a:txBody>
                  <a:tcPr marL="133350" marR="133350" marT="114300" marB="95250" anchor="ctr">
                    <a:solidFill>
                      <a:srgbClr val="EFF4F8"/>
                    </a:solidFill>
                  </a:tcPr>
                </a:tc>
              </a:tr>
              <a:tr h="697230">
                <a:tc>
                  <a:txBody>
                    <a:bodyPr/>
                    <a:lstStyle/>
                    <a:p>
                      <a:r>
                        <a:rPr sz="1725" b="0">
                          <a:solidFill>
                            <a:srgbClr val="142A3C"/>
                          </a:solidFill>
                          <a:latin typeface="Liberation Sans"/>
                          <a:ea typeface="Liberation Sans"/>
                          <a:cs typeface="Liberation Sans"/>
                        </a:rPr>
                        <a:t>Identity</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Keycloak</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Approved IdP or Auth0</a:t>
                      </a:r>
                    </a:p>
                  </a:txBody>
                  <a:tcPr marL="133350" marR="133350" marT="114300" marB="95250" anchor="ctr">
                    <a:solidFill>
                      <a:srgbClr val="FFFFFF"/>
                    </a:solidFill>
                  </a:tcPr>
                </a:tc>
              </a:tr>
              <a:tr h="697230">
                <a:tc>
                  <a:txBody>
                    <a:bodyPr/>
                    <a:lstStyle/>
                    <a:p>
                      <a:r>
                        <a:rPr sz="1725" b="0">
                          <a:solidFill>
                            <a:srgbClr val="142A3C"/>
                          </a:solidFill>
                          <a:latin typeface="Liberation Sans"/>
                          <a:ea typeface="Liberation Sans"/>
                          <a:cs typeface="Liberation Sans"/>
                        </a:rPr>
                        <a:t>Data and messaging</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PostgreSQL / RabbitMQ</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Managed database and queue</a:t>
                      </a:r>
                    </a:p>
                  </a:txBody>
                  <a:tcPr marL="133350" marR="133350" marT="114300" marB="95250" anchor="ctr">
                    <a:solidFill>
                      <a:srgbClr val="EFF4F8"/>
                    </a:solidFill>
                  </a:tcPr>
                </a:tc>
              </a:tr>
              <a:tr h="697230">
                <a:tc>
                  <a:txBody>
                    <a:bodyPr/>
                    <a:lstStyle/>
                    <a:p>
                      <a:r>
                        <a:rPr sz="1725" b="0">
                          <a:solidFill>
                            <a:srgbClr val="142A3C"/>
                          </a:solidFill>
                          <a:latin typeface="Liberation Sans"/>
                          <a:ea typeface="Liberation Sans"/>
                          <a:cs typeface="Liberation Sans"/>
                        </a:rPr>
                        <a:t>Reporting</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Apache Superset</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Power BI if fit and licensed</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38F2970-7358-4CF1-AC9A-5BC2F03E4FC0}"/>
              </a:ext>
            </a:extLst>
          </p:cNvPr>
          <p:cNvSpPr>
            <a:spLocks xmlns:a="http://schemas.openxmlformats.org/drawingml/2006/main" noGrp="1"/>
          </p:cNvSpPr>
          <p:nvPr/>
        </p:nvSpPr>
        <p:spPr>
          <a:xfrm xmlns:a="http://schemas.openxmlformats.org/drawingml/2006/main">
            <a:off x="571500" y="58483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C83"/>
                </a:solidFill>
                <a:latin typeface="Liberation Sans"/>
                <a:ea typeface="Liberation Sans"/>
                <a:cs typeface="Liberation Sans"/>
              </a:defRPr>
            </a:defPPr>
          </a:lstStyle>
          <a:p xmlns:a="http://schemas.openxmlformats.org/drawingml/2006/main">
            <a:pPr>
              <a:defRPr sz="1800" b="1">
                <a:solidFill>
                  <a:srgbClr val="007C83"/>
                </a:solidFill>
                <a:latin typeface="Liberation Sans"/>
                <a:ea typeface="Liberation Sans"/>
                <a:cs typeface="Liberation Sans"/>
              </a:defRPr>
            </a:pPr>
            <a:r>
              <a:rPr sz="1800" b="1">
                <a:solidFill>
                  <a:srgbClr val="007C83"/>
                </a:solidFill>
                <a:latin typeface="Liberation Sans"/>
                <a:ea typeface="Liberation Sans"/>
                <a:cs typeface="Liberation Sans"/>
              </a:rPr>
              <a:t>Choose one authoritative quote calculator. Confirm the actual HubSpot entitlement.</a:t>
            </a:r>
          </a:p>
        </p:txBody>
      </p:sp>
    </p:spTree>
    <p:extLst>
      <p:ext uri="{BB962C8B-B14F-4D97-AF65-F5344CB8AC3E}">
        <p14:creationId xmlns:p14="http://schemas.microsoft.com/office/powerpoint/2010/main" val="6591323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2125A6-E0E7-44FC-9186-C8033D57FB9C}"/>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Revised delivery phases</a:t>
            </a:r>
          </a:p>
        </p:txBody>
      </p:sp>
      <p:sp>
        <p:nvSpPr>
          <p:cNvPr id="2" name="">
            <a:extLst xmlns:a="http://schemas.openxmlformats.org/drawingml/2006/main">
              <a:ext uri="{FF2B5EF4-FFF2-40B4-BE49-F238E27FC236}">
                <a16:creationId xmlns:a16="http://schemas.microsoft.com/office/drawing/2014/main" id="{350DA936-05A7-4E04-A992-FDD2D7EB4E75}"/>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13</a:t>
            </a:r>
          </a:p>
        </p:txBody>
      </p:sp>
      <p:graphicFrame>
        <p:nvGraphicFramePr>
          <p:cNvPr id="3" name="">
            <a:extLst xmlns:a="http://schemas.openxmlformats.org/drawingml/2006/main">
              <a:ext uri="{FF2B5EF4-FFF2-40B4-BE49-F238E27FC236}">
                <a16:creationId xmlns:a16="http://schemas.microsoft.com/office/drawing/2014/main" id="{8571B666-75AF-48C5-82AC-7336A01D6FC5}"/>
              </a:ext>
            </a:extLst>
          </p:cNvPr>
          <p:cNvGraphicFramePr/>
          <p:nvPr/>
        </p:nvGraphicFramePr>
        <p:xfrm>
          <a:off xmlns:a="http://schemas.openxmlformats.org/drawingml/2006/main" x="571500" y="1600200"/>
          <a:ext xmlns:a="http://schemas.openxmlformats.org/drawingml/2006/main" cx="11049000" cy="3905250"/>
        </p:xfrm>
        <a:graphic xmlns:a="http://schemas.openxmlformats.org/drawingml/2006/main">
          <a:graphicData uri="http://schemas.openxmlformats.org/drawingml/2006/table">
            <a:tbl>
              <a:tblPr firstRow="1" bandRow="0"/>
              <a:tblGrid>
                <a:gridCol w="1285875"/>
                <a:gridCol w="2619375"/>
                <a:gridCol w="7143750"/>
              </a:tblGrid>
              <a:tr h="514350">
                <a:tc>
                  <a:txBody>
                    <a:bodyPr/>
                    <a:lstStyle/>
                    <a:p>
                      <a:r>
                        <a:rPr sz="1875" b="1">
                          <a:solidFill>
                            <a:srgbClr val="FFFFFF"/>
                          </a:solidFill>
                          <a:latin typeface="Liberation Sans"/>
                          <a:ea typeface="Liberation Sans"/>
                          <a:cs typeface="Liberation Sans"/>
                        </a:rPr>
                        <a:t>Phase</a:t>
                      </a:r>
                    </a:p>
                  </a:txBody>
                  <a:tcPr marL="133350" marR="133350" marT="114300" marB="95250" anchor="ctr">
                    <a:solidFill>
                      <a:srgbClr val="123148"/>
                    </a:solidFill>
                  </a:tcPr>
                </a:tc>
                <a:tc>
                  <a:txBody>
                    <a:bodyPr/>
                    <a:lstStyle/>
                    <a:p>
                      <a:r>
                        <a:rPr sz="1875" b="1">
                          <a:solidFill>
                            <a:srgbClr val="FFFFFF"/>
                          </a:solidFill>
                          <a:latin typeface="Liberation Sans"/>
                          <a:ea typeface="Liberation Sans"/>
                          <a:cs typeface="Liberation Sans"/>
                        </a:rPr>
                        <a:t>Range</a:t>
                      </a:r>
                    </a:p>
                  </a:txBody>
                  <a:tcPr marL="133350" marR="133350" marT="114300" marB="95250" anchor="ctr">
                    <a:solidFill>
                      <a:srgbClr val="123148"/>
                    </a:solidFill>
                  </a:tcPr>
                </a:tc>
                <a:tc>
                  <a:txBody>
                    <a:bodyPr/>
                    <a:lstStyle/>
                    <a:p>
                      <a:r>
                        <a:rPr sz="1875" b="1">
                          <a:solidFill>
                            <a:srgbClr val="FFFFFF"/>
                          </a:solidFill>
                          <a:latin typeface="Liberation Sans"/>
                          <a:ea typeface="Liberation Sans"/>
                          <a:cs typeface="Liberation Sans"/>
                        </a:rPr>
                        <a:t>Outcome</a:t>
                      </a:r>
                    </a:p>
                  </a:txBody>
                  <a:tcPr marL="133350" marR="133350" marT="114300" marB="95250" anchor="ctr">
                    <a:solidFill>
                      <a:srgbClr val="123148"/>
                    </a:solidFill>
                  </a:tcPr>
                </a:tc>
              </a:tr>
              <a:tr h="847725">
                <a:tc>
                  <a:txBody>
                    <a:bodyPr/>
                    <a:lstStyle/>
                    <a:p>
                      <a:r>
                        <a:rPr sz="1875" b="0">
                          <a:solidFill>
                            <a:srgbClr val="142A3C"/>
                          </a:solidFill>
                          <a:latin typeface="Liberation Sans"/>
                          <a:ea typeface="Liberation Sans"/>
                          <a:cs typeface="Liberation Sans"/>
                        </a:rPr>
                        <a:t>P0</a:t>
                      </a:r>
                    </a:p>
                  </a:txBody>
                  <a:tcPr marL="133350" marR="133350" marT="114300" marB="95250" anchor="ctr">
                    <a:solidFill>
                      <a:srgbClr val="FFFFFF"/>
                    </a:solidFill>
                  </a:tcPr>
                </a:tc>
                <a:tc>
                  <a:txBody>
                    <a:bodyPr/>
                    <a:lstStyle/>
                    <a:p>
                      <a:r>
                        <a:rPr sz="1875" b="0">
                          <a:solidFill>
                            <a:srgbClr val="142A3C"/>
                          </a:solidFill>
                          <a:latin typeface="Liberation Sans"/>
                          <a:ea typeface="Liberation Sans"/>
                          <a:cs typeface="Liberation Sans"/>
                        </a:rPr>
                        <a:t>2-3 weeks</a:t>
                      </a:r>
                    </a:p>
                  </a:txBody>
                  <a:tcPr marL="133350" marR="133350" marT="114300" marB="95250" anchor="ctr">
                    <a:solidFill>
                      <a:srgbClr val="FFFFFF"/>
                    </a:solidFill>
                  </a:tcPr>
                </a:tc>
                <a:tc>
                  <a:txBody>
                    <a:bodyPr/>
                    <a:lstStyle/>
                    <a:p>
                      <a:r>
                        <a:rPr sz="1875" b="0">
                          <a:solidFill>
                            <a:srgbClr val="142A3C"/>
                          </a:solidFill>
                          <a:latin typeface="Liberation Sans"/>
                          <a:ea typeface="Liberation Sans"/>
                          <a:cs typeface="Liberation Sans"/>
                        </a:rPr>
                        <a:t>HubSpot mapping, authorities and service fit</a:t>
                      </a:r>
                    </a:p>
                  </a:txBody>
                  <a:tcPr marL="133350" marR="133350" marT="114300" marB="95250" anchor="ctr">
                    <a:solidFill>
                      <a:srgbClr val="FFFFFF"/>
                    </a:solidFill>
                  </a:tcPr>
                </a:tc>
              </a:tr>
              <a:tr h="847725">
                <a:tc>
                  <a:txBody>
                    <a:bodyPr/>
                    <a:lstStyle/>
                    <a:p>
                      <a:r>
                        <a:rPr sz="1875" b="0">
                          <a:solidFill>
                            <a:srgbClr val="142A3C"/>
                          </a:solidFill>
                          <a:latin typeface="Liberation Sans"/>
                          <a:ea typeface="Liberation Sans"/>
                          <a:cs typeface="Liberation Sans"/>
                        </a:rPr>
                        <a:t>P1</a:t>
                      </a:r>
                    </a:p>
                  </a:txBody>
                  <a:tcPr marL="133350" marR="133350" marT="114300" marB="95250" anchor="ctr">
                    <a:solidFill>
                      <a:srgbClr val="EFF4F8"/>
                    </a:solidFill>
                  </a:tcPr>
                </a:tc>
                <a:tc>
                  <a:txBody>
                    <a:bodyPr/>
                    <a:lstStyle/>
                    <a:p>
                      <a:r>
                        <a:rPr sz="1875" b="0">
                          <a:solidFill>
                            <a:srgbClr val="142A3C"/>
                          </a:solidFill>
                          <a:latin typeface="Liberation Sans"/>
                          <a:ea typeface="Liberation Sans"/>
                          <a:cs typeface="Liberation Sans"/>
                        </a:rPr>
                        <a:t>Next 6-8 weeks</a:t>
                      </a:r>
                    </a:p>
                  </a:txBody>
                  <a:tcPr marL="133350" marR="133350" marT="114300" marB="95250" anchor="ctr">
                    <a:solidFill>
                      <a:srgbClr val="EFF4F8"/>
                    </a:solidFill>
                  </a:tcPr>
                </a:tc>
                <a:tc>
                  <a:txBody>
                    <a:bodyPr/>
                    <a:lstStyle/>
                    <a:p>
                      <a:r>
                        <a:rPr sz="1875" b="0">
                          <a:solidFill>
                            <a:srgbClr val="142A3C"/>
                          </a:solidFill>
                          <a:latin typeface="Liberation Sans"/>
                          <a:ea typeface="Liberation Sans"/>
                          <a:cs typeface="Liberation Sans"/>
                        </a:rPr>
                        <a:t>Marketplace, quote and HubSpot pilot</a:t>
                      </a:r>
                    </a:p>
                  </a:txBody>
                  <a:tcPr marL="133350" marR="133350" marT="114300" marB="95250" anchor="ctr">
                    <a:solidFill>
                      <a:srgbClr val="EFF4F8"/>
                    </a:solidFill>
                  </a:tcPr>
                </a:tc>
              </a:tr>
              <a:tr h="847725">
                <a:tc>
                  <a:txBody>
                    <a:bodyPr/>
                    <a:lstStyle/>
                    <a:p>
                      <a:r>
                        <a:rPr sz="1875" b="0">
                          <a:solidFill>
                            <a:srgbClr val="142A3C"/>
                          </a:solidFill>
                          <a:latin typeface="Liberation Sans"/>
                          <a:ea typeface="Liberation Sans"/>
                          <a:cs typeface="Liberation Sans"/>
                        </a:rPr>
                        <a:t>P2</a:t>
                      </a:r>
                    </a:p>
                  </a:txBody>
                  <a:tcPr marL="133350" marR="133350" marT="114300" marB="95250" anchor="ctr">
                    <a:solidFill>
                      <a:srgbClr val="FFFFFF"/>
                    </a:solidFill>
                  </a:tcPr>
                </a:tc>
                <a:tc>
                  <a:txBody>
                    <a:bodyPr/>
                    <a:lstStyle/>
                    <a:p>
                      <a:r>
                        <a:rPr sz="1875" b="0">
                          <a:solidFill>
                            <a:srgbClr val="142A3C"/>
                          </a:solidFill>
                          <a:latin typeface="Liberation Sans"/>
                          <a:ea typeface="Liberation Sans"/>
                          <a:cs typeface="Liberation Sans"/>
                        </a:rPr>
                        <a:t>Next 6-8 weeks</a:t>
                      </a:r>
                    </a:p>
                  </a:txBody>
                  <a:tcPr marL="133350" marR="133350" marT="114300" marB="95250" anchor="ctr">
                    <a:solidFill>
                      <a:srgbClr val="FFFFFF"/>
                    </a:solidFill>
                  </a:tcPr>
                </a:tc>
                <a:tc>
                  <a:txBody>
                    <a:bodyPr/>
                    <a:lstStyle/>
                    <a:p>
                      <a:r>
                        <a:rPr sz="1875" b="0">
                          <a:solidFill>
                            <a:srgbClr val="142A3C"/>
                          </a:solidFill>
                          <a:latin typeface="Liberation Sans"/>
                          <a:ea typeface="Liberation Sans"/>
                          <a:cs typeface="Liberation Sans"/>
                        </a:rPr>
                        <a:t>Five independent service workflows</a:t>
                      </a:r>
                    </a:p>
                  </a:txBody>
                  <a:tcPr marL="133350" marR="133350" marT="114300" marB="95250" anchor="ctr">
                    <a:solidFill>
                      <a:srgbClr val="FFFFFF"/>
                    </a:solidFill>
                  </a:tcPr>
                </a:tc>
              </a:tr>
              <a:tr h="847725">
                <a:tc>
                  <a:txBody>
                    <a:bodyPr/>
                    <a:lstStyle/>
                    <a:p>
                      <a:r>
                        <a:rPr sz="1875" b="0">
                          <a:solidFill>
                            <a:srgbClr val="142A3C"/>
                          </a:solidFill>
                          <a:latin typeface="Liberation Sans"/>
                          <a:ea typeface="Liberation Sans"/>
                          <a:cs typeface="Liberation Sans"/>
                        </a:rPr>
                        <a:t>P3</a:t>
                      </a:r>
                    </a:p>
                  </a:txBody>
                  <a:tcPr marL="133350" marR="133350" marT="114300" marB="95250" anchor="ctr">
                    <a:solidFill>
                      <a:srgbClr val="EFF4F8"/>
                    </a:solidFill>
                  </a:tcPr>
                </a:tc>
                <a:tc>
                  <a:txBody>
                    <a:bodyPr/>
                    <a:lstStyle/>
                    <a:p>
                      <a:r>
                        <a:rPr sz="1875" b="0">
                          <a:solidFill>
                            <a:srgbClr val="142A3C"/>
                          </a:solidFill>
                          <a:latin typeface="Liberation Sans"/>
                          <a:ea typeface="Liberation Sans"/>
                          <a:cs typeface="Liberation Sans"/>
                        </a:rPr>
                        <a:t>Next 4-6 weeks</a:t>
                      </a:r>
                    </a:p>
                  </a:txBody>
                  <a:tcPr marL="133350" marR="133350" marT="114300" marB="95250" anchor="ctr">
                    <a:solidFill>
                      <a:srgbClr val="EFF4F8"/>
                    </a:solidFill>
                  </a:tcPr>
                </a:tc>
                <a:tc>
                  <a:txBody>
                    <a:bodyPr/>
                    <a:lstStyle/>
                    <a:p>
                      <a:r>
                        <a:rPr sz="1875" b="0">
                          <a:solidFill>
                            <a:srgbClr val="142A3C"/>
                          </a:solidFill>
                          <a:latin typeface="Liberation Sans"/>
                          <a:ea typeface="Liberation Sans"/>
                          <a:cs typeface="Liberation Sans"/>
                        </a:rPr>
                        <a:t>Specialist fit and operating readiness</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7DAA3D79-2416-43EE-9534-1A67D7F294BA}"/>
              </a:ext>
            </a:extLst>
          </p:cNvPr>
          <p:cNvSpPr>
            <a:spLocks xmlns:a="http://schemas.openxmlformats.org/drawingml/2006/main" noGrp="1"/>
          </p:cNvSpPr>
          <p:nvPr/>
        </p:nvSpPr>
        <p:spPr>
          <a:xfrm xmlns:a="http://schemas.openxmlformats.org/drawingml/2006/main">
            <a:off x="571500" y="5772150"/>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C83"/>
                </a:solidFill>
                <a:latin typeface="Liberation Sans"/>
                <a:ea typeface="Liberation Sans"/>
                <a:cs typeface="Liberation Sans"/>
              </a:defRPr>
            </a:defPPr>
          </a:lstStyle>
          <a:p xmlns:a="http://schemas.openxmlformats.org/drawingml/2006/main">
            <a:pPr>
              <a:defRPr sz="1875" b="1">
                <a:solidFill>
                  <a:srgbClr val="007C83"/>
                </a:solidFill>
                <a:latin typeface="Liberation Sans"/>
                <a:ea typeface="Liberation Sans"/>
                <a:cs typeface="Liberation Sans"/>
              </a:defRPr>
            </a:pPr>
            <a:r>
              <a:rPr sz="1875" b="1">
                <a:solidFill>
                  <a:srgbClr val="007C83"/>
                </a:solidFill>
                <a:latin typeface="Liberation Sans"/>
                <a:ea typeface="Liberation Sans"/>
                <a:cs typeface="Liberation Sans"/>
              </a:rPr>
              <a:t>Pilot: week 8-11. Broader integration: week 18-25.</a:t>
            </a:r>
          </a:p>
          <a:p xmlns:a="http://schemas.openxmlformats.org/drawingml/2006/main">
            <a:pPr>
              <a:defRPr sz="1875" b="1">
                <a:solidFill>
                  <a:srgbClr val="007C83"/>
                </a:solidFill>
                <a:latin typeface="Liberation Sans"/>
                <a:ea typeface="Liberation Sans"/>
                <a:cs typeface="Liberation Sans"/>
              </a:defRPr>
            </a:pPr>
            <a:r>
              <a:rPr sz="1875" b="1">
                <a:solidFill>
                  <a:srgbClr val="007C83"/>
                </a:solidFill>
                <a:latin typeface="Liberation Sans"/>
                <a:ea typeface="Liberation Sans"/>
                <a:cs typeface="Liberation Sans"/>
              </a:rPr>
              <a:t>Provisional ranges, subject to the P0 decision gate.</a:t>
            </a:r>
          </a:p>
        </p:txBody>
      </p:sp>
    </p:spTree>
    <p:extLst>
      <p:ext uri="{BB962C8B-B14F-4D97-AF65-F5344CB8AC3E}">
        <p14:creationId xmlns:p14="http://schemas.microsoft.com/office/powerpoint/2010/main" val="19272421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3504B3-DE12-4497-9E48-093B61D9095D}"/>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Revised actionable backlog</a:t>
            </a:r>
          </a:p>
        </p:txBody>
      </p:sp>
      <p:sp>
        <p:nvSpPr>
          <p:cNvPr id="2" name="">
            <a:extLst xmlns:a="http://schemas.openxmlformats.org/drawingml/2006/main">
              <a:ext uri="{FF2B5EF4-FFF2-40B4-BE49-F238E27FC236}">
                <a16:creationId xmlns:a16="http://schemas.microsoft.com/office/drawing/2014/main" id="{6946485B-E420-4659-B98B-AEA8E5F8EF98}"/>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14</a:t>
            </a:r>
          </a:p>
        </p:txBody>
      </p:sp>
      <p:graphicFrame>
        <p:nvGraphicFramePr>
          <p:cNvPr id="3" name="">
            <a:extLst xmlns:a="http://schemas.openxmlformats.org/drawingml/2006/main">
              <a:ext uri="{FF2B5EF4-FFF2-40B4-BE49-F238E27FC236}">
                <a16:creationId xmlns:a16="http://schemas.microsoft.com/office/drawing/2014/main" id="{DB6EF6D0-0638-484A-82AA-7D9FB6C4CAE9}"/>
              </a:ext>
            </a:extLst>
          </p:cNvPr>
          <p:cNvGraphicFramePr/>
          <p:nvPr/>
        </p:nvGraphicFramePr>
        <p:xfrm>
          <a:off xmlns:a="http://schemas.openxmlformats.org/drawingml/2006/main" x="571500" y="1600200"/>
          <a:ext xmlns:a="http://schemas.openxmlformats.org/drawingml/2006/main" cx="11049000" cy="4000500"/>
        </p:xfrm>
        <a:graphic xmlns:a="http://schemas.openxmlformats.org/drawingml/2006/main">
          <a:graphicData uri="http://schemas.openxmlformats.org/drawingml/2006/table">
            <a:tbl>
              <a:tblPr firstRow="1" bandRow="0"/>
              <a:tblGrid>
                <a:gridCol w="4810125"/>
                <a:gridCol w="6238875"/>
              </a:tblGrid>
              <a:tr h="514350">
                <a:tc>
                  <a:txBody>
                    <a:bodyPr/>
                    <a:lstStyle/>
                    <a:p>
                      <a:r>
                        <a:rPr sz="1800" b="1">
                          <a:solidFill>
                            <a:srgbClr val="FFFFFF"/>
                          </a:solidFill>
                          <a:latin typeface="Liberation Sans"/>
                          <a:ea typeface="Liberation Sans"/>
                          <a:cs typeface="Liberation Sans"/>
                        </a:rPr>
                        <a:t>Item</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Acceptance outcome</a:t>
                      </a:r>
                    </a:p>
                  </a:txBody>
                  <a:tcPr marL="133350" marR="133350" marT="114300" marB="95250" anchor="ctr">
                    <a:solidFill>
                      <a:srgbClr val="123148"/>
                    </a:solidFill>
                  </a:tcPr>
                </a:tc>
              </a:tr>
              <a:tr h="697230">
                <a:tc>
                  <a:txBody>
                    <a:bodyPr/>
                    <a:lstStyle/>
                    <a:p>
                      <a:r>
                        <a:rPr sz="1800" b="0">
                          <a:solidFill>
                            <a:srgbClr val="142A3C"/>
                          </a:solidFill>
                          <a:latin typeface="Liberation Sans"/>
                          <a:ea typeface="Liberation Sans"/>
                          <a:cs typeface="Liberation Sans"/>
                        </a:rPr>
                        <a:t>R03  CRM field ownership</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One writer per field and partner visibility map</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R14  Standalone Marketplace</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Native access plus portal handoff</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R18  HubSpot quote summary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Timeout recovery without duplicate records</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R20  Quote snapshot</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Exact versions and expired-price rejection</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R39  Independent workflows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Five native workflows with common handoff</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8B577DA-E9D3-4860-9B11-FD653ADEFB79}"/>
              </a:ext>
            </a:extLst>
          </p:cNvPr>
          <p:cNvSpPr>
            <a:spLocks xmlns:a="http://schemas.openxmlformats.org/drawingml/2006/main" noGrp="1"/>
          </p:cNvSpPr>
          <p:nvPr/>
        </p:nvSpPr>
        <p:spPr>
          <a:xfrm xmlns:a="http://schemas.openxmlformats.org/drawingml/2006/main">
            <a:off x="571500" y="58483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66978"/>
                </a:solidFill>
                <a:latin typeface="Liberation Sans"/>
                <a:ea typeface="Liberation Sans"/>
                <a:cs typeface="Liberation Sans"/>
              </a:defRPr>
            </a:defPPr>
          </a:lstStyle>
          <a:p xmlns:a="http://schemas.openxmlformats.org/drawingml/2006/main">
            <a:pPr>
              <a:defRPr sz="1800" b="0">
                <a:solidFill>
                  <a:srgbClr val="566978"/>
                </a:solidFill>
                <a:latin typeface="Liberation Sans"/>
                <a:ea typeface="Liberation Sans"/>
                <a:cs typeface="Liberation Sans"/>
              </a:defRPr>
            </a:pPr>
            <a:r>
              <a:rPr sz="1800" b="0">
                <a:solidFill>
                  <a:srgbClr val="566978"/>
                </a:solidFill>
                <a:latin typeface="Liberation Sans"/>
                <a:ea typeface="Liberation Sans"/>
                <a:cs typeface="Liberation Sans"/>
              </a:rPr>
              <a:t>50 seed items. Dependencies gate outcomes, not simply task start dates.</a:t>
            </a:r>
          </a:p>
        </p:txBody>
      </p:sp>
    </p:spTree>
    <p:extLst>
      <p:ext uri="{BB962C8B-B14F-4D97-AF65-F5344CB8AC3E}">
        <p14:creationId xmlns:p14="http://schemas.microsoft.com/office/powerpoint/2010/main" val="7574259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0B8BAB-6B27-43D5-95F2-6B15EA2381E0}"/>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Acceptance gates and reliability</a:t>
            </a:r>
          </a:p>
        </p:txBody>
      </p:sp>
      <p:sp>
        <p:nvSpPr>
          <p:cNvPr id="2" name="">
            <a:extLst xmlns:a="http://schemas.openxmlformats.org/drawingml/2006/main">
              <a:ext uri="{FF2B5EF4-FFF2-40B4-BE49-F238E27FC236}">
                <a16:creationId xmlns:a16="http://schemas.microsoft.com/office/drawing/2014/main" id="{D4619011-2AF6-44C1-B105-281A4FA3AA48}"/>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15</a:t>
            </a:r>
          </a:p>
        </p:txBody>
      </p:sp>
      <p:graphicFrame>
        <p:nvGraphicFramePr>
          <p:cNvPr id="3" name="">
            <a:extLst xmlns:a="http://schemas.openxmlformats.org/drawingml/2006/main">
              <a:ext uri="{FF2B5EF4-FFF2-40B4-BE49-F238E27FC236}">
                <a16:creationId xmlns:a16="http://schemas.microsoft.com/office/drawing/2014/main" id="{E6D3A619-84A0-4BE6-8C5B-3D5D43AE3C98}"/>
              </a:ext>
            </a:extLst>
          </p:cNvPr>
          <p:cNvGraphicFramePr/>
          <p:nvPr/>
        </p:nvGraphicFramePr>
        <p:xfrm>
          <a:off xmlns:a="http://schemas.openxmlformats.org/drawingml/2006/main" x="571500" y="1600200"/>
          <a:ext xmlns:a="http://schemas.openxmlformats.org/drawingml/2006/main" cx="11049000" cy="4000500"/>
        </p:xfrm>
        <a:graphic xmlns:a="http://schemas.openxmlformats.org/drawingml/2006/main">
          <a:graphicData uri="http://schemas.openxmlformats.org/drawingml/2006/table">
            <a:tbl>
              <a:tblPr firstRow="1" bandRow="0"/>
              <a:tblGrid>
                <a:gridCol w="3429000"/>
                <a:gridCol w="7620000"/>
              </a:tblGrid>
              <a:tr h="514350">
                <a:tc>
                  <a:txBody>
                    <a:bodyPr/>
                    <a:lstStyle/>
                    <a:p>
                      <a:r>
                        <a:rPr sz="1800" b="1">
                          <a:solidFill>
                            <a:srgbClr val="FFFFFF"/>
                          </a:solidFill>
                          <a:latin typeface="Liberation Sans"/>
                          <a:ea typeface="Liberation Sans"/>
                          <a:cs typeface="Liberation Sans"/>
                        </a:rPr>
                        <a:t>Gate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Required evidence</a:t>
                      </a:r>
                    </a:p>
                  </a:txBody>
                  <a:tcPr marL="133350" marR="133350" marT="114300" marB="95250" anchor="ctr">
                    <a:solidFill>
                      <a:srgbClr val="123148"/>
                    </a:solidFill>
                  </a:tcPr>
                </a:tc>
              </a:tr>
              <a:tr h="697230">
                <a:tc>
                  <a:txBody>
                    <a:bodyPr/>
                    <a:lstStyle/>
                    <a:p>
                      <a:r>
                        <a:rPr sz="1800" b="0">
                          <a:solidFill>
                            <a:srgbClr val="142A3C"/>
                          </a:solidFill>
                          <a:latin typeface="Liberation Sans"/>
                          <a:ea typeface="Liberation Sans"/>
                          <a:cs typeface="Liberation Sans"/>
                        </a:rPr>
                        <a:t>Pilot integrity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Approved quote totals reconcile with HubSpot</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Independence</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Native use and separate release/failure boundary</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Availability and latency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Proposed 99.9%, local quote p95 &lt; 5 s</a:t>
                      </a:r>
                    </a:p>
                  </a:txBody>
                  <a:tcPr marL="133350" marR="133350" marT="114300" marB="95250" anchor="ctr">
                    <a:solidFill>
                      <a:srgbClr val="FFFFFF"/>
                    </a:solidFill>
                  </a:tcPr>
                </a:tc>
              </a:tr>
              <a:tr h="697230">
                <a:tc>
                  <a:txBody>
                    <a:bodyPr/>
                    <a:lstStyle/>
                    <a:p>
                      <a:r>
                        <a:rPr sz="1800" b="0">
                          <a:solidFill>
                            <a:srgbClr val="142A3C"/>
                          </a:solidFill>
                          <a:latin typeface="Liberation Sans"/>
                          <a:ea typeface="Liberation Sans"/>
                          <a:cs typeface="Liberation Sans"/>
                        </a:rPr>
                        <a:t>Recovery</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Proposed RPO 15 min and RTO 4 h</a:t>
                      </a:r>
                    </a:p>
                  </a:txBody>
                  <a:tcPr marL="133350" marR="133350" marT="114300" marB="95250" anchor="ctr">
                    <a:solidFill>
                      <a:srgbClr val="EFF4F8"/>
                    </a:solidFill>
                  </a:tcPr>
                </a:tc>
              </a:tr>
              <a:tr h="697230">
                <a:tc>
                  <a:txBody>
                    <a:bodyPr/>
                    <a:lstStyle/>
                    <a:p>
                      <a:r>
                        <a:rPr sz="1800" b="0">
                          <a:solidFill>
                            <a:srgbClr val="142A3C"/>
                          </a:solidFill>
                          <a:latin typeface="Liberation Sans"/>
                          <a:ea typeface="Liberation Sans"/>
                          <a:cs typeface="Liberation Sans"/>
                        </a:rPr>
                        <a:t>Synchronization</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Proposed normal freshness within 15 min</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EB0816E-86C0-475F-87A0-5016C9417A53}"/>
              </a:ext>
            </a:extLst>
          </p:cNvPr>
          <p:cNvSpPr>
            <a:spLocks xmlns:a="http://schemas.openxmlformats.org/drawingml/2006/main" noGrp="1"/>
          </p:cNvSpPr>
          <p:nvPr/>
        </p:nvSpPr>
        <p:spPr>
          <a:xfrm xmlns:a="http://schemas.openxmlformats.org/drawingml/2006/main">
            <a:off x="571500" y="58483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C83"/>
                </a:solidFill>
                <a:latin typeface="Liberation Sans"/>
                <a:ea typeface="Liberation Sans"/>
                <a:cs typeface="Liberation Sans"/>
              </a:defRPr>
            </a:defPPr>
          </a:lstStyle>
          <a:p xmlns:a="http://schemas.openxmlformats.org/drawingml/2006/main">
            <a:pPr>
              <a:defRPr sz="1800" b="1">
                <a:solidFill>
                  <a:srgbClr val="007C83"/>
                </a:solidFill>
                <a:latin typeface="Liberation Sans"/>
                <a:ea typeface="Liberation Sans"/>
                <a:cs typeface="Liberation Sans"/>
              </a:defRPr>
            </a:pPr>
            <a:r>
              <a:rPr sz="1800" b="1">
                <a:solidFill>
                  <a:srgbClr val="007C83"/>
                </a:solidFill>
                <a:latin typeface="Liberation Sans"/>
                <a:ea typeface="Liberation Sans"/>
                <a:cs typeface="Liberation Sans"/>
              </a:rPr>
              <a:t>Measure end-to-end journeys and individual services. Confirm targets in P0.</a:t>
            </a:r>
          </a:p>
        </p:txBody>
      </p:sp>
    </p:spTree>
    <p:extLst>
      <p:ext uri="{BB962C8B-B14F-4D97-AF65-F5344CB8AC3E}">
        <p14:creationId xmlns:p14="http://schemas.microsoft.com/office/powerpoint/2010/main" val="11392814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C30500-CD87-499A-97CC-8357A14D4A07}"/>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Revised staffing and cost envelope</a:t>
            </a:r>
          </a:p>
        </p:txBody>
      </p:sp>
      <p:sp>
        <p:nvSpPr>
          <p:cNvPr id="2" name="">
            <a:extLst xmlns:a="http://schemas.openxmlformats.org/drawingml/2006/main">
              <a:ext uri="{FF2B5EF4-FFF2-40B4-BE49-F238E27FC236}">
                <a16:creationId xmlns:a16="http://schemas.microsoft.com/office/drawing/2014/main" id="{D66AAEC8-BEB6-4CCE-8F7E-A966FCBF2289}"/>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16</a:t>
            </a:r>
          </a:p>
        </p:txBody>
      </p:sp>
      <p:sp>
        <p:nvSpPr>
          <p:cNvPr id="3" name="">
            <a:extLst xmlns:a="http://schemas.openxmlformats.org/drawingml/2006/main">
              <a:ext uri="{FF2B5EF4-FFF2-40B4-BE49-F238E27FC236}">
                <a16:creationId xmlns:a16="http://schemas.microsoft.com/office/drawing/2014/main" id="{AF7B9E04-8667-4228-BC7B-FEA953AB7B74}"/>
              </a:ext>
            </a:extLst>
          </p:cNvPr>
          <p:cNvSpPr>
            <a:spLocks xmlns:a="http://schemas.openxmlformats.org/drawingml/2006/main" noGrp="1"/>
          </p:cNvSpPr>
          <p:nvPr/>
        </p:nvSpPr>
        <p:spPr>
          <a:xfrm xmlns:a="http://schemas.openxmlformats.org/drawingml/2006/main">
            <a:off x="571500" y="166687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800" b="1">
                <a:solidFill>
                  <a:srgbClr val="185ADB"/>
                </a:solidFill>
                <a:latin typeface="Liberation Sans"/>
                <a:ea typeface="Liberation Sans"/>
                <a:cs typeface="Liberation Sans"/>
              </a:defRPr>
            </a:defPPr>
          </a:lstStyle>
          <a:p xmlns:a="http://schemas.openxmlformats.org/drawingml/2006/main">
            <a:pPr>
              <a:defRPr sz="4800" b="1">
                <a:solidFill>
                  <a:srgbClr val="185ADB"/>
                </a:solidFill>
                <a:latin typeface="Liberation Sans"/>
                <a:ea typeface="Liberation Sans"/>
                <a:cs typeface="Liberation Sans"/>
              </a:defRPr>
            </a:pPr>
            <a:r>
              <a:rPr sz="4800" b="1">
                <a:solidFill>
                  <a:srgbClr val="185ADB"/>
                </a:solidFill>
                <a:latin typeface="Liberation Sans"/>
                <a:ea typeface="Liberation Sans"/>
                <a:cs typeface="Liberation Sans"/>
              </a:rPr>
              <a:t>8 FTE</a:t>
            </a:r>
          </a:p>
        </p:txBody>
      </p:sp>
      <p:sp>
        <p:nvSpPr>
          <p:cNvPr id="4" name="">
            <a:extLst xmlns:a="http://schemas.openxmlformats.org/drawingml/2006/main">
              <a:ext uri="{FF2B5EF4-FFF2-40B4-BE49-F238E27FC236}">
                <a16:creationId xmlns:a16="http://schemas.microsoft.com/office/drawing/2014/main" id="{4C58A912-23C6-46F0-B6D5-65D56E716898}"/>
              </a:ext>
            </a:extLst>
          </p:cNvPr>
          <p:cNvSpPr>
            <a:spLocks xmlns:a="http://schemas.openxmlformats.org/drawingml/2006/main" noGrp="1"/>
          </p:cNvSpPr>
          <p:nvPr/>
        </p:nvSpPr>
        <p:spPr>
          <a:xfrm xmlns:a="http://schemas.openxmlformats.org/drawingml/2006/main">
            <a:off x="571500" y="2667000"/>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A3C"/>
                </a:solidFill>
                <a:latin typeface="Liberation Sans"/>
                <a:ea typeface="Liberation Sans"/>
                <a:cs typeface="Liberation Sans"/>
              </a:defRPr>
            </a:defPPr>
          </a:lstStyle>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5 engineering + 1 quality</a:t>
            </a:r>
          </a:p>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1 platform/security</a:t>
            </a:r>
          </a:p>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0.5 product + 0.5 design</a:t>
            </a:r>
          </a:p>
        </p:txBody>
      </p:sp>
      <p:sp>
        <p:nvSpPr>
          <p:cNvPr id="5" name="">
            <a:extLst xmlns:a="http://schemas.openxmlformats.org/drawingml/2006/main">
              <a:ext uri="{FF2B5EF4-FFF2-40B4-BE49-F238E27FC236}">
                <a16:creationId xmlns:a16="http://schemas.microsoft.com/office/drawing/2014/main" id="{6F863944-E2D7-4DFF-9CD3-6BF08B98F47B}"/>
              </a:ext>
            </a:extLst>
          </p:cNvPr>
          <p:cNvSpPr>
            <a:spLocks xmlns:a="http://schemas.openxmlformats.org/drawingml/2006/main" noGrp="1"/>
          </p:cNvSpPr>
          <p:nvPr/>
        </p:nvSpPr>
        <p:spPr>
          <a:xfrm xmlns:a="http://schemas.openxmlformats.org/drawingml/2006/main">
            <a:off x="6524625" y="166687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800" b="1">
                <a:solidFill>
                  <a:srgbClr val="185ADB"/>
                </a:solidFill>
                <a:latin typeface="Liberation Sans"/>
                <a:ea typeface="Liberation Sans"/>
                <a:cs typeface="Liberation Sans"/>
              </a:defRPr>
            </a:defPPr>
          </a:lstStyle>
          <a:p xmlns:a="http://schemas.openxmlformats.org/drawingml/2006/main">
            <a:pPr>
              <a:defRPr sz="4800" b="1">
                <a:solidFill>
                  <a:srgbClr val="185ADB"/>
                </a:solidFill>
                <a:latin typeface="Liberation Sans"/>
                <a:ea typeface="Liberation Sans"/>
                <a:cs typeface="Liberation Sans"/>
              </a:defRPr>
            </a:pPr>
            <a:r>
              <a:rPr sz="4800" b="1">
                <a:solidFill>
                  <a:srgbClr val="185ADB"/>
                </a:solidFill>
                <a:latin typeface="Liberation Sans"/>
                <a:ea typeface="Liberation Sans"/>
                <a:cs typeface="Liberation Sans"/>
              </a:rPr>
              <a:t>144-200</a:t>
            </a:r>
          </a:p>
        </p:txBody>
      </p:sp>
      <p:sp>
        <p:nvSpPr>
          <p:cNvPr id="6" name="">
            <a:extLst xmlns:a="http://schemas.openxmlformats.org/drawingml/2006/main">
              <a:ext uri="{FF2B5EF4-FFF2-40B4-BE49-F238E27FC236}">
                <a16:creationId xmlns:a16="http://schemas.microsoft.com/office/drawing/2014/main" id="{02FE4C64-C9D5-42C9-83E6-387CA1A1092E}"/>
              </a:ext>
            </a:extLst>
          </p:cNvPr>
          <p:cNvSpPr>
            <a:spLocks xmlns:a="http://schemas.openxmlformats.org/drawingml/2006/main" noGrp="1"/>
          </p:cNvSpPr>
          <p:nvPr/>
        </p:nvSpPr>
        <p:spPr>
          <a:xfrm xmlns:a="http://schemas.openxmlformats.org/drawingml/2006/main">
            <a:off x="6524625" y="266700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A3C"/>
                </a:solidFill>
                <a:latin typeface="Liberation Sans"/>
                <a:ea typeface="Liberation Sans"/>
                <a:cs typeface="Liberation Sans"/>
              </a:defRPr>
            </a:defPPr>
          </a:lstStyle>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FTE-weeks across the</a:t>
            </a:r>
          </a:p>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18-25-week planning range</a:t>
            </a:r>
          </a:p>
        </p:txBody>
      </p:sp>
      <p:sp>
        <p:nvSpPr>
          <p:cNvPr id="7" name="">
            <a:extLst xmlns:a="http://schemas.openxmlformats.org/drawingml/2006/main">
              <a:ext uri="{FF2B5EF4-FFF2-40B4-BE49-F238E27FC236}">
                <a16:creationId xmlns:a16="http://schemas.microsoft.com/office/drawing/2014/main" id="{D5DB90E7-23F2-423F-927F-D3F0502000F6}"/>
              </a:ext>
            </a:extLst>
          </p:cNvPr>
          <p:cNvSpPr>
            <a:spLocks xmlns:a="http://schemas.openxmlformats.org/drawingml/2006/main" noGrp="1"/>
          </p:cNvSpPr>
          <p:nvPr/>
        </p:nvSpPr>
        <p:spPr>
          <a:xfrm xmlns:a="http://schemas.openxmlformats.org/drawingml/2006/main">
            <a:off x="571500" y="481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A3C"/>
                </a:solidFill>
                <a:latin typeface="Liberation Sans"/>
                <a:ea typeface="Liberation Sans"/>
                <a:cs typeface="Liberation Sans"/>
              </a:defRPr>
            </a:defPPr>
          </a:lstStyle>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Add vendor subscriptions, cloud, data rights and model usage.</a:t>
            </a:r>
          </a:p>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Name HubSpot, catalog and commercial stewards.</a:t>
            </a:r>
          </a:p>
        </p:txBody>
      </p:sp>
      <p:sp>
        <p:nvSpPr>
          <p:cNvPr id="8" name="">
            <a:extLst xmlns:a="http://schemas.openxmlformats.org/drawingml/2006/main">
              <a:ext uri="{FF2B5EF4-FFF2-40B4-BE49-F238E27FC236}">
                <a16:creationId xmlns:a16="http://schemas.microsoft.com/office/drawing/2014/main" id="{2A4E62E7-FBD2-47E3-B452-3004D6CADCC9}"/>
              </a:ext>
            </a:extLst>
          </p:cNvPr>
          <p:cNvSpPr>
            <a:spLocks xmlns:a="http://schemas.openxmlformats.org/drawingml/2006/main" noGrp="1"/>
          </p:cNvSpPr>
          <p:nvPr/>
        </p:nvSpPr>
        <p:spPr>
          <a:xfrm xmlns:a="http://schemas.openxmlformats.org/drawingml/2006/main">
            <a:off x="571500" y="59912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Provisional staffing and schedule. Re-estimate after solution fit tests.</a:t>
            </a:r>
          </a:p>
        </p:txBody>
      </p:sp>
    </p:spTree>
    <p:extLst>
      <p:ext uri="{BB962C8B-B14F-4D97-AF65-F5344CB8AC3E}">
        <p14:creationId xmlns:p14="http://schemas.microsoft.com/office/powerpoint/2010/main" val="9385825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63AC26-8C47-4F7F-A2E4-7F27095854A1}"/>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Remaining decisions</a:t>
            </a:r>
          </a:p>
        </p:txBody>
      </p:sp>
      <p:sp>
        <p:nvSpPr>
          <p:cNvPr id="2" name="">
            <a:extLst xmlns:a="http://schemas.openxmlformats.org/drawingml/2006/main">
              <a:ext uri="{FF2B5EF4-FFF2-40B4-BE49-F238E27FC236}">
                <a16:creationId xmlns:a16="http://schemas.microsoft.com/office/drawing/2014/main" id="{56320BE2-22DF-489F-BF14-13CA0B82C040}"/>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17</a:t>
            </a:r>
          </a:p>
        </p:txBody>
      </p:sp>
      <p:graphicFrame>
        <p:nvGraphicFramePr>
          <p:cNvPr id="3" name="">
            <a:extLst xmlns:a="http://schemas.openxmlformats.org/drawingml/2006/main">
              <a:ext uri="{FF2B5EF4-FFF2-40B4-BE49-F238E27FC236}">
                <a16:creationId xmlns:a16="http://schemas.microsoft.com/office/drawing/2014/main" id="{A48F88BF-14CF-4EB3-A3B6-EFDF842B43FC}"/>
              </a:ext>
            </a:extLst>
          </p:cNvPr>
          <p:cNvGraphicFramePr/>
          <p:nvPr/>
        </p:nvGraphicFramePr>
        <p:xfrm>
          <a:off xmlns:a="http://schemas.openxmlformats.org/drawingml/2006/main" x="571500" y="1600200"/>
          <a:ext xmlns:a="http://schemas.openxmlformats.org/drawingml/2006/main" cx="11049000" cy="4000500"/>
        </p:xfrm>
        <a:graphic xmlns:a="http://schemas.openxmlformats.org/drawingml/2006/main">
          <a:graphicData uri="http://schemas.openxmlformats.org/drawingml/2006/table">
            <a:tbl>
              <a:tblPr firstRow="1" bandRow="0"/>
              <a:tblGrid>
                <a:gridCol w="4381500"/>
                <a:gridCol w="2667000"/>
                <a:gridCol w="4000500"/>
              </a:tblGrid>
              <a:tr h="514350">
                <a:tc>
                  <a:txBody>
                    <a:bodyPr/>
                    <a:lstStyle/>
                    <a:p>
                      <a:r>
                        <a:rPr sz="1725" b="1">
                          <a:solidFill>
                            <a:srgbClr val="FFFFFF"/>
                          </a:solidFill>
                          <a:latin typeface="Liberation Sans"/>
                          <a:ea typeface="Liberation Sans"/>
                          <a:cs typeface="Liberation Sans"/>
                        </a:rPr>
                        <a:t>Decision</a:t>
                      </a:r>
                    </a:p>
                  </a:txBody>
                  <a:tcPr marL="133350" marR="133350" marT="114300" marB="95250" anchor="ctr">
                    <a:solidFill>
                      <a:srgbClr val="123148"/>
                    </a:solidFill>
                  </a:tcPr>
                </a:tc>
                <a:tc>
                  <a:txBody>
                    <a:bodyPr/>
                    <a:lstStyle/>
                    <a:p>
                      <a:r>
                        <a:rPr sz="1725" b="1">
                          <a:solidFill>
                            <a:srgbClr val="FFFFFF"/>
                          </a:solidFill>
                          <a:latin typeface="Liberation Sans"/>
                          <a:ea typeface="Liberation Sans"/>
                          <a:cs typeface="Liberation Sans"/>
                        </a:rPr>
                        <a:t>Owner</a:t>
                      </a:r>
                    </a:p>
                  </a:txBody>
                  <a:tcPr marL="133350" marR="133350" marT="114300" marB="95250" anchor="ctr">
                    <a:solidFill>
                      <a:srgbClr val="123148"/>
                    </a:solidFill>
                  </a:tcPr>
                </a:tc>
                <a:tc>
                  <a:txBody>
                    <a:bodyPr/>
                    <a:lstStyle/>
                    <a:p>
                      <a:r>
                        <a:rPr sz="1725" b="1">
                          <a:solidFill>
                            <a:srgbClr val="FFFFFF"/>
                          </a:solidFill>
                          <a:latin typeface="Liberation Sans"/>
                          <a:ea typeface="Liberation Sans"/>
                          <a:cs typeface="Liberation Sans"/>
                        </a:rPr>
                        <a:t>Evidence needed</a:t>
                      </a:r>
                    </a:p>
                  </a:txBody>
                  <a:tcPr marL="133350" marR="133350" marT="114300" marB="95250" anchor="ctr">
                    <a:solidFill>
                      <a:srgbClr val="123148"/>
                    </a:solidFill>
                  </a:tcPr>
                </a:tc>
              </a:tr>
              <a:tr h="697230">
                <a:tc>
                  <a:txBody>
                    <a:bodyPr/>
                    <a:lstStyle/>
                    <a:p>
                      <a:r>
                        <a:rPr sz="1725" b="0">
                          <a:solidFill>
                            <a:srgbClr val="142A3C"/>
                          </a:solidFill>
                          <a:latin typeface="Liberation Sans"/>
                          <a:ea typeface="Liberation Sans"/>
                          <a:cs typeface="Liberation Sans"/>
                        </a:rPr>
                        <a:t>Product and quote authority</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Commercial / CTO</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Golden cases and licensed fit</a:t>
                      </a:r>
                    </a:p>
                  </a:txBody>
                  <a:tcPr marL="133350" marR="133350" marT="114300" marB="95250" anchor="ctr">
                    <a:solidFill>
                      <a:srgbClr val="FFFFFF"/>
                    </a:solidFill>
                  </a:tcPr>
                </a:tc>
              </a:tr>
              <a:tr h="697230">
                <a:tc>
                  <a:txBody>
                    <a:bodyPr/>
                    <a:lstStyle/>
                    <a:p>
                      <a:r>
                        <a:rPr sz="1725" b="0">
                          <a:solidFill>
                            <a:srgbClr val="142A3C"/>
                          </a:solidFill>
                          <a:latin typeface="Liberation Sans"/>
                          <a:ea typeface="Liberation Sans"/>
                          <a:cs typeface="Liberation Sans"/>
                        </a:rPr>
                        <a:t>HubSpot model and field mapping</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CRM admin</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Account, scopes, grants and sync policy</a:t>
                      </a:r>
                    </a:p>
                  </a:txBody>
                  <a:tcPr marL="133350" marR="133350" marT="114300" marB="95250" anchor="ctr">
                    <a:solidFill>
                      <a:srgbClr val="EFF4F8"/>
                    </a:solidFill>
                  </a:tcPr>
                </a:tc>
              </a:tr>
              <a:tr h="697230">
                <a:tc>
                  <a:txBody>
                    <a:bodyPr/>
                    <a:lstStyle/>
                    <a:p>
                      <a:r>
                        <a:rPr sz="1725" b="0">
                          <a:solidFill>
                            <a:srgbClr val="142A3C"/>
                          </a:solidFill>
                          <a:latin typeface="Liberation Sans"/>
                          <a:ea typeface="Liberation Sans"/>
                          <a:cs typeface="Liberation Sans"/>
                        </a:rPr>
                        <a:t>Independent solutions</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Solutions lead</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SSO, API/export and exit contract</a:t>
                      </a:r>
                    </a:p>
                  </a:txBody>
                  <a:tcPr marL="133350" marR="133350" marT="114300" marB="95250" anchor="ctr">
                    <a:solidFill>
                      <a:srgbClr val="FFFFFF"/>
                    </a:solidFill>
                  </a:tcPr>
                </a:tc>
              </a:tr>
              <a:tr h="697230">
                <a:tc>
                  <a:txBody>
                    <a:bodyPr/>
                    <a:lstStyle/>
                    <a:p>
                      <a:r>
                        <a:rPr sz="1725" b="0">
                          <a:solidFill>
                            <a:srgbClr val="142A3C"/>
                          </a:solidFill>
                          <a:latin typeface="Liberation Sans"/>
                          <a:ea typeface="Liberation Sans"/>
                          <a:cs typeface="Liberation Sans"/>
                        </a:rPr>
                        <a:t>Identity and residency</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Security / CTO</a:t>
                      </a:r>
                    </a:p>
                  </a:txBody>
                  <a:tcPr marL="133350" marR="133350" marT="114300" marB="95250" anchor="ctr">
                    <a:solidFill>
                      <a:srgbClr val="EFF4F8"/>
                    </a:solidFill>
                  </a:tcPr>
                </a:tc>
                <a:tc>
                  <a:txBody>
                    <a:bodyPr/>
                    <a:lstStyle/>
                    <a:p>
                      <a:r>
                        <a:rPr sz="1725" b="0">
                          <a:solidFill>
                            <a:srgbClr val="142A3C"/>
                          </a:solidFill>
                          <a:latin typeface="Liberation Sans"/>
                          <a:ea typeface="Liberation Sans"/>
                          <a:cs typeface="Liberation Sans"/>
                        </a:rPr>
                        <a:t>Tenant and data region requirements</a:t>
                      </a:r>
                    </a:p>
                  </a:txBody>
                  <a:tcPr marL="133350" marR="133350" marT="114300" marB="95250" anchor="ctr">
                    <a:solidFill>
                      <a:srgbClr val="EFF4F8"/>
                    </a:solidFill>
                  </a:tcPr>
                </a:tc>
              </a:tr>
              <a:tr h="697230">
                <a:tc>
                  <a:txBody>
                    <a:bodyPr/>
                    <a:lstStyle/>
                    <a:p>
                      <a:r>
                        <a:rPr sz="1725" b="0">
                          <a:solidFill>
                            <a:srgbClr val="142A3C"/>
                          </a:solidFill>
                          <a:latin typeface="Liberation Sans"/>
                          <a:ea typeface="Liberation Sans"/>
                          <a:cs typeface="Liberation Sans"/>
                        </a:rPr>
                        <a:t>Pilot scope and funding</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Product / Delivery</a:t>
                      </a:r>
                    </a:p>
                  </a:txBody>
                  <a:tcPr marL="133350" marR="133350" marT="114300" marB="95250" anchor="ctr">
                    <a:solidFill>
                      <a:srgbClr val="FFFFFF"/>
                    </a:solidFill>
                  </a:tcPr>
                </a:tc>
                <a:tc>
                  <a:txBody>
                    <a:bodyPr/>
                    <a:lstStyle/>
                    <a:p>
                      <a:r>
                        <a:rPr sz="1725" b="0">
                          <a:solidFill>
                            <a:srgbClr val="142A3C"/>
                          </a:solidFill>
                          <a:latin typeface="Liberation Sans"/>
                          <a:ea typeface="Liberation Sans"/>
                          <a:cs typeface="Liberation Sans"/>
                        </a:rPr>
                        <a:t>Named team and updated estimate</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0BE8050-1FA7-447D-82C9-86085E876026}"/>
              </a:ext>
            </a:extLst>
          </p:cNvPr>
          <p:cNvSpPr>
            <a:spLocks xmlns:a="http://schemas.openxmlformats.org/drawingml/2006/main" noGrp="1"/>
          </p:cNvSpPr>
          <p:nvPr/>
        </p:nvSpPr>
        <p:spPr>
          <a:xfrm xmlns:a="http://schemas.openxmlformats.org/drawingml/2006/main">
            <a:off x="571500" y="5857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C83"/>
                </a:solidFill>
                <a:latin typeface="Liberation Sans"/>
                <a:ea typeface="Liberation Sans"/>
                <a:cs typeface="Liberation Sans"/>
              </a:defRPr>
            </a:defPPr>
          </a:lstStyle>
          <a:p xmlns:a="http://schemas.openxmlformats.org/drawingml/2006/main">
            <a:pPr>
              <a:defRPr sz="1725" b="1">
                <a:solidFill>
                  <a:srgbClr val="007C83"/>
                </a:solidFill>
                <a:latin typeface="Liberation Sans"/>
                <a:ea typeface="Liberation Sans"/>
                <a:cs typeface="Liberation Sans"/>
              </a:defRPr>
            </a:pPr>
            <a:r>
              <a:rPr sz="1725" b="1">
                <a:solidFill>
                  <a:srgbClr val="007C83"/>
                </a:solidFill>
                <a:latin typeface="Liberation Sans"/>
                <a:ea typeface="Liberation Sans"/>
                <a:cs typeface="Liberation Sans"/>
              </a:rPr>
              <a:t>HubSpot usage is confirmed. Its subscription and configuration remain unverified.</a:t>
            </a:r>
          </a:p>
        </p:txBody>
      </p:sp>
    </p:spTree>
    <p:extLst>
      <p:ext uri="{BB962C8B-B14F-4D97-AF65-F5344CB8AC3E}">
        <p14:creationId xmlns:p14="http://schemas.microsoft.com/office/powerpoint/2010/main" val="1451914487"/>
      </p:ext>
    </p:extLst>
  </p:cSld>
</p:sld>
</file>

<file path=ppt/slides/slide18.xml><?xml version="1.0" encoding="utf-8"?>
<p:sld xmlns:p="http://schemas.openxmlformats.org/presentationml/2006/main">
  <p:cSld>
    <p:bg>
      <p:bgPr>
        <a:solidFill xmlns:a="http://schemas.openxmlformats.org/drawingml/2006/main">
          <a:srgbClr val="12314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12C621-A30B-4787-B957-F827D49DC2D6}"/>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Liberation Sans"/>
                <a:ea typeface="Liberation Sans"/>
                <a:cs typeface="Liberation Sans"/>
              </a:defRPr>
            </a:defPPr>
          </a:lstStyle>
          <a:p xmlns:a="http://schemas.openxmlformats.org/drawingml/2006/main">
            <a:pPr>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CTO decisions for P0</a:t>
            </a:r>
          </a:p>
        </p:txBody>
      </p:sp>
      <p:sp>
        <p:nvSpPr>
          <p:cNvPr id="2" name="">
            <a:extLst xmlns:a="http://schemas.openxmlformats.org/drawingml/2006/main">
              <a:ext uri="{FF2B5EF4-FFF2-40B4-BE49-F238E27FC236}">
                <a16:creationId xmlns:a16="http://schemas.microsoft.com/office/drawing/2014/main" id="{06D3161A-0EF0-459B-AFB1-B32A42B02ECB}"/>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4C7D7"/>
                </a:solidFill>
                <a:latin typeface="Liberation Sans"/>
                <a:ea typeface="Liberation Sans"/>
                <a:cs typeface="Liberation Sans"/>
              </a:defRPr>
            </a:defPPr>
          </a:lstStyle>
          <a:p xmlns:a="http://schemas.openxmlformats.org/drawingml/2006/main">
            <a:pPr>
              <a:defRPr sz="1200" b="0">
                <a:solidFill>
                  <a:srgbClr val="B4C7D7"/>
                </a:solidFill>
                <a:latin typeface="Liberation Sans"/>
                <a:ea typeface="Liberation Sans"/>
                <a:cs typeface="Liberation Sans"/>
              </a:defRPr>
            </a:pPr>
            <a:r>
              <a:rPr sz="1200" b="0">
                <a:solidFill>
                  <a:srgbClr val="B4C7D7"/>
                </a:solidFill>
                <a:latin typeface="Liberation Sans"/>
                <a:ea typeface="Liberation Sans"/>
                <a:cs typeface="Liberation Sans"/>
              </a:rPr>
              <a:t>18</a:t>
            </a:r>
          </a:p>
        </p:txBody>
      </p:sp>
      <p:sp>
        <p:nvSpPr>
          <p:cNvPr id="3" name="">
            <a:extLst xmlns:a="http://schemas.openxmlformats.org/drawingml/2006/main">
              <a:ext uri="{FF2B5EF4-FFF2-40B4-BE49-F238E27FC236}">
                <a16:creationId xmlns:a16="http://schemas.microsoft.com/office/drawing/2014/main" id="{B0697137-7286-4611-AB22-07C172607B88}"/>
              </a:ext>
            </a:extLst>
          </p:cNvPr>
          <p:cNvSpPr>
            <a:spLocks xmlns:a="http://schemas.openxmlformats.org/drawingml/2006/main" noGrp="1"/>
          </p:cNvSpPr>
          <p:nvPr/>
        </p:nvSpPr>
        <p:spPr>
          <a:xfrm xmlns:a="http://schemas.openxmlformats.org/drawingml/2006/main">
            <a:off x="571500" y="17621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Liberation Sans"/>
                <a:ea typeface="Liberation Sans"/>
                <a:cs typeface="Liberation Sans"/>
              </a:defRPr>
            </a:defPPr>
          </a:lstStyle>
          <a:p xmlns:a="http://schemas.openxmlformats.org/drawingml/2006/main">
            <a:pPr>
              <a:defRPr sz="2700" b="1">
                <a:solidFill>
                  <a:srgbClr val="FFFFFF"/>
                </a:solidFill>
                <a:latin typeface="Liberation Sans"/>
                <a:ea typeface="Liberation Sans"/>
                <a:cs typeface="Liberation Sans"/>
              </a:defRPr>
            </a:pPr>
            <a:r>
              <a:rPr sz="2700" b="1">
                <a:solidFill>
                  <a:srgbClr val="FFFFFF"/>
                </a:solidFill>
                <a:latin typeface="Liberation Sans"/>
                <a:ea typeface="Liberation Sans"/>
                <a:cs typeface="Liberation Sans"/>
              </a:rPr>
              <a:t>Independent services integrated by the portal</a:t>
            </a:r>
          </a:p>
        </p:txBody>
      </p:sp>
      <p:sp>
        <p:nvSpPr>
          <p:cNvPr id="4" name="">
            <a:extLst xmlns:a="http://schemas.openxmlformats.org/drawingml/2006/main">
              <a:ext uri="{FF2B5EF4-FFF2-40B4-BE49-F238E27FC236}">
                <a16:creationId xmlns:a16="http://schemas.microsoft.com/office/drawing/2014/main" id="{326C75D8-D6C7-42EE-8185-454087D4D8F8}"/>
              </a:ext>
            </a:extLst>
          </p:cNvPr>
          <p:cNvSpPr>
            <a:spLocks xmlns:a="http://schemas.openxmlformats.org/drawingml/2006/main" noGrp="1"/>
          </p:cNvSpPr>
          <p:nvPr/>
        </p:nvSpPr>
        <p:spPr>
          <a:xfrm xmlns:a="http://schemas.openxmlformats.org/drawingml/2006/main">
            <a:off x="571500" y="2809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FFFFFF"/>
                </a:solidFill>
                <a:latin typeface="Liberation Sans"/>
                <a:ea typeface="Liberation Sans"/>
                <a:cs typeface="Liberation Sans"/>
              </a:defRPr>
            </a:defPPr>
          </a:lstStyle>
          <a:p xmlns:a="http://schemas.openxmlformats.org/drawingml/2006/main">
            <a:pPr>
              <a:defRPr sz="2550" b="0">
                <a:solidFill>
                  <a:srgbClr val="FFFFFF"/>
                </a:solidFill>
                <a:latin typeface="Liberation Sans"/>
                <a:ea typeface="Liberation Sans"/>
                <a:cs typeface="Liberation Sans"/>
              </a:defRPr>
            </a:pPr>
            <a:r>
              <a:rPr sz="2550" b="0">
                <a:solidFill>
                  <a:srgbClr val="FFFFFF"/>
                </a:solidFill>
                <a:latin typeface="Liberation Sans"/>
                <a:ea typeface="Liberation Sans"/>
                <a:cs typeface="Liberation Sans"/>
              </a:rPr>
              <a:t>Shared product and pricing authority</a:t>
            </a:r>
          </a:p>
        </p:txBody>
      </p:sp>
      <p:sp>
        <p:nvSpPr>
          <p:cNvPr id="5" name="">
            <a:extLst xmlns:a="http://schemas.openxmlformats.org/drawingml/2006/main">
              <a:ext uri="{FF2B5EF4-FFF2-40B4-BE49-F238E27FC236}">
                <a16:creationId xmlns:a16="http://schemas.microsoft.com/office/drawing/2014/main" id="{2C746675-2252-4F63-A776-DEA2A4DFE45B}"/>
              </a:ext>
            </a:extLst>
          </p:cNvPr>
          <p:cNvSpPr>
            <a:spLocks xmlns:a="http://schemas.openxmlformats.org/drawingml/2006/main" noGrp="1"/>
          </p:cNvSpPr>
          <p:nvPr/>
        </p:nvSpPr>
        <p:spPr>
          <a:xfrm xmlns:a="http://schemas.openxmlformats.org/drawingml/2006/main">
            <a:off x="571500" y="3857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FFFFFF"/>
                </a:solidFill>
                <a:latin typeface="Liberation Sans"/>
                <a:ea typeface="Liberation Sans"/>
                <a:cs typeface="Liberation Sans"/>
              </a:defRPr>
            </a:defPPr>
          </a:lstStyle>
          <a:p xmlns:a="http://schemas.openxmlformats.org/drawingml/2006/main">
            <a:pPr>
              <a:defRPr sz="2550" b="0">
                <a:solidFill>
                  <a:srgbClr val="FFFFFF"/>
                </a:solidFill>
                <a:latin typeface="Liberation Sans"/>
                <a:ea typeface="Liberation Sans"/>
                <a:cs typeface="Liberation Sans"/>
              </a:defRPr>
            </a:pPr>
            <a:r>
              <a:rPr sz="2550" b="0">
                <a:solidFill>
                  <a:srgbClr val="FFFFFF"/>
                </a:solidFill>
                <a:latin typeface="Liberation Sans"/>
                <a:ea typeface="Liberation Sans"/>
                <a:cs typeface="Liberation Sans"/>
              </a:rPr>
              <a:t>HubSpot integration in the first pilot</a:t>
            </a:r>
          </a:p>
        </p:txBody>
      </p:sp>
      <p:sp>
        <p:nvSpPr>
          <p:cNvPr id="6" name="">
            <a:extLst xmlns:a="http://schemas.openxmlformats.org/drawingml/2006/main">
              <a:ext uri="{FF2B5EF4-FFF2-40B4-BE49-F238E27FC236}">
                <a16:creationId xmlns:a16="http://schemas.microsoft.com/office/drawing/2014/main" id="{604EC7CA-2657-439D-AC8F-46429D9A47B4}"/>
              </a:ext>
            </a:extLst>
          </p:cNvPr>
          <p:cNvSpPr>
            <a:spLocks xmlns:a="http://schemas.openxmlformats.org/drawingml/2006/main" noGrp="1"/>
          </p:cNvSpPr>
          <p:nvPr/>
        </p:nvSpPr>
        <p:spPr>
          <a:xfrm xmlns:a="http://schemas.openxmlformats.org/drawingml/2006/main">
            <a:off x="571500" y="49053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FFFFFF"/>
                </a:solidFill>
                <a:latin typeface="Liberation Sans"/>
                <a:ea typeface="Liberation Sans"/>
                <a:cs typeface="Liberation Sans"/>
              </a:defRPr>
            </a:defPPr>
          </a:lstStyle>
          <a:p xmlns:a="http://schemas.openxmlformats.org/drawingml/2006/main">
            <a:pPr>
              <a:defRPr sz="2550" b="0">
                <a:solidFill>
                  <a:srgbClr val="FFFFFF"/>
                </a:solidFill>
                <a:latin typeface="Liberation Sans"/>
                <a:ea typeface="Liberation Sans"/>
                <a:cs typeface="Liberation Sans"/>
              </a:defRPr>
            </a:pPr>
            <a:r>
              <a:rPr sz="2550" b="0">
                <a:solidFill>
                  <a:srgbClr val="FFFFFF"/>
                </a:solidFill>
                <a:latin typeface="Liberation Sans"/>
                <a:ea typeface="Liberation Sans"/>
                <a:cs typeface="Liberation Sans"/>
              </a:rPr>
              <a:t>A 2-3-week definition phase with named owners</a:t>
            </a:r>
          </a:p>
        </p:txBody>
      </p:sp>
    </p:spTree>
    <p:extLst>
      <p:ext uri="{BB962C8B-B14F-4D97-AF65-F5344CB8AC3E}">
        <p14:creationId xmlns:p14="http://schemas.microsoft.com/office/powerpoint/2010/main" val="18258573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2026-10-06T00:36:04.8690000Z</dcterms:created>
  <dcterms:modified xsi:type="dcterms:W3CDTF">2026-10-06T00:36:04.8690000Z</dcterms:modified>
</coreProperties>
</file>