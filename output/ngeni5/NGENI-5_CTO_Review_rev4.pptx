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188b2ec5264f63" /><Relationship Type="http://schemas.openxmlformats.org/officeDocument/2006/relationships/extended-properties" Target="/docProps/app.xml" Id="R9964373146d94997" /><Relationship Type="http://schemas.openxmlformats.org/officeDocument/2006/relationships/officeDocument" Target="/ppt/presentation.xml" Id="R6a5e06bd23f748fc" /></Relationships>
</file>

<file path=ppt/presentation.xml><?xml version="1.0" encoding="utf-8"?>
<p:presentation xmlns:p="http://schemas.openxmlformats.org/presentationml/2006/main">
  <p:sldMasterIdLst>
    <p:sldMasterId xmlns:r="http://schemas.openxmlformats.org/officeDocument/2006/relationships" id="2147483648" r:id="R7f56eb943fad49f6"/>
  </p:sldMasterIdLst>
  <p:notesMasterIdLst>
    <p:notesMasterId xmlns:r="http://schemas.openxmlformats.org/officeDocument/2006/relationships" r:id="R3b85c27f00144a94"/>
  </p:notesMasterIdLst>
  <p:sldIdLst>
    <p:sldId xmlns:r="http://schemas.openxmlformats.org/officeDocument/2006/relationships" id="256" r:id="R35aa33521bbd4a51"/>
    <p:sldId xmlns:r="http://schemas.openxmlformats.org/officeDocument/2006/relationships" id="257" r:id="Re462c96371c14586"/>
    <p:sldId xmlns:r="http://schemas.openxmlformats.org/officeDocument/2006/relationships" id="258" r:id="Rb2c7d7b02f394177"/>
    <p:sldId xmlns:r="http://schemas.openxmlformats.org/officeDocument/2006/relationships" id="259" r:id="R9eeece09776b401e"/>
    <p:sldId xmlns:r="http://schemas.openxmlformats.org/officeDocument/2006/relationships" id="260" r:id="R0c27426177fd4b33"/>
    <p:sldId xmlns:r="http://schemas.openxmlformats.org/officeDocument/2006/relationships" id="261" r:id="Rfd2234e621cc4aca"/>
    <p:sldId xmlns:r="http://schemas.openxmlformats.org/officeDocument/2006/relationships" id="262" r:id="R72f34a61bdf4499b"/>
    <p:sldId xmlns:r="http://schemas.openxmlformats.org/officeDocument/2006/relationships" id="263" r:id="R88605483580042c6"/>
    <p:sldId xmlns:r="http://schemas.openxmlformats.org/officeDocument/2006/relationships" id="264" r:id="Rc1a3b2184d4940d5"/>
    <p:sldId xmlns:r="http://schemas.openxmlformats.org/officeDocument/2006/relationships" id="265" r:id="R55dd6299ef3b45ec"/>
    <p:sldId xmlns:r="http://schemas.openxmlformats.org/officeDocument/2006/relationships" id="266" r:id="R7197a16ea29f4df4"/>
    <p:sldId xmlns:r="http://schemas.openxmlformats.org/officeDocument/2006/relationships" id="267" r:id="R7f66cc0a28994f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f2d13ebeac4b6e" /><Relationship Type="http://schemas.openxmlformats.org/officeDocument/2006/relationships/slideMaster" Target="/ppt/slideMasters/slideMaster1.xml" Id="R7f56eb943fad49f6" /><Relationship Type="http://schemas.openxmlformats.org/officeDocument/2006/relationships/notesMaster" Target="/ppt/notesMasters/notesMaster1.xml" Id="R3b85c27f00144a94" /><Relationship Type="http://schemas.openxmlformats.org/officeDocument/2006/relationships/presProps" Target="/ppt/presProps.xml" Id="R6928de021c8b49ab" /><Relationship Type="http://schemas.openxmlformats.org/officeDocument/2006/relationships/tableStyles" Target="/ppt/tableStyles.xml" Id="Rb244b9dcf06b4c22" /><Relationship Type="http://schemas.openxmlformats.org/officeDocument/2006/relationships/slide" Target="/ppt/slides/slide1.xml" Id="R35aa33521bbd4a51" /><Relationship Type="http://schemas.openxmlformats.org/officeDocument/2006/relationships/slide" Target="/ppt/slides/slide2.xml" Id="Re462c96371c14586" /><Relationship Type="http://schemas.openxmlformats.org/officeDocument/2006/relationships/slide" Target="/ppt/slides/slide3.xml" Id="Rb2c7d7b02f394177" /><Relationship Type="http://schemas.openxmlformats.org/officeDocument/2006/relationships/slide" Target="/ppt/slides/slide4.xml" Id="R9eeece09776b401e" /><Relationship Type="http://schemas.openxmlformats.org/officeDocument/2006/relationships/slide" Target="/ppt/slides/slide5.xml" Id="R0c27426177fd4b33" /><Relationship Type="http://schemas.openxmlformats.org/officeDocument/2006/relationships/slide" Target="/ppt/slides/slide6.xml" Id="Rfd2234e621cc4aca" /><Relationship Type="http://schemas.openxmlformats.org/officeDocument/2006/relationships/slide" Target="/ppt/slides/slide7.xml" Id="R72f34a61bdf4499b" /><Relationship Type="http://schemas.openxmlformats.org/officeDocument/2006/relationships/slide" Target="/ppt/slides/slide8.xml" Id="R88605483580042c6" /><Relationship Type="http://schemas.openxmlformats.org/officeDocument/2006/relationships/slide" Target="/ppt/slides/slide9.xml" Id="Rc1a3b2184d4940d5" /><Relationship Type="http://schemas.openxmlformats.org/officeDocument/2006/relationships/slide" Target="/ppt/slides/slide10.xml" Id="R55dd6299ef3b45ec" /><Relationship Type="http://schemas.openxmlformats.org/officeDocument/2006/relationships/slide" Target="/ppt/slides/slide11.xml" Id="R7197a16ea29f4df4" /><Relationship Type="http://schemas.openxmlformats.org/officeDocument/2006/relationships/slide" Target="/ppt/slides/slide12.xml" Id="R7f66cc0a28994f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655db7e4cc4b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8878360cf84433" /><Relationship Type="http://schemas.openxmlformats.org/officeDocument/2006/relationships/notesMaster" Target="/ppt/notesMasters/notesMaster1.xml" Id="Re6ffe53d7cb241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1401ecb3714053" /><Relationship Type="http://schemas.openxmlformats.org/officeDocument/2006/relationships/notesMaster" Target="/ppt/notesMasters/notesMaster1.xml" Id="R6d1c5e6a2c414f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17868bf0434a8d" /><Relationship Type="http://schemas.openxmlformats.org/officeDocument/2006/relationships/notesMaster" Target="/ppt/notesMasters/notesMaster1.xml" Id="Rd0e18933e74044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bf2e291e784355" /><Relationship Type="http://schemas.openxmlformats.org/officeDocument/2006/relationships/notesMaster" Target="/ppt/notesMasters/notesMaster1.xml" Id="R51445fb084c240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9808fac44c478d" /><Relationship Type="http://schemas.openxmlformats.org/officeDocument/2006/relationships/notesMaster" Target="/ppt/notesMasters/notesMaster1.xml" Id="Rd9b48ce57be248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5a5486100e4174" /><Relationship Type="http://schemas.openxmlformats.org/officeDocument/2006/relationships/notesMaster" Target="/ppt/notesMasters/notesMaster1.xml" Id="R37db3c57d2b94a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05f5f004e54cc5" /><Relationship Type="http://schemas.openxmlformats.org/officeDocument/2006/relationships/notesMaster" Target="/ppt/notesMasters/notesMaster1.xml" Id="R02b11c5257ca4c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a728089f45479f" /><Relationship Type="http://schemas.openxmlformats.org/officeDocument/2006/relationships/notesMaster" Target="/ppt/notesMasters/notesMaster1.xml" Id="R726ed9b160ab40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3bee4b6c514639" /><Relationship Type="http://schemas.openxmlformats.org/officeDocument/2006/relationships/notesMaster" Target="/ppt/notesMasters/notesMaster1.xml" Id="R1f3a529788d442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f8159b32384935" /><Relationship Type="http://schemas.openxmlformats.org/officeDocument/2006/relationships/notesMaster" Target="/ppt/notesMasters/notesMaster1.xml" Id="R55187dbcb7054b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83728891974e84" /><Relationship Type="http://schemas.openxmlformats.org/officeDocument/2006/relationships/notesMaster" Target="/ppt/notesMasters/notesMaster1.xml" Id="R8bce439a0a2b40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ce91eaebd240f6" /><Relationship Type="http://schemas.openxmlformats.org/officeDocument/2006/relationships/notesMaster" Target="/ppt/notesMasters/notesMaster1.xml" Id="R3c63952cdd2f4f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Discussion draft based on exact architecture source 5bd91cb04951d541df0df57ff55fb742bdf572f6. Latest user direction supersedes the five-service topology. EA must review this export at its own committed hash. No implementation approval.</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https://github.com/luzviana/Partner-Portal/blob/5bd91cb04951d541df0df57ff55fb742bdf572f6/docs/ngeni5/priority-plan.md</a:t>
            </a:r>
          </a:p>
          <a:p xmlns:a="http://schemas.openxmlformats.org/drawingml/2006/main">
            <a:r>
              <a:t>https://github.com/luzviana/Partner-Portal/blob/5bd91cb04951d541df0df57ff55fb742bdf572f6/docs/ngeni5/decision-brief.md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navigation Home, Opportunities, Marketplace, Resources. No AI menu. Customers in Home, prices/quotes in Opportunities, battle cards in Resources. Priority order is user-confirmed, implementation authority remains pending.</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https://github.com/luzviana/Partner-Portal/blob/5bd91cb04951d541df0df57ff55fb742bdf572f6/docs/ngeni5/priority-plan.md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means HubSpot-sourced portal rendering, not assumed dashboard embedding. Objects, sales/lead metric definitions and promotions source require actual account mapping. SSO authenticates, applications authorize. Menu areas are not automatically microservices.</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https://github.com/luzviana/Partner-Portal/blob/5bd91cb04951d541df0df57ff55fb742bdf572f6/docs/ngeni5/priority-plan.md</a:t>
            </a:r>
          </a:p>
          <a:p xmlns:a="http://schemas.openxmlformats.org/drawingml/2006/main">
            <a:r>
              <a:t>https://github.com/luzviana/Partner-Portal/blob/5bd91cb04951d541df0df57ff55fb742bdf572f6/docs/ngeni5/service-boundaries.md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account features, custom object entitlement or promotions object invented. Lead can map to actual process rather than assumed Leads API. Home distinguishes zero from unavailable; do not double count proposal revisions. Resources metadata search first, full-text undecided. Private signed access is not a substitute for grants.</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https://github.com/luzviana/Partner-Portal/blob/5bd91cb04951d541df0df57ff55fb742bdf572f6/docs/ngeni5/contracts.md</a:t>
            </a:r>
          </a:p>
          <a:p xmlns:a="http://schemas.openxmlformats.org/drawingml/2006/main">
            <a:r>
              <a:t>https://github.com/luzviana/Partner-Portal/blob/5bd91cb04951d541df0df57ff55fb742bdf572f6/docs/ngeni5/priority-plan.md</a:t>
            </a:r>
          </a:p>
          <a:p xmlns:a="http://schemas.openxmlformats.org/drawingml/2006/main">
            <a:r>
              <a:t>https://github.com/luzviana/Partner-Portal/blob/5bd91cb04951d541df0df57ff55fb742bdf572f6/docs/ngeni5/authority-and-lifecycle.md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is an inference from reduced scope, not measured cheapest route. Catalog/price source remains unknown. Verify licensing/SSO/isolation/export and operators before use. Medusa custom quote example: https://docs.medusajs.com/resources/examples/guides/quote-management . Historical CloudBlue research is in solution-research-evidence.md.</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https://github.com/luzviana/Partner-Portal/blob/5bd91cb04951d541df0df57ff55fb742bdf572f6/docs/ngeni5/solution-analysis.md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account entitlement and current-versus-legacy behavior unknown. Native quote API documents required associations and expiry; approvals primarily UI/workflows. No custom-object entitlement assumed. Current quote APIs may enable payment based on account setup: verify no checkout/payment. https://developers.hubspot.com/docs/api-reference/latest/crm/objects/quotes/guide . No vendor trial or account change performed.</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https://github.com/luzviana/Partner-Portal/blob/5bd91cb04951d541df0df57ff55fb742bdf572f6/docs/ngeni5/solution-analysis.md</a:t>
            </a:r>
          </a:p>
          <a:p xmlns:a="http://schemas.openxmlformats.org/drawingml/2006/main">
            <a:r>
              <a:t>https://github.com/luzviana/Partner-Portal/blob/5bd91cb04951d541df0df57ff55fb742bdf572f6/docs/ngeni5/quote-and-crm-controls.md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anchor issuance after approval and verified persistence. Calendar/timezone/end-of-day semantics owner gated. Supplier price validity shorter than 30 days requires an approved honoring policy, never silent shortening. Thirty days is commercial validity, not retention. Test native edit bypass, partial associations, delayed visibility and uncertain create; never duplicate blindly. No autonomous send, order or deal-won.</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https://github.com/luzviana/Partner-Portal/blob/5bd91cb04951d541df0df57ff55fb742bdf572f6/docs/ngeni5/priority-plan.md</a:t>
            </a:r>
          </a:p>
          <a:p xmlns:a="http://schemas.openxmlformats.org/drawingml/2006/main">
            <a:r>
              <a:t>https://github.com/luzviana/Partner-Portal/blob/5bd91cb04951d541df0df57ff55fb742bdf572f6/docs/ngeni5/quote-and-crm-controls.md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Mandatory Priority 3 capability. Retrieval and proposed drafts use per-call authorization and citations. Reauthorize/clear context when switching customers, expose current context, test revocation/injection/unknown-price refusal. Agent cannot approve prices, directly write tables, send autonomously, buy or scan. Model/provider not selected. Manual workflows remain usable during agent outage.</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https://github.com/luzviana/Partner-Portal/blob/5bd91cb04951d541df0df57ff55fb742bdf572f6/docs/ngeni5/solution-analysis.md</a:t>
            </a:r>
          </a:p>
          <a:p xmlns:a="http://schemas.openxmlformats.org/drawingml/2006/main">
            <a:r>
              <a:t>https://github.com/luzviana/Partner-Portal/blob/5bd91cb04951d541df0df57ff55fb742bdf572f6/docs/ngeni5/priority-plan.md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Backlog R01-R60 is proposed. R43 superseded by R51/R52. R54 accepts HubSpot, R26 Marketplace, R60 mandatory agent/initial release. No P4 dependency blocks P1-3. SYN/REAL, contract, vendor rights, recovery/operator and security evidence precede exposure. No timeline or numerical SLO approved.</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https://github.com/luzviana/Partner-Portal/blob/5bd91cb04951d541df0df57ff55fb742bdf572f6/docs/ngeni5/backlog.md</a:t>
            </a:r>
          </a:p>
          <a:p xmlns:a="http://schemas.openxmlformats.org/drawingml/2006/main">
            <a:r>
              <a:t>https://github.com/luzviana/Partner-Portal/blob/5bd91cb04951d541df0df57ff55fb742bdf572f6/docs/ngeni5/release-and-operations.md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user defers both Priority4. No standalone multisite service/menu. Future device coverage includes endpoints, servers, printers, IoT and networking gear. Cannot promise detection of powered-off or isolated devices; require measured scope, credentials and safety/stop controls. Existing iTop inventory authority preserved.</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https://github.com/luzviana/Partner-Portal/blob/5bd91cb04951d541df0df57ff55fb742bdf572f6/docs/ngeni5/priority-plan.md</a:t>
            </a:r>
          </a:p>
          <a:p xmlns:a="http://schemas.openxmlformats.org/drawingml/2006/main">
            <a:r>
              <a:t>https://github.com/luzviana/Partner-Portal/blob/5bd91cb04951d541df0df57ff55fb742bdf572f6/docs/ngeni5/source-evidence.md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money estimate or cheapest winner asserted. Rates, volumes, internal/external seats, API/model usage and manual labor require owner inputs. Each candidate must first pass rights/SSO/isolation/persistence/export/lifecycle gates. All human approvals pending as applicable.</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https://github.com/luzviana/Partner-Portal/blob/5bd91cb04951d541df0df57ff55fb742bdf572f6/docs/ngeni5/decisions/open-decisions.md</a:t>
            </a:r>
          </a:p>
          <a:p xmlns:a="http://schemas.openxmlformats.org/drawingml/2006/main">
            <a:r>
              <a:t>https://github.com/luzviana/Partner-Portal/blob/5bd91cb04951d541df0df57ff55fb742bdf572f6/docs/ngeni5/solution-analysis.md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exact exported PPTX/PDF plus canonical source and user overrides. Preserve original PP-EA-01 through PP-EA-12 findings and distinguish prior design review from this new scope. Review source/PDF alignment, data ownership, identity, security, APIs, deployment/operations, solution comparisons and delivery gates. A review report is not user implementation approval.</a:t>
            </a:r>
          </a:p>
          <a:p xmlns:a="http://schemas.openxmlformats.org/drawingml/2006/main">
            <a:r>
              <a:t/>
            </a:r>
          </a:p>
          <a:p xmlns:a="http://schemas.openxmlformats.org/drawingml/2006/main">
            <a:r>
              <a:t>Sources</a:t>
            </a:r>
          </a:p>
          <a:p xmlns:a="http://schemas.openxmlformats.org/drawingml/2006/main">
            <a:r>
              <a:t>https://github.com/luzviana/Partner-Portal/blob/5bd91cb04951d541df0df57ff55fb742bdf572f6/docs/ngeni5/reviews/status.md</a:t>
            </a:r>
          </a:p>
          <a:p xmlns:a="http://schemas.openxmlformats.org/drawingml/2006/main">
            <a:r>
              <a:t>https://github.com/luzviana/Partner-Portal/blob/5bd91cb04951d541df0df57ff55fb742bdf572f6/docs/ngeni5/reviews/scope-revision-2.md</a:t>
            </a:r>
          </a:p>
          <a:p xmlns:a="http://schemas.openxmlformats.org/drawingml/2006/main">
            <a:r>
              <a:t>https://github.com/luzviana/Partner-Portal/blob/5bd91cb04951d541df0df57ff55fb742bdf572f6/docs/ngeni5/decision-brief.md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fa1f0b779847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4f27b09e1d4e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d7c7323ed640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0a4628aad640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554c51207446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0f8486ee0a42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D3D5E6-DDCD-4772-9F54-9D172A03E4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60362C-503A-4031-980B-8EBFE21682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840793-34C1-4A1E-A133-09ABFD4C05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AA7132-6A6F-47FE-B97A-40DBF835D7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81FFEA-55CE-49D2-A810-B04A7637C56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EDA047-077C-45C1-84DB-028223FE62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8185BF-2B3F-472F-8E9B-A9EEEE3C45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D9607E-FAF2-460D-A7D8-DC096B353D6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B98729-6CB0-46BF-9AB2-92E59E12C4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919778-3962-46D3-89B6-767553761A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99c91a97ad4238" /><Relationship Type="http://schemas.openxmlformats.org/officeDocument/2006/relationships/slideLayout" Target="/ppt/slideLayouts/slideLayout1.xml" Id="R2c75ee3a2aef42da" /><Relationship Type="http://schemas.openxmlformats.org/officeDocument/2006/relationships/slideLayout" Target="/ppt/slideLayouts/slideLayout2.xml" Id="Ra4d073e84a8b4cdb" /><Relationship Type="http://schemas.openxmlformats.org/officeDocument/2006/relationships/slideLayout" Target="/ppt/slideLayouts/slideLayout3.xml" Id="R53035201bdd14da0" /><Relationship Type="http://schemas.openxmlformats.org/officeDocument/2006/relationships/slideLayout" Target="/ppt/slideLayouts/slideLayout4.xml" Id="R647a6d41b9864151" /><Relationship Type="http://schemas.openxmlformats.org/officeDocument/2006/relationships/slideLayout" Target="/ppt/slideLayouts/slideLayout5.xml" Id="R2bc3760254314686" /><Relationship Type="http://schemas.openxmlformats.org/officeDocument/2006/relationships/slideLayout" Target="/ppt/slideLayouts/slideLayout6.xml" Id="R71e884a1d97041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75ee3a2aef42da"/>
    <p:sldLayoutId xmlns:r="http://schemas.openxmlformats.org/officeDocument/2006/relationships" id="2147483650" r:id="Ra4d073e84a8b4cdb"/>
    <p:sldLayoutId xmlns:r="http://schemas.openxmlformats.org/officeDocument/2006/relationships" id="2147483651" r:id="R53035201bdd14da0"/>
    <p:sldLayoutId xmlns:r="http://schemas.openxmlformats.org/officeDocument/2006/relationships" id="2147483652" r:id="R647a6d41b9864151"/>
    <p:sldLayoutId xmlns:r="http://schemas.openxmlformats.org/officeDocument/2006/relationships" id="2147483653" r:id="R2bc3760254314686"/>
    <p:sldLayoutId xmlns:r="http://schemas.openxmlformats.org/officeDocument/2006/relationships" id="2147483654" r:id="R71e884a1d97041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0edfb01db84d3c" /><Relationship Type="http://schemas.openxmlformats.org/officeDocument/2006/relationships/notesSlide" Target="/ppt/notesSlides/notesSlide1.xml" Id="R6c23909185834a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b53b89673745c4" /><Relationship Type="http://schemas.openxmlformats.org/officeDocument/2006/relationships/notesSlide" Target="/ppt/notesSlides/notesSlide2.xml" Id="Rb59d21e9c5bb4a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efb0e0cc264c6a" /><Relationship Type="http://schemas.openxmlformats.org/officeDocument/2006/relationships/notesSlide" Target="/ppt/notesSlides/notesSlide3.xml" Id="R3b4f79d4bf9a48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1e601633314491" /><Relationship Type="http://schemas.openxmlformats.org/officeDocument/2006/relationships/notesSlide" Target="/ppt/notesSlides/notesSlide4.xml" Id="R6583ac298abd4a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d7c19f2a454d22" /><Relationship Type="http://schemas.openxmlformats.org/officeDocument/2006/relationships/notesSlide" Target="/ppt/notesSlides/notesSlide5.xml" Id="R9a63ae520a5344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e1040f8401447f" /><Relationship Type="http://schemas.openxmlformats.org/officeDocument/2006/relationships/notesSlide" Target="/ppt/notesSlides/notesSlide6.xml" Id="R67dec1621ae947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59776f12f44fbe" /><Relationship Type="http://schemas.openxmlformats.org/officeDocument/2006/relationships/notesSlide" Target="/ppt/notesSlides/notesSlide7.xml" Id="Rf82b4462c07346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bd509b879d4b89" /><Relationship Type="http://schemas.openxmlformats.org/officeDocument/2006/relationships/notesSlide" Target="/ppt/notesSlides/notesSlide8.xml" Id="Rcc1791cc14344e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896ee1bb6c401e" /><Relationship Type="http://schemas.openxmlformats.org/officeDocument/2006/relationships/notesSlide" Target="/ppt/notesSlides/notesSlide9.xml" Id="R6adfcbfc06294e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5beb07156b423d" /><Relationship Type="http://schemas.openxmlformats.org/officeDocument/2006/relationships/notesSlide" Target="/ppt/notesSlides/notesSlide10.xml" Id="Rdc1adda9a5304d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87e511e8264f78" /><Relationship Type="http://schemas.openxmlformats.org/officeDocument/2006/relationships/notesSlide" Target="/ppt/notesSlides/notesSlide11.xml" Id="R0be0f49088e54a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da8c366de947a8" /><Relationship Type="http://schemas.openxmlformats.org/officeDocument/2006/relationships/notesSlide" Target="/ppt/notesSlides/notesSlide12.xml" Id="Ra1bb3ff81df04a66" /></Relationships>
</file>

<file path=ppt/slides/slide1.xml><?xml version="1.0" encoding="utf-8"?>
<p:sld xmlns:p="http://schemas.openxmlformats.org/presentationml/2006/main">
  <p:cSld>
    <p:bg>
      <p:bgPr>
        <a:solidFill xmlns:a="http://schemas.openxmlformats.org/drawingml/2006/main">
          <a:srgbClr val="1231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8ECBF2-8FD7-4F85-B7F6-9426DFCFE285}"/>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Liberation Sans"/>
                <a:ea typeface="Liberation Sans"/>
                <a:cs typeface="Liberation Sans"/>
              </a:defRPr>
            </a:def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FA64D730-B830-406A-951C-1DC6525F7276}"/>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4C7D7"/>
                </a:solidFill>
                <a:latin typeface="Liberation Sans"/>
                <a:ea typeface="Liberation Sans"/>
                <a:cs typeface="Liberation Sans"/>
              </a:defRPr>
            </a:defPPr>
          </a:lstStyle>
          <a:p xmlns:a="http://schemas.openxmlformats.org/drawingml/2006/main">
            <a:pPr>
              <a:defRPr sz="1200" b="0">
                <a:solidFill>
                  <a:srgbClr val="B4C7D7"/>
                </a:solidFill>
                <a:latin typeface="Liberation Sans"/>
                <a:ea typeface="Liberation Sans"/>
                <a:cs typeface="Liberation Sans"/>
              </a:defRPr>
            </a:pPr>
            <a:r>
              <a:rPr sz="1200" b="0">
                <a:solidFill>
                  <a:srgbClr val="B4C7D7"/>
                </a:solidFill>
                <a:latin typeface="Liberation Sans"/>
                <a:ea typeface="Liberation Sans"/>
                <a:cs typeface="Liberation Sans"/>
              </a:rPr>
              <a:t>01</a:t>
            </a:r>
          </a:p>
        </p:txBody>
      </p:sp>
      <p:sp>
        <p:nvSpPr>
          <p:cNvPr id="3" name="">
            <a:extLst xmlns:a="http://schemas.openxmlformats.org/drawingml/2006/main">
              <a:ext uri="{FF2B5EF4-FFF2-40B4-BE49-F238E27FC236}">
                <a16:creationId xmlns:a16="http://schemas.microsoft.com/office/drawing/2014/main" id="{F9E9565B-7C9E-4EA0-8484-7EF4EC23E3F1}"/>
              </a:ext>
            </a:extLst>
          </p:cNvPr>
          <p:cNvSpPr>
            <a:spLocks xmlns:a="http://schemas.openxmlformats.org/drawingml/2006/main" noGrp="1"/>
          </p:cNvSpPr>
          <p:nvPr/>
        </p:nvSpPr>
        <p:spPr>
          <a:xfrm xmlns:a="http://schemas.openxmlformats.org/drawingml/2006/main">
            <a:off x="571500" y="1524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100" b="1">
                <a:solidFill>
                  <a:srgbClr val="FFFFFF"/>
                </a:solidFill>
                <a:latin typeface="Liberation Sans"/>
                <a:ea typeface="Liberation Sans"/>
                <a:cs typeface="Liberation Sans"/>
              </a:defRPr>
            </a:defPPr>
          </a:lstStyle>
          <a:p xmlns:a="http://schemas.openxmlformats.org/drawingml/2006/main">
            <a:pPr>
              <a:defRPr sz="5100" b="1">
                <a:solidFill>
                  <a:srgbClr val="FFFFFF"/>
                </a:solidFill>
                <a:latin typeface="Liberation Sans"/>
                <a:ea typeface="Liberation Sans"/>
                <a:cs typeface="Liberation Sans"/>
              </a:defRPr>
            </a:pPr>
            <a:r>
              <a:rPr sz="5100" b="1">
                <a:solidFill>
                  <a:srgbClr val="FFFFFF"/>
                </a:solidFill>
                <a:latin typeface="Liberation Sans"/>
                <a:ea typeface="Liberation Sans"/>
                <a:cs typeface="Liberation Sans"/>
              </a:rPr>
              <a:t>Partner Portal</a:t>
            </a:r>
          </a:p>
        </p:txBody>
      </p:sp>
      <p:sp>
        <p:nvSpPr>
          <p:cNvPr id="4" name="">
            <a:extLst xmlns:a="http://schemas.openxmlformats.org/drawingml/2006/main">
              <a:ext uri="{FF2B5EF4-FFF2-40B4-BE49-F238E27FC236}">
                <a16:creationId xmlns:a16="http://schemas.microsoft.com/office/drawing/2014/main" id="{1D317EB6-0F63-4FF2-ABC9-150AF869B4EA}"/>
              </a:ext>
            </a:extLst>
          </p:cNvPr>
          <p:cNvSpPr>
            <a:spLocks xmlns:a="http://schemas.openxmlformats.org/drawingml/2006/main" noGrp="1"/>
          </p:cNvSpPr>
          <p:nvPr/>
        </p:nvSpPr>
        <p:spPr>
          <a:xfrm xmlns:a="http://schemas.openxmlformats.org/drawingml/2006/main">
            <a:off x="571500" y="2809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0">
                <a:solidFill>
                  <a:srgbClr val="FFFFFF"/>
                </a:solidFill>
                <a:latin typeface="Liberation Sans"/>
                <a:ea typeface="Liberation Sans"/>
                <a:cs typeface="Liberation Sans"/>
              </a:defRPr>
            </a:defPPr>
          </a:lstStyle>
          <a:p xmlns:a="http://schemas.openxmlformats.org/drawingml/2006/main">
            <a:pPr>
              <a:defRPr sz="3225" b="0">
                <a:solidFill>
                  <a:srgbClr val="FFFFFF"/>
                </a:solidFill>
                <a:latin typeface="Liberation Sans"/>
                <a:ea typeface="Liberation Sans"/>
                <a:cs typeface="Liberation Sans"/>
              </a:defRPr>
            </a:pPr>
            <a:r>
              <a:rPr sz="3225" b="0">
                <a:solidFill>
                  <a:srgbClr val="FFFFFF"/>
                </a:solidFill>
                <a:latin typeface="Liberation Sans"/>
                <a:ea typeface="Liberation Sans"/>
                <a:cs typeface="Liberation Sans"/>
              </a:rPr>
              <a:t>HubSpot integration and sales support</a:t>
            </a:r>
          </a:p>
        </p:txBody>
      </p:sp>
      <p:sp>
        <p:nvSpPr>
          <p:cNvPr id="5" name="">
            <a:extLst xmlns:a="http://schemas.openxmlformats.org/drawingml/2006/main">
              <a:ext uri="{FF2B5EF4-FFF2-40B4-BE49-F238E27FC236}">
                <a16:creationId xmlns:a16="http://schemas.microsoft.com/office/drawing/2014/main" id="{3435D347-1243-4D68-BD3D-E3F88472C944}"/>
              </a:ext>
            </a:extLst>
          </p:cNvPr>
          <p:cNvSpPr>
            <a:spLocks xmlns:a="http://schemas.openxmlformats.org/drawingml/2006/main" noGrp="1"/>
          </p:cNvSpPr>
          <p:nvPr/>
        </p:nvSpPr>
        <p:spPr>
          <a:xfrm xmlns:a="http://schemas.openxmlformats.org/drawingml/2006/main">
            <a:off x="571500" y="4667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4C7D7"/>
                </a:solidFill>
                <a:latin typeface="Liberation Sans"/>
                <a:ea typeface="Liberation Sans"/>
                <a:cs typeface="Liberation Sans"/>
              </a:defRPr>
            </a:defPPr>
          </a:lstStyle>
          <a:p xmlns:a="http://schemas.openxmlformats.org/drawingml/2006/main">
            <a:pPr>
              <a:defRPr sz="2025" b="0">
                <a:solidFill>
                  <a:srgbClr val="B4C7D7"/>
                </a:solidFill>
                <a:latin typeface="Liberation Sans"/>
                <a:ea typeface="Liberation Sans"/>
                <a:cs typeface="Liberation Sans"/>
              </a:defRPr>
            </a:pPr>
            <a:r>
              <a:rPr sz="2025" b="0">
                <a:solidFill>
                  <a:srgbClr val="B4C7D7"/>
                </a:solidFill>
                <a:latin typeface="Liberation Sans"/>
                <a:ea typeface="Liberation Sans"/>
                <a:cs typeface="Liberation Sans"/>
              </a:rPr>
              <a:t>CTO discussion draft 4</a:t>
            </a:r>
          </a:p>
          <a:p xmlns:a="http://schemas.openxmlformats.org/drawingml/2006/main">
            <a:pPr>
              <a:defRPr sz="2025" b="0">
                <a:solidFill>
                  <a:srgbClr val="B4C7D7"/>
                </a:solidFill>
                <a:latin typeface="Liberation Sans"/>
                <a:ea typeface="Liberation Sans"/>
                <a:cs typeface="Liberation Sans"/>
              </a:defRPr>
            </a:pPr>
            <a:r>
              <a:rPr sz="2025" b="0">
                <a:solidFill>
                  <a:srgbClr val="B4C7D7"/>
                </a:solidFill>
                <a:latin typeface="Liberation Sans"/>
                <a:ea typeface="Liberation Sans"/>
                <a:cs typeface="Liberation Sans"/>
              </a:rPr>
              <a:t>7 October 2026</a:t>
            </a:r>
          </a:p>
        </p:txBody>
      </p:sp>
    </p:spTree>
    <p:extLst>
      <p:ext uri="{BB962C8B-B14F-4D97-AF65-F5344CB8AC3E}">
        <p14:creationId xmlns:p14="http://schemas.microsoft.com/office/powerpoint/2010/main" val="9981254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64F166-FAAE-4F58-972F-9B2BF3816446}"/>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Reviewed priorities</a:t>
            </a:r>
          </a:p>
        </p:txBody>
      </p:sp>
      <p:sp>
        <p:nvSpPr>
          <p:cNvPr id="2" name="">
            <a:extLst xmlns:a="http://schemas.openxmlformats.org/drawingml/2006/main">
              <a:ext uri="{FF2B5EF4-FFF2-40B4-BE49-F238E27FC236}">
                <a16:creationId xmlns:a16="http://schemas.microsoft.com/office/drawing/2014/main" id="{D1E4BB34-61F4-47EB-A52C-F95A6A9567F6}"/>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02</a:t>
            </a:r>
          </a:p>
        </p:txBody>
      </p:sp>
      <p:graphicFrame>
        <p:nvGraphicFramePr>
          <p:cNvPr id="3" name="">
            <a:extLst xmlns:a="http://schemas.openxmlformats.org/drawingml/2006/main">
              <a:ext uri="{FF2B5EF4-FFF2-40B4-BE49-F238E27FC236}">
                <a16:creationId xmlns:a16="http://schemas.microsoft.com/office/drawing/2014/main" id="{9ED684D5-12AE-4215-AECA-ECFC4748FD83}"/>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333750"/>
                <a:gridCol w="7715250"/>
              </a:tblGrid>
              <a:tr h="514350">
                <a:tc>
                  <a:txBody>
                    <a:bodyPr/>
                    <a:lstStyle/>
                    <a:p>
                      <a:r>
                        <a:rPr sz="1800" b="1">
                          <a:solidFill>
                            <a:srgbClr val="FFFFFF"/>
                          </a:solidFill>
                          <a:latin typeface="Liberation Sans"/>
                          <a:ea typeface="Liberation Sans"/>
                          <a:cs typeface="Liberation Sans"/>
                        </a:rPr>
                        <a:t>Priority</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Outcome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1  HubSpot integration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Home, Opportunities and findable Resources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2  Marketplace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Products we sell and 30-day proposals in HubSpot</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3  AI Sales Support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Mandatory agent available across all active pages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4  Deferred</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Site Designer with multisite, and Discovery</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06D37712-5E77-40F6-889E-D78A25DE369D}"/>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Site Designer and Discovery will not be initialized now.</a:t>
            </a:r>
          </a:p>
        </p:txBody>
      </p:sp>
    </p:spTree>
    <p:extLst>
      <p:ext uri="{BB962C8B-B14F-4D97-AF65-F5344CB8AC3E}">
        <p14:creationId xmlns:p14="http://schemas.microsoft.com/office/powerpoint/2010/main" val="1024041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D2B698-AD2F-4E05-BE73-4E27AC406579}"/>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Portal experience and ownership</a:t>
            </a:r>
          </a:p>
        </p:txBody>
      </p:sp>
      <p:sp>
        <p:nvSpPr>
          <p:cNvPr id="2" name="">
            <a:extLst xmlns:a="http://schemas.openxmlformats.org/drawingml/2006/main">
              <a:ext uri="{FF2B5EF4-FFF2-40B4-BE49-F238E27FC236}">
                <a16:creationId xmlns:a16="http://schemas.microsoft.com/office/drawing/2014/main" id="{F30E0CC2-D308-4C11-8BB4-68737DDCB67E}"/>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03</a:t>
            </a:r>
          </a:p>
        </p:txBody>
      </p:sp>
      <p:graphicFrame>
        <p:nvGraphicFramePr>
          <p:cNvPr id="3" name="">
            <a:extLst xmlns:a="http://schemas.openxmlformats.org/drawingml/2006/main">
              <a:ext uri="{FF2B5EF4-FFF2-40B4-BE49-F238E27FC236}">
                <a16:creationId xmlns:a16="http://schemas.microsoft.com/office/drawing/2014/main" id="{56540DF2-D777-4145-A09B-C83AC4ECD620}"/>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000375"/>
                <a:gridCol w="8048625"/>
              </a:tblGrid>
              <a:tr h="514350">
                <a:tc>
                  <a:txBody>
                    <a:bodyPr/>
                    <a:lstStyle/>
                    <a:p>
                      <a:r>
                        <a:rPr sz="1800" b="1">
                          <a:solidFill>
                            <a:srgbClr val="FFFFFF"/>
                          </a:solidFill>
                          <a:latin typeface="Liberation Sans"/>
                          <a:ea typeface="Liberation Sans"/>
                          <a:cs typeface="Liberation Sans"/>
                        </a:rPr>
                        <a:t>Surface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Source and responsibility</a:t>
                      </a:r>
                    </a:p>
                  </a:txBody>
                  <a:tcPr marL="133350" marR="133350" marT="114300" marB="95250" anchor="ctr">
                    <a:solidFill>
                      <a:srgbClr val="123148"/>
                    </a:solidFill>
                  </a:tcPr>
                </a:tc>
              </a:tr>
              <a:tr h="716280">
                <a:tc>
                  <a:txBody>
                    <a:bodyPr/>
                    <a:lstStyle/>
                    <a:p>
                      <a:r>
                        <a:rPr sz="1800" b="0">
                          <a:solidFill>
                            <a:srgbClr val="142A3C"/>
                          </a:solidFill>
                          <a:latin typeface="Liberation Sans"/>
                          <a:ea typeface="Liberation Sans"/>
                          <a:cs typeface="Liberation Sans"/>
                        </a:rPr>
                        <a:t>Home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HubSpot partner, sales, leads, promotions and customers</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Opportunities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HubSpot opportunities, prices, BOMs and proposals</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Marketplace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Authorized products and quantities for a proposal</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Resources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Findable HubSpot files, including battle cards</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AI Sales Support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Persistent support control with authorized page context</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D1A95A8-9429-4835-B3D3-FDBD47F1B333}"/>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Home aggregates opportunities. Each view enforces partner and customer grants.</a:t>
            </a:r>
          </a:p>
        </p:txBody>
      </p:sp>
    </p:spTree>
    <p:extLst>
      <p:ext uri="{BB962C8B-B14F-4D97-AF65-F5344CB8AC3E}">
        <p14:creationId xmlns:p14="http://schemas.microsoft.com/office/powerpoint/2010/main" val="7358507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4C1734-E9E2-476A-8B03-FCE4A054A4F8}"/>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Priority 1: HubSpot integration</a:t>
            </a:r>
          </a:p>
        </p:txBody>
      </p:sp>
      <p:sp>
        <p:nvSpPr>
          <p:cNvPr id="2" name="">
            <a:extLst xmlns:a="http://schemas.openxmlformats.org/drawingml/2006/main">
              <a:ext uri="{FF2B5EF4-FFF2-40B4-BE49-F238E27FC236}">
                <a16:creationId xmlns:a16="http://schemas.microsoft.com/office/drawing/2014/main" id="{6D2A4706-9848-4CF5-8560-12F109F498D4}"/>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04</a:t>
            </a:r>
          </a:p>
        </p:txBody>
      </p:sp>
      <p:graphicFrame>
        <p:nvGraphicFramePr>
          <p:cNvPr id="3" name="">
            <a:extLst xmlns:a="http://schemas.openxmlformats.org/drawingml/2006/main">
              <a:ext uri="{FF2B5EF4-FFF2-40B4-BE49-F238E27FC236}">
                <a16:creationId xmlns:a16="http://schemas.microsoft.com/office/drawing/2014/main" id="{322E8F92-60BB-4D41-9E83-F2CD0DB172A5}"/>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4000500"/>
                <a:gridCol w="7048500"/>
              </a:tblGrid>
              <a:tr h="514350">
                <a:tc>
                  <a:txBody>
                    <a:bodyPr/>
                    <a:lstStyle/>
                    <a:p>
                      <a:r>
                        <a:rPr sz="1800" b="1">
                          <a:solidFill>
                            <a:srgbClr val="FFFFFF"/>
                          </a:solidFill>
                          <a:latin typeface="Liberation Sans"/>
                          <a:ea typeface="Liberation Sans"/>
                          <a:cs typeface="Liberation Sans"/>
                        </a:rPr>
                        <a:t>Work to define first</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Evidence required</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Account and field mapping</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Actual objects, subscriptions, APIs, associations and owners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Partner access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Scoped reads, aggregates, files and opportunity permissions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Home and Resources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Metric definitions, freshness, taxonomy and private downloads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Recovery and operations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Reconciliation, revoked access, operator and restore evidence</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C5AA17B8-A2D4-403F-A595-8A24201D01C3}"/>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The integration specification and permission map precede UI implementation.</a:t>
            </a:r>
          </a:p>
        </p:txBody>
      </p:sp>
    </p:spTree>
    <p:extLst>
      <p:ext uri="{BB962C8B-B14F-4D97-AF65-F5344CB8AC3E}">
        <p14:creationId xmlns:p14="http://schemas.microsoft.com/office/powerpoint/2010/main" val="6255874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DA4968-0169-46FE-A66E-F8789374E6B5}"/>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Marketplace options for this scope</a:t>
            </a:r>
          </a:p>
        </p:txBody>
      </p:sp>
      <p:sp>
        <p:nvSpPr>
          <p:cNvPr id="2" name="">
            <a:extLst xmlns:a="http://schemas.openxmlformats.org/drawingml/2006/main">
              <a:ext uri="{FF2B5EF4-FFF2-40B4-BE49-F238E27FC236}">
                <a16:creationId xmlns:a16="http://schemas.microsoft.com/office/drawing/2014/main" id="{841D7BC2-3D30-421D-BAF8-E1418C9CC540}"/>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05</a:t>
            </a:r>
          </a:p>
        </p:txBody>
      </p:sp>
      <p:graphicFrame>
        <p:nvGraphicFramePr>
          <p:cNvPr id="3" name="">
            <a:extLst xmlns:a="http://schemas.openxmlformats.org/drawingml/2006/main">
              <a:ext uri="{FF2B5EF4-FFF2-40B4-BE49-F238E27FC236}">
                <a16:creationId xmlns:a16="http://schemas.microsoft.com/office/drawing/2014/main" id="{3B721E03-D5DD-4DC0-BF87-E4F17A872C29}"/>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000375"/>
                <a:gridCol w="5000625"/>
                <a:gridCol w="3048000"/>
              </a:tblGrid>
              <a:tr h="514350">
                <a:tc>
                  <a:txBody>
                    <a:bodyPr/>
                    <a:lstStyle/>
                    <a:p>
                      <a:r>
                        <a:rPr sz="1800" b="1">
                          <a:solidFill>
                            <a:srgbClr val="FFFFFF"/>
                          </a:solidFill>
                          <a:latin typeface="Liberation Sans"/>
                          <a:ea typeface="Liberation Sans"/>
                          <a:cs typeface="Liberation Sans"/>
                        </a:rPr>
                        <a:t>Option</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Fit / tradeoff</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Proposed position</a:t>
                      </a:r>
                    </a:p>
                  </a:txBody>
                  <a:tcPr marL="133350" marR="133350" marT="114300" marB="95250" anchor="ctr">
                    <a:solidFill>
                      <a:srgbClr val="123148"/>
                    </a:solidFill>
                  </a:tcPr>
                </a:tc>
              </a:tr>
              <a:tr h="1193800">
                <a:tc>
                  <a:txBody>
                    <a:bodyPr/>
                    <a:lstStyle/>
                    <a:p>
                      <a:r>
                        <a:rPr sz="1800" b="0">
                          <a:solidFill>
                            <a:srgbClr val="142A3C"/>
                          </a:solidFill>
                          <a:latin typeface="Liberation Sans"/>
                          <a:ea typeface="Liberation Sans"/>
                          <a:cs typeface="Liberation Sans"/>
                        </a:rPr>
                        <a:t>Thin portal + HubSpot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Small catalog and proposal integration to own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Leading option if account fit passes</a:t>
                      </a:r>
                    </a:p>
                  </a:txBody>
                  <a:tcPr marL="133350" marR="133350" marT="114300" marB="95250" anchor="ctr">
                    <a:solidFill>
                      <a:srgbClr val="FFFFFF"/>
                    </a:solidFill>
                  </a:tcPr>
                </a:tc>
              </a:tr>
              <a:tr h="1193800">
                <a:tc>
                  <a:txBody>
                    <a:bodyPr/>
                    <a:lstStyle/>
                    <a:p>
                      <a:r>
                        <a:rPr sz="1800" b="0">
                          <a:solidFill>
                            <a:srgbClr val="142A3C"/>
                          </a:solidFill>
                          <a:latin typeface="Liberation Sans"/>
                          <a:ea typeface="Liberation Sans"/>
                          <a:cs typeface="Liberation Sans"/>
                        </a:rPr>
                        <a:t>Medusa + HubSpot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Reusable catalog tools with added software and mapping</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Conditional on catalog gaps</a:t>
                      </a:r>
                    </a:p>
                  </a:txBody>
                  <a:tcPr marL="133350" marR="133350" marT="114300" marB="95250" anchor="ctr">
                    <a:solidFill>
                      <a:srgbClr val="EFF4F8"/>
                    </a:solidFill>
                  </a:tcPr>
                </a:tc>
              </a:tr>
              <a:tr h="1193800">
                <a:tc>
                  <a:txBody>
                    <a:bodyPr/>
                    <a:lstStyle/>
                    <a:p>
                      <a:r>
                        <a:rPr sz="1800" b="0">
                          <a:solidFill>
                            <a:srgbClr val="142A3C"/>
                          </a:solidFill>
                          <a:latin typeface="Liberation Sans"/>
                          <a:ea typeface="Liberation Sans"/>
                          <a:cs typeface="Liberation Sans"/>
                        </a:rPr>
                        <a:t>CloudBlue / broader commerce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Wider distribution and subscription scope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Park unless a required gap appears</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772A0EB-67D0-4E2B-BB7D-704DE33FBDC4}"/>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This Marketplace generates proposals. It has no checkout or direct sales.</a:t>
            </a:r>
          </a:p>
        </p:txBody>
      </p:sp>
    </p:spTree>
    <p:extLst>
      <p:ext uri="{BB962C8B-B14F-4D97-AF65-F5344CB8AC3E}">
        <p14:creationId xmlns:p14="http://schemas.microsoft.com/office/powerpoint/2010/main" val="18913671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01C073-C2DF-43BF-B021-F41118309EFA}"/>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Proposal storage and authority options</a:t>
            </a:r>
          </a:p>
        </p:txBody>
      </p:sp>
      <p:sp>
        <p:nvSpPr>
          <p:cNvPr id="2" name="">
            <a:extLst xmlns:a="http://schemas.openxmlformats.org/drawingml/2006/main">
              <a:ext uri="{FF2B5EF4-FFF2-40B4-BE49-F238E27FC236}">
                <a16:creationId xmlns:a16="http://schemas.microsoft.com/office/drawing/2014/main" id="{E67BAF58-5AB8-4090-A097-88C6C0A9B60D}"/>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06</a:t>
            </a:r>
          </a:p>
        </p:txBody>
      </p:sp>
      <p:graphicFrame>
        <p:nvGraphicFramePr>
          <p:cNvPr id="3" name="">
            <a:extLst xmlns:a="http://schemas.openxmlformats.org/drawingml/2006/main">
              <a:ext uri="{FF2B5EF4-FFF2-40B4-BE49-F238E27FC236}">
                <a16:creationId xmlns:a16="http://schemas.microsoft.com/office/drawing/2014/main" id="{CD39229B-2E98-4679-83E3-07071A84390B}"/>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238500"/>
                <a:gridCol w="5048250"/>
                <a:gridCol w="2762250"/>
              </a:tblGrid>
              <a:tr h="514350">
                <a:tc>
                  <a:txBody>
                    <a:bodyPr/>
                    <a:lstStyle/>
                    <a:p>
                      <a:r>
                        <a:rPr sz="1800" b="1">
                          <a:solidFill>
                            <a:srgbClr val="FFFFFF"/>
                          </a:solidFill>
                          <a:latin typeface="Liberation Sans"/>
                          <a:ea typeface="Liberation Sans"/>
                          <a:cs typeface="Liberation Sans"/>
                        </a:rPr>
                        <a:t>Route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Required proof</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Position</a:t>
                      </a:r>
                    </a:p>
                  </a:txBody>
                  <a:tcPr marL="133350" marR="133350" marT="114300" marB="95250" anchor="ctr">
                    <a:solidFill>
                      <a:srgbClr val="123148"/>
                    </a:solidFill>
                  </a:tcPr>
                </a:tc>
              </a:tr>
              <a:tr h="1193800">
                <a:tc>
                  <a:txBody>
                    <a:bodyPr/>
                    <a:lstStyle/>
                    <a:p>
                      <a:r>
                        <a:rPr sz="1800" b="0">
                          <a:solidFill>
                            <a:srgbClr val="142A3C"/>
                          </a:solidFill>
                          <a:latin typeface="Liberation Sans"/>
                          <a:ea typeface="Liberation Sans"/>
                          <a:cs typeface="Liberation Sans"/>
                        </a:rPr>
                        <a:t>Native HubSpot quoting</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Full BOM, prices, versions, approval and expiry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First route to evaluate</a:t>
                      </a:r>
                    </a:p>
                  </a:txBody>
                  <a:tcPr marL="133350" marR="133350" marT="114300" marB="95250" anchor="ctr">
                    <a:solidFill>
                      <a:srgbClr val="FFFFFF"/>
                    </a:solidFill>
                  </a:tcPr>
                </a:tc>
              </a:tr>
              <a:tr h="1193800">
                <a:tc>
                  <a:txBody>
                    <a:bodyPr/>
                    <a:lstStyle/>
                    <a:p>
                      <a:r>
                        <a:rPr sz="1800" b="0">
                          <a:solidFill>
                            <a:srgbClr val="142A3C"/>
                          </a:solidFill>
                          <a:latin typeface="Liberation Sans"/>
                          <a:ea typeface="Liberation Sans"/>
                          <a:cs typeface="Liberation Sans"/>
                        </a:rPr>
                        <a:t>Supported HubSpot record / artifact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Structured BOM and revision history, beyond a link</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Conditional fallback</a:t>
                      </a:r>
                    </a:p>
                  </a:txBody>
                  <a:tcPr marL="133350" marR="133350" marT="114300" marB="95250" anchor="ctr">
                    <a:solidFill>
                      <a:srgbClr val="EFF4F8"/>
                    </a:solidFill>
                  </a:tcPr>
                </a:tc>
              </a:tr>
              <a:tr h="1193800">
                <a:tc>
                  <a:txBody>
                    <a:bodyPr/>
                    <a:lstStyle/>
                    <a:p>
                      <a:r>
                        <a:rPr sz="1800" b="0">
                          <a:solidFill>
                            <a:srgbClr val="142A3C"/>
                          </a:solidFill>
                          <a:latin typeface="Liberation Sans"/>
                          <a:ea typeface="Liberation Sans"/>
                          <a:cs typeface="Liberation Sans"/>
                        </a:rPr>
                        <a:t>QuoteWerks / other CPQ</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Specific fit failure that justifies another authority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Escalation option only</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7423B5C-BF91-49C1-9A0C-DF84B3F7A8E2}"/>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One price authority. Every accepted route preserves the proposal and BOM in HubSpot.</a:t>
            </a:r>
          </a:p>
        </p:txBody>
      </p:sp>
    </p:spTree>
    <p:extLst>
      <p:ext uri="{BB962C8B-B14F-4D97-AF65-F5344CB8AC3E}">
        <p14:creationId xmlns:p14="http://schemas.microsoft.com/office/powerpoint/2010/main" val="13734878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B48BA3-68BA-48ED-90CE-35D5092F2418}"/>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Thirty-day proposal lifecycle</a:t>
            </a:r>
          </a:p>
        </p:txBody>
      </p:sp>
      <p:sp>
        <p:nvSpPr>
          <p:cNvPr id="2" name="">
            <a:extLst xmlns:a="http://schemas.openxmlformats.org/drawingml/2006/main">
              <a:ext uri="{FF2B5EF4-FFF2-40B4-BE49-F238E27FC236}">
                <a16:creationId xmlns:a16="http://schemas.microsoft.com/office/drawing/2014/main" id="{9513EFD5-43FD-4F50-B289-910C1A939148}"/>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07</a:t>
            </a:r>
          </a:p>
        </p:txBody>
      </p:sp>
      <p:graphicFrame>
        <p:nvGraphicFramePr>
          <p:cNvPr id="3" name="">
            <a:extLst xmlns:a="http://schemas.openxmlformats.org/drawingml/2006/main">
              <a:ext uri="{FF2B5EF4-FFF2-40B4-BE49-F238E27FC236}">
                <a16:creationId xmlns:a16="http://schemas.microsoft.com/office/drawing/2014/main" id="{B71485BC-F431-49B0-82EA-71107C365B80}"/>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381375"/>
                <a:gridCol w="7667625"/>
              </a:tblGrid>
              <a:tr h="514350">
                <a:tc>
                  <a:txBody>
                    <a:bodyPr/>
                    <a:lstStyle/>
                    <a:p>
                      <a:r>
                        <a:rPr sz="1800" b="1">
                          <a:solidFill>
                            <a:srgbClr val="FFFFFF"/>
                          </a:solidFill>
                          <a:latin typeface="Liberation Sans"/>
                          <a:ea typeface="Liberation Sans"/>
                          <a:cs typeface="Liberation Sans"/>
                        </a:rPr>
                        <a:t>Step</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Required behavior</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Select and review</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Canonical products, quantities, exact price and BOM</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Approve and persist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Bind exact revision and verify complete HubSpot storage</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Issue with 30-day validity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Same expiry in document, portal and HubSpot</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Expire or renew</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Old revision stops being current; renewal creates a new version</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3C804778-B246-461E-9AE6-AAAD4742B0BC}"/>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The 30-day requirement is fixed. Issuance clock and price-honoring policy need agreement.</a:t>
            </a:r>
          </a:p>
        </p:txBody>
      </p:sp>
    </p:spTree>
    <p:extLst>
      <p:ext uri="{BB962C8B-B14F-4D97-AF65-F5344CB8AC3E}">
        <p14:creationId xmlns:p14="http://schemas.microsoft.com/office/powerpoint/2010/main" val="3638457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C18605-D739-4A82-B0B9-BD4E25A17D84}"/>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AI Sales Support options</a:t>
            </a:r>
          </a:p>
        </p:txBody>
      </p:sp>
      <p:sp>
        <p:nvSpPr>
          <p:cNvPr id="2" name="">
            <a:extLst xmlns:a="http://schemas.openxmlformats.org/drawingml/2006/main">
              <a:ext uri="{FF2B5EF4-FFF2-40B4-BE49-F238E27FC236}">
                <a16:creationId xmlns:a16="http://schemas.microsoft.com/office/drawing/2014/main" id="{FFA506A1-1407-4E95-BD9B-47D7353F2DFC}"/>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08</a:t>
            </a:r>
          </a:p>
        </p:txBody>
      </p:sp>
      <p:graphicFrame>
        <p:nvGraphicFramePr>
          <p:cNvPr id="3" name="">
            <a:extLst xmlns:a="http://schemas.openxmlformats.org/drawingml/2006/main">
              <a:ext uri="{FF2B5EF4-FFF2-40B4-BE49-F238E27FC236}">
                <a16:creationId xmlns:a16="http://schemas.microsoft.com/office/drawing/2014/main" id="{67AB6B64-BCE2-4256-8706-3BBD30ED99C8}"/>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714750"/>
                <a:gridCol w="3429000"/>
                <a:gridCol w="3905250"/>
              </a:tblGrid>
              <a:tr h="514350">
                <a:tc>
                  <a:txBody>
                    <a:bodyPr/>
                    <a:lstStyle/>
                    <a:p>
                      <a:r>
                        <a:rPr sz="1800" b="1">
                          <a:solidFill>
                            <a:srgbClr val="FFFFFF"/>
                          </a:solidFill>
                          <a:latin typeface="Liberation Sans"/>
                          <a:ea typeface="Liberation Sans"/>
                          <a:cs typeface="Liberation Sans"/>
                        </a:rPr>
                        <a:t>Option</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Benefit</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Responsibility / tradeoff</a:t>
                      </a:r>
                    </a:p>
                  </a:txBody>
                  <a:tcPr marL="133350" marR="133350" marT="114300" marB="95250" anchor="ctr">
                    <a:solidFill>
                      <a:srgbClr val="123148"/>
                    </a:solidFill>
                  </a:tcPr>
                </a:tc>
              </a:tr>
              <a:tr h="1790700">
                <a:tc>
                  <a:txBody>
                    <a:bodyPr/>
                    <a:lstStyle/>
                    <a:p>
                      <a:r>
                        <a:rPr sz="1800" b="0">
                          <a:solidFill>
                            <a:srgbClr val="142A3C"/>
                          </a:solidFill>
                          <a:latin typeface="Liberation Sans"/>
                          <a:ea typeface="Liberation Sans"/>
                          <a:cs typeface="Liberation Sans"/>
                        </a:rPr>
                        <a:t>Managed inference + owned agent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Avoid operating model-serving capacity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Verify model terms, privacy, region and usage cost</a:t>
                      </a:r>
                    </a:p>
                  </a:txBody>
                  <a:tcPr marL="133350" marR="133350" marT="114300" marB="95250" anchor="ctr">
                    <a:solidFill>
                      <a:srgbClr val="FFFFFF"/>
                    </a:solidFill>
                  </a:tcPr>
                </a:tc>
              </a:tr>
              <a:tr h="1790700">
                <a:tc>
                  <a:txBody>
                    <a:bodyPr/>
                    <a:lstStyle/>
                    <a:p>
                      <a:r>
                        <a:rPr sz="1800" b="0">
                          <a:solidFill>
                            <a:srgbClr val="142A3C"/>
                          </a:solidFill>
                          <a:latin typeface="Liberation Sans"/>
                          <a:ea typeface="Liberation Sans"/>
                          <a:cs typeface="Liberation Sans"/>
                        </a:rPr>
                        <a:t>Self-hosted model + owned agent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More deployment and model control</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Own capacity, security, model rights and on-call</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3774350A-91B3-4B84-A721-4FB0D1FF265A}"/>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Both require governed CRM, catalog and Resources tools. No separate AI menu.</a:t>
            </a:r>
          </a:p>
        </p:txBody>
      </p:sp>
    </p:spTree>
    <p:extLst>
      <p:ext uri="{BB962C8B-B14F-4D97-AF65-F5344CB8AC3E}">
        <p14:creationId xmlns:p14="http://schemas.microsoft.com/office/powerpoint/2010/main" val="11776168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E65191-9972-41D6-8281-B76DDB8DA232}"/>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Delivery and first-use gates</a:t>
            </a:r>
          </a:p>
        </p:txBody>
      </p:sp>
      <p:sp>
        <p:nvSpPr>
          <p:cNvPr id="2" name="">
            <a:extLst xmlns:a="http://schemas.openxmlformats.org/drawingml/2006/main">
              <a:ext uri="{FF2B5EF4-FFF2-40B4-BE49-F238E27FC236}">
                <a16:creationId xmlns:a16="http://schemas.microsoft.com/office/drawing/2014/main" id="{4D1DF50E-3624-4BA9-B96C-27E5C6FA155B}"/>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09</a:t>
            </a:r>
          </a:p>
        </p:txBody>
      </p:sp>
      <p:graphicFrame>
        <p:nvGraphicFramePr>
          <p:cNvPr id="3" name="">
            <a:extLst xmlns:a="http://schemas.openxmlformats.org/drawingml/2006/main">
              <a:ext uri="{FF2B5EF4-FFF2-40B4-BE49-F238E27FC236}">
                <a16:creationId xmlns:a16="http://schemas.microsoft.com/office/drawing/2014/main" id="{01A0722B-4A60-4EE1-BF7E-4898BC846E85}"/>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952875"/>
                <a:gridCol w="7096125"/>
              </a:tblGrid>
              <a:tr h="514350">
                <a:tc>
                  <a:txBody>
                    <a:bodyPr/>
                    <a:lstStyle/>
                    <a:p>
                      <a:r>
                        <a:rPr sz="1800" b="1">
                          <a:solidFill>
                            <a:srgbClr val="FFFFFF"/>
                          </a:solidFill>
                          <a:latin typeface="Liberation Sans"/>
                          <a:ea typeface="Liberation Sans"/>
                          <a:cs typeface="Liberation Sans"/>
                        </a:rPr>
                        <a:t>Increment</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Acceptance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Priority 1: HubSpot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Scoped Home, Opportunities and human Resources journey</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Priority 2: Marketplace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Verified price/BOM persistence and 30-day proposal controls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Priority 3: Agent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Support across every active page with safe context and tools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Priority 4: Later decision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Site Designer and Discovery await explicit reactivation</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D0A8D81E-0937-47BB-BEC2-1E86D6CD5259}"/>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The initial priorities 1–3 release includes the mandatory agent.</a:t>
            </a:r>
          </a:p>
        </p:txBody>
      </p:sp>
    </p:spTree>
    <p:extLst>
      <p:ext uri="{BB962C8B-B14F-4D97-AF65-F5344CB8AC3E}">
        <p14:creationId xmlns:p14="http://schemas.microsoft.com/office/powerpoint/2010/main" val="17406503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AA24E2-8FFD-44AA-9973-05B359F2039A}"/>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Deferred capabilities and scope limits</a:t>
            </a:r>
          </a:p>
        </p:txBody>
      </p:sp>
      <p:sp>
        <p:nvSpPr>
          <p:cNvPr id="2" name="">
            <a:extLst xmlns:a="http://schemas.openxmlformats.org/drawingml/2006/main">
              <a:ext uri="{FF2B5EF4-FFF2-40B4-BE49-F238E27FC236}">
                <a16:creationId xmlns:a16="http://schemas.microsoft.com/office/drawing/2014/main" id="{6CBAA66D-BF7F-497B-9CA0-86AE444C48F3}"/>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10</a:t>
            </a:r>
          </a:p>
        </p:txBody>
      </p:sp>
      <p:graphicFrame>
        <p:nvGraphicFramePr>
          <p:cNvPr id="3" name="">
            <a:extLst xmlns:a="http://schemas.openxmlformats.org/drawingml/2006/main">
              <a:ext uri="{FF2B5EF4-FFF2-40B4-BE49-F238E27FC236}">
                <a16:creationId xmlns:a16="http://schemas.microsoft.com/office/drawing/2014/main" id="{13F0B46C-AF56-4F99-9A8A-A23B209829B7}"/>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619500"/>
                <a:gridCol w="7429500"/>
              </a:tblGrid>
              <a:tr h="514350">
                <a:tc>
                  <a:txBody>
                    <a:bodyPr/>
                    <a:lstStyle/>
                    <a:p>
                      <a:r>
                        <a:rPr sz="1800" b="1">
                          <a:solidFill>
                            <a:srgbClr val="FFFFFF"/>
                          </a:solidFill>
                          <a:latin typeface="Liberation Sans"/>
                          <a:ea typeface="Liberation Sans"/>
                          <a:cs typeface="Liberation Sans"/>
                        </a:rPr>
                        <a:t>Capability</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Future scope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Site Designer</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Site/floor design with multisite profiles and overrides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Discovery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All observable items on authorized network segments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Discovery coverage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Document unknown, unreachable or unsupported devices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Current boundary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No scaffolding, collectors, accounts or vendor trials now</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35FFFDB5-539B-4B71-B9ED-C62D61567CDF}"/>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Import-only assessment does not fulfill the future network discovery objective.</a:t>
            </a:r>
          </a:p>
        </p:txBody>
      </p:sp>
    </p:spTree>
    <p:extLst>
      <p:ext uri="{BB962C8B-B14F-4D97-AF65-F5344CB8AC3E}">
        <p14:creationId xmlns:p14="http://schemas.microsoft.com/office/powerpoint/2010/main" val="20762459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D37FB5-CBD1-45AD-9435-44E7C35155DC}"/>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Evidence and cost before selection</a:t>
            </a:r>
          </a:p>
        </p:txBody>
      </p:sp>
      <p:sp>
        <p:nvSpPr>
          <p:cNvPr id="2" name="">
            <a:extLst xmlns:a="http://schemas.openxmlformats.org/drawingml/2006/main">
              <a:ext uri="{FF2B5EF4-FFF2-40B4-BE49-F238E27FC236}">
                <a16:creationId xmlns:a16="http://schemas.microsoft.com/office/drawing/2014/main" id="{EC8F87B0-34A5-4427-ADB6-5EDF31AE56CE}"/>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11</a:t>
            </a:r>
          </a:p>
        </p:txBody>
      </p:sp>
      <p:graphicFrame>
        <p:nvGraphicFramePr>
          <p:cNvPr id="3" name="">
            <a:extLst xmlns:a="http://schemas.openxmlformats.org/drawingml/2006/main">
              <a:ext uri="{FF2B5EF4-FFF2-40B4-BE49-F238E27FC236}">
                <a16:creationId xmlns:a16="http://schemas.microsoft.com/office/drawing/2014/main" id="{DC5B1B7A-C9AF-48C0-B5EE-D1FA593B0CE8}"/>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524250"/>
                <a:gridCol w="7524750"/>
              </a:tblGrid>
              <a:tr h="514350">
                <a:tc>
                  <a:txBody>
                    <a:bodyPr/>
                    <a:lstStyle/>
                    <a:p>
                      <a:r>
                        <a:rPr sz="1800" b="1">
                          <a:solidFill>
                            <a:srgbClr val="FFFFFF"/>
                          </a:solidFill>
                          <a:latin typeface="Liberation Sans"/>
                          <a:ea typeface="Liberation Sans"/>
                          <a:cs typeface="Liberation Sans"/>
                        </a:rPr>
                        <a:t>Decision</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Inputs still missing</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HubSpot and catalog fit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Account capabilities, product/price source and field owners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Commercial policy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Approval, 30-day clock, tax/currency and price honoring</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Data and operations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Grants, lifecycle bounds, named support and recovery owners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Three-year cost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Build/integration, licenses, operations, stewardship and exit</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F2780275-0747-43F7-B5FD-A9458ADE28B3}"/>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Re-estimate the active scope. Previous staffing and calendar envelopes are superseded.</a:t>
            </a:r>
          </a:p>
        </p:txBody>
      </p:sp>
    </p:spTree>
    <p:extLst>
      <p:ext uri="{BB962C8B-B14F-4D97-AF65-F5344CB8AC3E}">
        <p14:creationId xmlns:p14="http://schemas.microsoft.com/office/powerpoint/2010/main" val="1056945989"/>
      </p:ext>
    </p:extLst>
  </p:cSld>
</p:sld>
</file>

<file path=ppt/slides/slide12.xml><?xml version="1.0" encoding="utf-8"?>
<p:sld xmlns:p="http://schemas.openxmlformats.org/presentationml/2006/main">
  <p:cSld>
    <p:bg>
      <p:bgPr>
        <a:solidFill xmlns:a="http://schemas.openxmlformats.org/drawingml/2006/main">
          <a:srgbClr val="12314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2987B5-9675-45D2-AD2F-6D28A0E11A3C}"/>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Liberation Sans"/>
                <a:ea typeface="Liberation Sans"/>
                <a:cs typeface="Liberation Sans"/>
              </a:defRPr>
            </a:defPPr>
          </a:lstStyle>
          <a:p xmlns:a="http://schemas.openxmlformats.org/drawingml/2006/main">
            <a:pPr>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EA review and CTO decisions</a:t>
            </a:r>
          </a:p>
        </p:txBody>
      </p:sp>
      <p:sp>
        <p:nvSpPr>
          <p:cNvPr id="2" name="">
            <a:extLst xmlns:a="http://schemas.openxmlformats.org/drawingml/2006/main">
              <a:ext uri="{FF2B5EF4-FFF2-40B4-BE49-F238E27FC236}">
                <a16:creationId xmlns:a16="http://schemas.microsoft.com/office/drawing/2014/main" id="{5B3096C4-2A8C-4A3D-9C05-F865BE8A223D}"/>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4C7D7"/>
                </a:solidFill>
                <a:latin typeface="Liberation Sans"/>
                <a:ea typeface="Liberation Sans"/>
                <a:cs typeface="Liberation Sans"/>
              </a:defRPr>
            </a:defPPr>
          </a:lstStyle>
          <a:p xmlns:a="http://schemas.openxmlformats.org/drawingml/2006/main">
            <a:pPr>
              <a:defRPr sz="1200" b="0">
                <a:solidFill>
                  <a:srgbClr val="B4C7D7"/>
                </a:solidFill>
                <a:latin typeface="Liberation Sans"/>
                <a:ea typeface="Liberation Sans"/>
                <a:cs typeface="Liberation Sans"/>
              </a:defRPr>
            </a:pPr>
            <a:r>
              <a:rPr sz="1200" b="0">
                <a:solidFill>
                  <a:srgbClr val="B4C7D7"/>
                </a:solidFill>
                <a:latin typeface="Liberation Sans"/>
                <a:ea typeface="Liberation Sans"/>
                <a:cs typeface="Liberation Sans"/>
              </a:rPr>
              <a:t>12</a:t>
            </a:r>
          </a:p>
        </p:txBody>
      </p:sp>
      <p:sp>
        <p:nvSpPr>
          <p:cNvPr id="3" name="">
            <a:extLst xmlns:a="http://schemas.openxmlformats.org/drawingml/2006/main">
              <a:ext uri="{FF2B5EF4-FFF2-40B4-BE49-F238E27FC236}">
                <a16:creationId xmlns:a16="http://schemas.microsoft.com/office/drawing/2014/main" id="{2B3DDF70-78AC-4668-99DC-7FD630C2FE82}"/>
              </a:ext>
            </a:extLst>
          </p:cNvPr>
          <p:cNvSpPr>
            <a:spLocks xmlns:a="http://schemas.openxmlformats.org/drawingml/2006/main" noGrp="1"/>
          </p:cNvSpPr>
          <p:nvPr/>
        </p:nvSpPr>
        <p:spPr>
          <a:xfrm xmlns:a="http://schemas.openxmlformats.org/drawingml/2006/main">
            <a:off x="571500" y="15716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EA review of the revised boundaries and presentation</a:t>
            </a:r>
          </a:p>
        </p:txBody>
      </p:sp>
      <p:sp>
        <p:nvSpPr>
          <p:cNvPr id="4" name="">
            <a:extLst xmlns:a="http://schemas.openxmlformats.org/drawingml/2006/main">
              <a:ext uri="{FF2B5EF4-FFF2-40B4-BE49-F238E27FC236}">
                <a16:creationId xmlns:a16="http://schemas.microsoft.com/office/drawing/2014/main" id="{6F5B4D82-EB02-4201-A0DA-72AD73EA605F}"/>
              </a:ext>
            </a:extLst>
          </p:cNvPr>
          <p:cNvSpPr>
            <a:spLocks xmlns:a="http://schemas.openxmlformats.org/drawingml/2006/main" noGrp="1"/>
          </p:cNvSpPr>
          <p:nvPr/>
        </p:nvSpPr>
        <p:spPr>
          <a:xfrm xmlns:a="http://schemas.openxmlformats.org/drawingml/2006/main">
            <a:off x="571500" y="26003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Named owners and confirmed HubSpot integration inputs</a:t>
            </a:r>
          </a:p>
        </p:txBody>
      </p:sp>
      <p:sp>
        <p:nvSpPr>
          <p:cNvPr id="5" name="">
            <a:extLst xmlns:a="http://schemas.openxmlformats.org/drawingml/2006/main">
              <a:ext uri="{FF2B5EF4-FFF2-40B4-BE49-F238E27FC236}">
                <a16:creationId xmlns:a16="http://schemas.microsoft.com/office/drawing/2014/main" id="{B90654FB-B0D2-452B-A571-EB3E5E9C71DF}"/>
              </a:ext>
            </a:extLst>
          </p:cNvPr>
          <p:cNvSpPr>
            <a:spLocks xmlns:a="http://schemas.openxmlformats.org/drawingml/2006/main" noGrp="1"/>
          </p:cNvSpPr>
          <p:nvPr/>
        </p:nvSpPr>
        <p:spPr>
          <a:xfrm xmlns:a="http://schemas.openxmlformats.org/drawingml/2006/main">
            <a:off x="571500" y="36290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Evidence-backed Marketplace and agent choices</a:t>
            </a:r>
          </a:p>
        </p:txBody>
      </p:sp>
      <p:sp>
        <p:nvSpPr>
          <p:cNvPr id="6" name="">
            <a:extLst xmlns:a="http://schemas.openxmlformats.org/drawingml/2006/main">
              <a:ext uri="{FF2B5EF4-FFF2-40B4-BE49-F238E27FC236}">
                <a16:creationId xmlns:a16="http://schemas.microsoft.com/office/drawing/2014/main" id="{D6BD05CC-933C-4363-A541-CCB7A2513F30}"/>
              </a:ext>
            </a:extLst>
          </p:cNvPr>
          <p:cNvSpPr>
            <a:spLocks xmlns:a="http://schemas.openxmlformats.org/drawingml/2006/main" noGrp="1"/>
          </p:cNvSpPr>
          <p:nvPr/>
        </p:nvSpPr>
        <p:spPr>
          <a:xfrm xmlns:a="http://schemas.openxmlformats.org/drawingml/2006/main">
            <a:off x="571500" y="46577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Explicit approval of scope before implementation</a:t>
            </a:r>
          </a:p>
        </p:txBody>
      </p:sp>
      <p:sp>
        <p:nvSpPr>
          <p:cNvPr id="7" name="">
            <a:extLst xmlns:a="http://schemas.openxmlformats.org/drawingml/2006/main">
              <a:ext uri="{FF2B5EF4-FFF2-40B4-BE49-F238E27FC236}">
                <a16:creationId xmlns:a16="http://schemas.microsoft.com/office/drawing/2014/main" id="{EB0AE0D7-C575-40EE-8D22-BDF742C5B16C}"/>
              </a:ext>
            </a:extLst>
          </p:cNvPr>
          <p:cNvSpPr>
            <a:spLocks xmlns:a="http://schemas.openxmlformats.org/drawingml/2006/main" noGrp="1"/>
          </p:cNvSpPr>
          <p:nvPr/>
        </p:nvSpPr>
        <p:spPr>
          <a:xfrm xmlns:a="http://schemas.openxmlformats.org/drawingml/2006/main">
            <a:off x="571500" y="59055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B4C7D7"/>
                </a:solidFill>
                <a:latin typeface="Liberation Sans"/>
                <a:ea typeface="Liberation Sans"/>
                <a:cs typeface="Liberation Sans"/>
              </a:defRPr>
            </a:defPPr>
          </a:lstStyle>
          <a:p xmlns:a="http://schemas.openxmlformats.org/drawingml/2006/main">
            <a:pPr>
              <a:defRPr sz="1800" b="1">
                <a:solidFill>
                  <a:srgbClr val="B4C7D7"/>
                </a:solidFill>
                <a:latin typeface="Liberation Sans"/>
                <a:ea typeface="Liberation Sans"/>
                <a:cs typeface="Liberation Sans"/>
              </a:defRPr>
            </a:pPr>
            <a:r>
              <a:rPr sz="1800" b="1">
                <a:solidFill>
                  <a:srgbClr val="B4C7D7"/>
                </a:solidFill>
                <a:latin typeface="Liberation Sans"/>
                <a:ea typeface="Liberation Sans"/>
                <a:cs typeface="Liberation Sans"/>
              </a:rPr>
              <a:t>No implementation, procurement or deployment approval is implied.</a:t>
            </a:r>
          </a:p>
        </p:txBody>
      </p:sp>
    </p:spTree>
    <p:extLst>
      <p:ext uri="{BB962C8B-B14F-4D97-AF65-F5344CB8AC3E}">
        <p14:creationId xmlns:p14="http://schemas.microsoft.com/office/powerpoint/2010/main" val="18139420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2026-10-07T00:15:51.5470000Z</dcterms:created>
  <dcterms:modified xsi:type="dcterms:W3CDTF">2026-10-07T00:15:51.5470000Z</dcterms:modified>
</coreProperties>
</file>