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a4a0281b2c455b" /><Relationship Type="http://schemas.openxmlformats.org/officeDocument/2006/relationships/extended-properties" Target="/docProps/app.xml" Id="R0428980eb43f4db2" /><Relationship Type="http://schemas.openxmlformats.org/officeDocument/2006/relationships/officeDocument" Target="/ppt/presentation.xml" Id="R5d0f5f0cecfe4796" /></Relationships>
</file>

<file path=ppt/presentation.xml><?xml version="1.0" encoding="utf-8"?>
<p:presentation xmlns:p="http://schemas.openxmlformats.org/presentationml/2006/main">
  <p:sldMasterIdLst>
    <p:sldMasterId xmlns:r="http://schemas.openxmlformats.org/officeDocument/2006/relationships" id="2147483648" r:id="Rf10efd610d834a4c"/>
  </p:sldMasterIdLst>
  <p:notesMasterIdLst>
    <p:notesMasterId xmlns:r="http://schemas.openxmlformats.org/officeDocument/2006/relationships" r:id="R4dda901661e94e96"/>
  </p:notesMasterIdLst>
  <p:sldIdLst>
    <p:sldId xmlns:r="http://schemas.openxmlformats.org/officeDocument/2006/relationships" id="256" r:id="Rf86d813d69f74d78"/>
    <p:sldId xmlns:r="http://schemas.openxmlformats.org/officeDocument/2006/relationships" id="257" r:id="R2634a5c927fd44b7"/>
    <p:sldId xmlns:r="http://schemas.openxmlformats.org/officeDocument/2006/relationships" id="258" r:id="R15b3bcf77d7349a9"/>
    <p:sldId xmlns:r="http://schemas.openxmlformats.org/officeDocument/2006/relationships" id="259" r:id="R1f16b57124e34e54"/>
    <p:sldId xmlns:r="http://schemas.openxmlformats.org/officeDocument/2006/relationships" id="260" r:id="R9df565ba4a864f21"/>
    <p:sldId xmlns:r="http://schemas.openxmlformats.org/officeDocument/2006/relationships" id="261" r:id="Rbf093085f58d4593"/>
    <p:sldId xmlns:r="http://schemas.openxmlformats.org/officeDocument/2006/relationships" id="262" r:id="Rcb9b728bec774b2b"/>
    <p:sldId xmlns:r="http://schemas.openxmlformats.org/officeDocument/2006/relationships" id="263" r:id="R097942bb82bb48c9"/>
    <p:sldId xmlns:r="http://schemas.openxmlformats.org/officeDocument/2006/relationships" id="264" r:id="Rab83487c6ff844b1"/>
    <p:sldId xmlns:r="http://schemas.openxmlformats.org/officeDocument/2006/relationships" id="265" r:id="R4501d0dc009b4311"/>
    <p:sldId xmlns:r="http://schemas.openxmlformats.org/officeDocument/2006/relationships" id="266" r:id="R507215be4c574d94"/>
    <p:sldId xmlns:r="http://schemas.openxmlformats.org/officeDocument/2006/relationships" id="267" r:id="Rd2a3939d820647bb"/>
    <p:sldId xmlns:r="http://schemas.openxmlformats.org/officeDocument/2006/relationships" id="268" r:id="Rc9c4c312bcd84d24"/>
    <p:sldId xmlns:r="http://schemas.openxmlformats.org/officeDocument/2006/relationships" id="269" r:id="R8df5539de52740d1"/>
    <p:sldId xmlns:r="http://schemas.openxmlformats.org/officeDocument/2006/relationships" id="270" r:id="Raa2f30ed196348f3"/>
    <p:sldId xmlns:r="http://schemas.openxmlformats.org/officeDocument/2006/relationships" id="271" r:id="Rb539faa354374691"/>
    <p:sldId xmlns:r="http://schemas.openxmlformats.org/officeDocument/2006/relationships" id="272" r:id="R595e3992d2f04718"/>
    <p:sldId xmlns:r="http://schemas.openxmlformats.org/officeDocument/2006/relationships" id="273" r:id="R82623094feb846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11b076228d47a6" /><Relationship Type="http://schemas.openxmlformats.org/officeDocument/2006/relationships/slideMaster" Target="/ppt/slideMasters/slideMaster1.xml" Id="Rf10efd610d834a4c" /><Relationship Type="http://schemas.openxmlformats.org/officeDocument/2006/relationships/notesMaster" Target="/ppt/notesMasters/notesMaster1.xml" Id="R4dda901661e94e96" /><Relationship Type="http://schemas.openxmlformats.org/officeDocument/2006/relationships/presProps" Target="/ppt/presProps.xml" Id="R380d9c51de0f4d86" /><Relationship Type="http://schemas.openxmlformats.org/officeDocument/2006/relationships/tableStyles" Target="/ppt/tableStyles.xml" Id="R79a51b09797d4dd3" /><Relationship Type="http://schemas.openxmlformats.org/officeDocument/2006/relationships/slide" Target="/ppt/slides/slide1.xml" Id="Rf86d813d69f74d78" /><Relationship Type="http://schemas.openxmlformats.org/officeDocument/2006/relationships/slide" Target="/ppt/slides/slide2.xml" Id="R2634a5c927fd44b7" /><Relationship Type="http://schemas.openxmlformats.org/officeDocument/2006/relationships/slide" Target="/ppt/slides/slide3.xml" Id="R15b3bcf77d7349a9" /><Relationship Type="http://schemas.openxmlformats.org/officeDocument/2006/relationships/slide" Target="/ppt/slides/slide4.xml" Id="R1f16b57124e34e54" /><Relationship Type="http://schemas.openxmlformats.org/officeDocument/2006/relationships/slide" Target="/ppt/slides/slide5.xml" Id="R9df565ba4a864f21" /><Relationship Type="http://schemas.openxmlformats.org/officeDocument/2006/relationships/slide" Target="/ppt/slides/slide6.xml" Id="Rbf093085f58d4593" /><Relationship Type="http://schemas.openxmlformats.org/officeDocument/2006/relationships/slide" Target="/ppt/slides/slide7.xml" Id="Rcb9b728bec774b2b" /><Relationship Type="http://schemas.openxmlformats.org/officeDocument/2006/relationships/slide" Target="/ppt/slides/slide8.xml" Id="R097942bb82bb48c9" /><Relationship Type="http://schemas.openxmlformats.org/officeDocument/2006/relationships/slide" Target="/ppt/slides/slide9.xml" Id="Rab83487c6ff844b1" /><Relationship Type="http://schemas.openxmlformats.org/officeDocument/2006/relationships/slide" Target="/ppt/slides/slide10.xml" Id="R4501d0dc009b4311" /><Relationship Type="http://schemas.openxmlformats.org/officeDocument/2006/relationships/slide" Target="/ppt/slides/slide11.xml" Id="R507215be4c574d94" /><Relationship Type="http://schemas.openxmlformats.org/officeDocument/2006/relationships/slide" Target="/ppt/slides/slide12.xml" Id="Rd2a3939d820647bb" /><Relationship Type="http://schemas.openxmlformats.org/officeDocument/2006/relationships/slide" Target="/ppt/slides/slide13.xml" Id="Rc9c4c312bcd84d24" /><Relationship Type="http://schemas.openxmlformats.org/officeDocument/2006/relationships/slide" Target="/ppt/slides/slide14.xml" Id="R8df5539de52740d1" /><Relationship Type="http://schemas.openxmlformats.org/officeDocument/2006/relationships/slide" Target="/ppt/slides/slide15.xml" Id="Raa2f30ed196348f3" /><Relationship Type="http://schemas.openxmlformats.org/officeDocument/2006/relationships/slide" Target="/ppt/slides/slide16.xml" Id="Rb539faa354374691" /><Relationship Type="http://schemas.openxmlformats.org/officeDocument/2006/relationships/slide" Target="/ppt/slides/slide17.xml" Id="R595e3992d2f04718" /><Relationship Type="http://schemas.openxmlformats.org/officeDocument/2006/relationships/slide" Target="/ppt/slides/slide18.xml" Id="R82623094feb846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6c6204979241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69ef3aa2864f6e" /><Relationship Type="http://schemas.openxmlformats.org/officeDocument/2006/relationships/notesMaster" Target="/ppt/notesMasters/notesMaster1.xml" Id="Rc6286644bf3d4e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02ceb0b7024778" /><Relationship Type="http://schemas.openxmlformats.org/officeDocument/2006/relationships/notesMaster" Target="/ppt/notesMasters/notesMaster1.xml" Id="R4d0868e6193d4f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7bed1625d54dbb" /><Relationship Type="http://schemas.openxmlformats.org/officeDocument/2006/relationships/notesMaster" Target="/ppt/notesMasters/notesMaster1.xml" Id="R33894566049b43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c4830dd9e1407f" /><Relationship Type="http://schemas.openxmlformats.org/officeDocument/2006/relationships/notesMaster" Target="/ppt/notesMasters/notesMaster1.xml" Id="R36ec435155fe40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6f38596c9f4eab" /><Relationship Type="http://schemas.openxmlformats.org/officeDocument/2006/relationships/notesMaster" Target="/ppt/notesMasters/notesMaster1.xml" Id="R6507e2c8289040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8c2ab247994d22" /><Relationship Type="http://schemas.openxmlformats.org/officeDocument/2006/relationships/notesMaster" Target="/ppt/notesMasters/notesMaster1.xml" Id="R3e6f8715b2ae46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0e1ac67f00407e" /><Relationship Type="http://schemas.openxmlformats.org/officeDocument/2006/relationships/notesMaster" Target="/ppt/notesMasters/notesMaster1.xml" Id="Re3932f1b072349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b9cc3f1dc740de" /><Relationship Type="http://schemas.openxmlformats.org/officeDocument/2006/relationships/notesMaster" Target="/ppt/notesMasters/notesMaster1.xml" Id="Rcc2a56eb055647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2640915df64856" /><Relationship Type="http://schemas.openxmlformats.org/officeDocument/2006/relationships/notesMaster" Target="/ppt/notesMasters/notesMaster1.xml" Id="R6ec3d74132ab4a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852504e9024c76" /><Relationship Type="http://schemas.openxmlformats.org/officeDocument/2006/relationships/notesMaster" Target="/ppt/notesMasters/notesMaster1.xml" Id="R0019c350f7b34f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a2bb59cac146dc" /><Relationship Type="http://schemas.openxmlformats.org/officeDocument/2006/relationships/notesMaster" Target="/ppt/notesMasters/notesMaster1.xml" Id="R8f5130971b1645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ce0304efca4ba8" /><Relationship Type="http://schemas.openxmlformats.org/officeDocument/2006/relationships/notesMaster" Target="/ppt/notesMasters/notesMaster1.xml" Id="R2b64b411e7bb4c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14962c795f4b66" /><Relationship Type="http://schemas.openxmlformats.org/officeDocument/2006/relationships/notesMaster" Target="/ppt/notesMasters/notesMaster1.xml" Id="R6c3eb165afbe49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81373ef7fd4082" /><Relationship Type="http://schemas.openxmlformats.org/officeDocument/2006/relationships/notesMaster" Target="/ppt/notesMasters/notesMaster1.xml" Id="R62d3bd1e377041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911fc4ab8e4806" /><Relationship Type="http://schemas.openxmlformats.org/officeDocument/2006/relationships/notesMaster" Target="/ppt/notesMasters/notesMaster1.xml" Id="Rb519fd7561ff4a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15921cba7d4dc6" /><Relationship Type="http://schemas.openxmlformats.org/officeDocument/2006/relationships/notesMaster" Target="/ppt/notesMasters/notesMaster1.xml" Id="R87af65ed5c9a42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472da06fd644e3" /><Relationship Type="http://schemas.openxmlformats.org/officeDocument/2006/relationships/notesMaster" Target="/ppt/notesMasters/notesMaster1.xml" Id="R5d1c12f84b7c43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e5b05220e74130" /><Relationship Type="http://schemas.openxmlformats.org/officeDocument/2006/relationships/notesMaster" Target="/ppt/notesMasters/notesMaster1.xml" Id="Rbc85f346b41042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review draft based on author revision abfaf501324deaefdf3c747b2d085544e37bb21c. EA v2 was changes required. This deck does not assert the outcome of a subsequent review. The confirmed 24-page source PDF and authoritative user clarification govern the proposal.</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https://github.com/luzviana/Partner-Portal/blob/abfaf501324deaefdf3c747b2d085544e37bb21c/docs/ngeni5/decision-brief.md</a:t>
            </a:r>
          </a:p>
          <a:p xmlns:a="http://schemas.openxmlformats.org/drawingml/2006/main">
            <a:r>
              <a:t>https://github.com/luzviana/Partner-Portal/blob/abfaf501324deaefdf3c747b2d085544e37bb21c/docs/ngeni5/source-evidence.md</a:t>
            </a:r>
          </a:p>
          <a:p xmlns:a="http://schemas.openxmlformats.org/drawingml/2006/main">
            <a:r>
              <a:t>https://github.com/luzviana/Partner-Portal/blob/abfaf501324deaefdf3c747b2d085544e37bb21c/docs/ngeni5/reviews/status.md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independent services and HubSpot retention are user requirements. Product/pricing master and physical sharing scope remain OD-02. Existing SSO selects Keycloak conditionally and assigns authorization to applications. None of the proposed deployment or vendor choices is approved.</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https://github.com/luzviana/Partner-Portal/blob/abfaf501324deaefdf3c747b2d085544e37bb21c/docs/ngeni5/proposal.md</a:t>
            </a:r>
          </a:p>
          <a:p xmlns:a="http://schemas.openxmlformats.org/drawingml/2006/main">
            <a:r>
              <a:t>https://github.com/luzviana/Partner-Portal/blob/abfaf501324deaefdf3c747b2d085544e37bb21c/docs/ngeni5/decision-brief.md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Independence is a business/service boundary, not necessarily a newly built microservice. SaaS equivalents need proof. Internal modules remain modules until separate runtime value is justified. Discovery observations do not replace iTop inventory authority.</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https://github.com/luzviana/Partner-Portal/blob/abfaf501324deaefdf3c747b2d085544e37bb21c/docs/ngeni5/service-boundaries.md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corporate navigation/public catalog with isolated solution/environment execution and state. IDs: partner, customer, solution, environment, service workspace and account-scoped CRM reference. Vendor tenant IDs and RLS alone do not prove restore/failure isolation. Revocation, export, backups and support access require evidence.</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https://github.com/luzviana/Partner-Portal/blob/abfaf501324deaefdf3c747b2d085544e37bb21c/docs/ngeni5/authority-and-lifecycle.md</a:t>
            </a:r>
          </a:p>
          <a:p xmlns:a="http://schemas.openxmlformats.org/drawingml/2006/main">
            <a:r>
              <a:t>https://github.com/luzviana/Partner-Portal/blob/abfaf501324deaefdf3c747b2d085544e37bb21c/docs/ngeni5/decisions/ADR-0005-solution-isolation.md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Provisional evaluation priority, no selected winner. Thin custom suits a deliberately narrow browse/select/quote pilot. Medusa may reduce primitive implementation; its edition/license scope needs verification. CloudBlue Commerce and Connect differ; metadata API is not evidence of complete quoting. EA research dated 2026-10-06. Primary sources: https://docs.medusajs.com/resources/commerce-modules/product ; https://docs.medusajs.com/resources/commerce-modules/pricing ; https://catalog.cloudblue.com/extensions/cloudblue-commerce/ ; https://connect.cloudblue.com/community/modules/catalog/ .</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https://github.com/luzviana/Partner-Portal/blob/abfaf501324deaefdf3c747b2d085544e37bb21c/docs/ngeni5/solution-analysis.md</a:t>
            </a:r>
          </a:p>
          <a:p xmlns:a="http://schemas.openxmlformats.org/drawingml/2006/main">
            <a:r>
              <a:t>https://github.com/luzviana/Partner-Portal/blob/abfaf501324deaefdf3c747b2d085544e37bb21c/docs/ngeni5/solution-research-evidence.md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routes must prevent native quote edits bypassing technical proof. Current HubSpot API approvals center on UI/workflows; account/version and rendering fit unverified. QuoteWerks integration is not proof of partner-facing contract or least privilege. Sources checked by EA: https://developers.hubspot.com/docs/api-reference/latest/crm/objects/quotes/guide ; https://info.quotewerks.com/knowledge-base/how-do-i-setup-the-hubspot-crm-integration ; https://docs.frappe.io/erpnext/quotation . No live account or prices inspected.</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https://github.com/luzviana/Partner-Portal/blob/abfaf501324deaefdf3c747b2d085544e37bb21c/docs/ngeni5/solution-analysis.md</a:t>
            </a:r>
          </a:p>
          <a:p xmlns:a="http://schemas.openxmlformats.org/drawingml/2006/main">
            <a:r>
              <a:t>https://github.com/luzviana/Partner-Portal/blob/abfaf501324deaefdf3c747b2d085544e37bb21c/docs/ngeni5/quote-and-crm-controls.md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Hamina OpenIntent omits survey and some port/power/geometry information; missing fields need governed enrichment. Custom geometry does not demonstrate RF accuracy. Imports do not prove active scanning. NetBox optional only after inventory/iTop ownership decision. Managed AI still needs owned workflows/grants; vLLM needs separate model rights and serving security. Sources: https://docs.hamina.com/hamina/live/openintent ; https://help.runzero.com/docs/leveraging-the-api/ ; https://help.runzero.com/docs/exporting-asset-data/ ; https://docs.aws.amazon.com/bedrock/latest/userguide/data-protection.html ; https://docs.vllm.ai/en/latest/usage/security/ .</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https://github.com/luzviana/Partner-Portal/blob/abfaf501324deaefdf3c747b2d085544e37bb21c/docs/ngeni5/solution-analysis.md</a:t>
            </a:r>
          </a:p>
          <a:p xmlns:a="http://schemas.openxmlformats.org/drawingml/2006/main">
            <a:r>
              <a:t>https://github.com/luzviana/Partner-Portal/blob/abfaf501324deaefdf3c747b2d085544e37bb21c/docs/ngeni5/solution-research-evidence.md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cross-product SQL. Exchange must have durable custodian and lifecycle whether module/adapter/service. OD-09 before R15. SSO direct login/application-local grants; portal visibility only a projection. Reporting is not a shared detailed customer CMDB. HubSpot remains CRM master; fields and grants require actual administrator agreement.</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https://github.com/luzviana/Partner-Portal/blob/abfaf501324deaefdf3c747b2d085544e37bb21c/docs/ngeni5/proposal.md</a:t>
            </a:r>
          </a:p>
          <a:p xmlns:a="http://schemas.openxmlformats.org/drawingml/2006/main">
            <a:r>
              <a:t>https://github.com/luzviana/Partner-Portal/blob/abfaf501324deaefdf3c747b2d085544e37bb21c/docs/ngeni5/service-boundaries.md</a:t>
            </a:r>
          </a:p>
          <a:p xmlns:a="http://schemas.openxmlformats.org/drawingml/2006/main">
            <a:r>
              <a:t>https://github.com/luzviana/Partner-Portal/blob/abfaf501324deaefdf3c747b2d085544e37bb21c/docs/ngeni5/contracts.md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changes invalidate the configuration digest/rule proof. Price-only changes require new price evidence and approval; unknown changes default to technical revalidation. Check expiry immediately before issue. Native CPQ publication must honor these controls. Timeout after successful CRM create with delayed search visibility enters Uncertain, then verified mapping or NeedsOperator. Absence from search cannot justify another create. Buyer acceptance/deal-won/order remain separate.</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https://github.com/luzviana/Partner-Portal/blob/abfaf501324deaefdf3c747b2d085544e37bb21c/docs/ngeni5/quote-and-crm-controls.md</a:t>
            </a:r>
          </a:p>
          <a:p xmlns:a="http://schemas.openxmlformats.org/drawingml/2006/main">
            <a:r>
              <a:t>https://github.com/luzviana/Partner-Portal/blob/abfaf501324deaefdf3c747b2d085544e37bb21c/docs/ngeni5/backlog.md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current checklist has passed. Real-use evidence includes approved SSO/client access, TLS/secrets/encryption, upload/SSRF/egress controls, redacted audit, credential rotation, incident owner and support elevation. Synthetic disposable state requires explicit owner-approved loss/teardown criteria. Numeric policies and recovery targets unset. R26 accepts prior gates; R47/R48 extend rather than introduce controls.</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https://github.com/luzviana/Partner-Portal/blob/abfaf501324deaefdf3c747b2d085544e37bb21c/docs/ngeni5/release-and-operations.md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fixed dates remain committed. R01-R08 P0, R09-R26 P1, R27-R39 P2, R40-R48 P3; R49/R50 later decisions. Unknown hard-gate evidence blocks candidate use; late RF/scanner tests cannot authorize earlier configuration. EA/user/owner/Security gates separate from functional phase acceptance.</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https://github.com/luzviana/Partner-Portal/blob/abfaf501324deaefdf3c747b2d085544e37bb21c/docs/ngeni5/release-and-operations.md</a:t>
            </a:r>
          </a:p>
          <a:p xmlns:a="http://schemas.openxmlformats.org/drawingml/2006/main">
            <a:r>
              <a:t>https://github.com/luzviana/Partner-Portal/blob/abfaf501324deaefdf3c747b2d085544e37bb21c/docs/ngeni5/backlog.md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bounded deferrals, not accepted exceptions. No feature implemented. Unsupported technical families cannot receive a technically-valid quote; narrow the pilot catalog accordingly. PDF pp14-15 human comparisons and p24 resources are not delivered by AI indexing alone. Deferred functions require owners, acceptance cases and funded small tasks before enablement or full strategy claims.</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https://github.com/luzviana/Partner-Portal/blob/abfaf501324deaefdf3c747b2d085544e37bb21c/docs/ngeni5/source-evidence.md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50-item seed totals 133 focused person-days. Old 8-FTE x 18–25-week envelope equals 144–200 person-weeks, 720–1000 person-days. The 587–867 day gap was unallocated, not validated contingency. Revised acceptance invalidates unchanged effort assumptions. No staffing/calendar/monetary/SLO commitment approved.</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https://github.com/luzviana/Partner-Portal/blob/abfaf501324deaefdf3c747b2d085544e37bb21c/docs/ngeni5/release-and-operations.md</a:t>
            </a:r>
          </a:p>
          <a:p xmlns:a="http://schemas.openxmlformats.org/drawingml/2006/main">
            <a:r>
              <a:t>https://github.com/luzviana/Partner-Portal/blob/abfaf501324deaefdf3c747b2d085544e37bb21c/docs/ngeni5/backlog.json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Deck baseline abfaf501324deaefdf3c747b2d085544e37bb21c responds to EA v2 commit 5b9fc35daad180e05ee564eb80bbf16eff6124bb. No later review outcome assumed. Coordinator owns EA routing. Design closure does not mean controls executed. No implementation, procurement, deployment or merge approval.</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https://github.com/luzviana/Partner-Portal/blob/abfaf501324deaefdf3c747b2d085544e37bb21c/docs/ngeni5/reviews/author-revision-1.md</a:t>
            </a:r>
          </a:p>
          <a:p xmlns:a="http://schemas.openxmlformats.org/drawingml/2006/main">
            <a:r>
              <a:t>https://github.com/luzviana/Partner-Portal/blob/abfaf501324deaefdf3c747b2d085544e37bb21c/docs/ngeni5/reviews/status.md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meeting should resolve owner and scope inputs for review. It does not silently authorize implementation. OD-01–OD-10 remain open. Record exact reviewed revision, approved scope and explicit authorization separately. No vendor is selected and no rights/prices invented.</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https://github.com/luzviana/Partner-Portal/blob/abfaf501324deaefdf3c747b2d085544e37bb21c/docs/ngeni5/decision-brief.md</a:t>
            </a:r>
          </a:p>
          <a:p xmlns:a="http://schemas.openxmlformats.org/drawingml/2006/main">
            <a:r>
              <a:t>https://github.com/luzviana/Partner-Portal/blob/abfaf501324deaefdf3c747b2d085544e37bb21c/docs/ngeni5/decisions/open-decisions.md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commercial values come from Commercial, not the vendor. Quote tests include country/currency/tax, discounts/margin, recurring term, rejected dependency, delayed CRM visibility and 20-page artifact. Multi-site:60 sites,40 profile targets,override,diff,repeat,rollback,historic quote unchanged. AI:50 domain plus adversarial cases. Hamina fidelity and runZero scoped export need candidate-specific proof. Unknown hard gates block selection or need explicit capability exclusion.</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https://github.com/luzviana/Partner-Portal/blob/abfaf501324deaefdf3c747b2d085544e37bb21c/docs/ngeni5/solution-analysis.md</a:t>
            </a:r>
          </a:p>
          <a:p xmlns:a="http://schemas.openxmlformats.org/drawingml/2006/main">
            <a:r>
              <a:t>https://github.com/luzviana/Partner-Portal/blob/abfaf501324deaefdf3c747b2d085544e37bb21c/docs/ngeni5/solution-research-evidence.md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TCO = implementation + integration + migration + 36*(licenses + cloud + support + stewardship + operations) + upgrades + assurance + exit. After hard gates pass, proposed weights:workflow30,integration25,TCO20,operations15,exit10 percent. Product/Commercial must ratify. Open-source edition/extensions and model rights must be checked; free license does not mean zero stewardship/support.</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https://github.com/luzviana/Partner-Portal/blob/abfaf501324deaefdf3c747b2d085544e37bb21c/docs/ngeni5/solution-analysis.md</a:t>
            </a:r>
          </a:p>
          <a:p xmlns:a="http://schemas.openxmlformats.org/drawingml/2006/main">
            <a:r>
              <a:t>https://github.com/luzviana/Partner-Portal/blob/abfaf501324deaefdf3c747b2d085544e37bb21c/docs/ngeni5/solution-research-evidence.md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inputs include pilot country/currency/tax/catalog, real versus synthetic, accepted exclusions, price master and quote authority, retention/revocation/cache/export/backup/hold durations and regions, account rights, supported SSO claims, cloud/on-call/budget, exchange owner and minimized lifecycle projection scope. Escalate to Cleber; never infer approval from silence.</a:t>
            </a:r>
          </a:p>
          <a:p xmlns:a="http://schemas.openxmlformats.org/drawingml/2006/main">
            <a:r>
              <a:t/>
            </a:r>
          </a:p>
          <a:p xmlns:a="http://schemas.openxmlformats.org/drawingml/2006/main">
            <a:r>
              <a:t>Sources</a:t>
            </a:r>
          </a:p>
          <a:p xmlns:a="http://schemas.openxmlformats.org/drawingml/2006/main">
            <a:r>
              <a:t>https://github.com/luzviana/Partner-Portal/blob/abfaf501324deaefdf3c747b2d085544e37bb21c/docs/ngeni5/decisions/open-decisions.md</a:t>
            </a:r>
          </a:p>
          <a:p xmlns:a="http://schemas.openxmlformats.org/drawingml/2006/main">
            <a:r>
              <a:t>https://github.com/luzviana/Partner-Portal/blob/abfaf501324deaefdf3c747b2d085544e37bb21c/docs/ngeni5/authority-and-lifecycle.md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2ea74f6fc343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95aa21785744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fbd16710164a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2a6f8fd06d44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c7d5d437674a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e8afe9f2f34d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B889B6-9E7C-4B71-8CFB-1746C0F5D3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6F30A3-C25B-4727-9205-9A8EE460C7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45241B-ABC4-400E-9F04-7F815403B7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32A95C-AA6D-4817-A4AC-38E54CCB50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425AA1-A5E6-4145-A574-DCF8917C74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A73CA4-1C05-4F23-A83C-766804812A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750C44-B2D7-40EE-A235-0ECAEC31C1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CF6500-570E-4E98-8A0A-4BE3D977F9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8E17FA-5F84-4F63-B418-E856729E75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AA6FC5-BDCD-49E3-9F67-E726E9F266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f4b5a536bb4633" /><Relationship Type="http://schemas.openxmlformats.org/officeDocument/2006/relationships/slideLayout" Target="/ppt/slideLayouts/slideLayout1.xml" Id="Ra2c1dd5f1ef64889" /><Relationship Type="http://schemas.openxmlformats.org/officeDocument/2006/relationships/slideLayout" Target="/ppt/slideLayouts/slideLayout2.xml" Id="R18c684826eb44629" /><Relationship Type="http://schemas.openxmlformats.org/officeDocument/2006/relationships/slideLayout" Target="/ppt/slideLayouts/slideLayout3.xml" Id="Re4754c9e8e094990" /><Relationship Type="http://schemas.openxmlformats.org/officeDocument/2006/relationships/slideLayout" Target="/ppt/slideLayouts/slideLayout4.xml" Id="R937c5bdb5e4d431f" /><Relationship Type="http://schemas.openxmlformats.org/officeDocument/2006/relationships/slideLayout" Target="/ppt/slideLayouts/slideLayout5.xml" Id="Rf7bc1c0049e44097" /><Relationship Type="http://schemas.openxmlformats.org/officeDocument/2006/relationships/slideLayout" Target="/ppt/slideLayouts/slideLayout6.xml" Id="Rc238e21c1e2442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c1dd5f1ef64889"/>
    <p:sldLayoutId xmlns:r="http://schemas.openxmlformats.org/officeDocument/2006/relationships" id="2147483650" r:id="R18c684826eb44629"/>
    <p:sldLayoutId xmlns:r="http://schemas.openxmlformats.org/officeDocument/2006/relationships" id="2147483651" r:id="Re4754c9e8e094990"/>
    <p:sldLayoutId xmlns:r="http://schemas.openxmlformats.org/officeDocument/2006/relationships" id="2147483652" r:id="R937c5bdb5e4d431f"/>
    <p:sldLayoutId xmlns:r="http://schemas.openxmlformats.org/officeDocument/2006/relationships" id="2147483653" r:id="Rf7bc1c0049e44097"/>
    <p:sldLayoutId xmlns:r="http://schemas.openxmlformats.org/officeDocument/2006/relationships" id="2147483654" r:id="Rc238e21c1e2442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f221eb4ec3405f" /><Relationship Type="http://schemas.openxmlformats.org/officeDocument/2006/relationships/notesSlide" Target="/ppt/notesSlides/notesSlide1.xml" Id="R91c739a872f444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c266349c9042e6" /><Relationship Type="http://schemas.openxmlformats.org/officeDocument/2006/relationships/notesSlide" Target="/ppt/notesSlides/notesSlide2.xml" Id="R7864a281420b4e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ee4aa2472048db" /><Relationship Type="http://schemas.openxmlformats.org/officeDocument/2006/relationships/notesSlide" Target="/ppt/notesSlides/notesSlide3.xml" Id="R3a32373b6a4e40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b7eb3f85474abe" /><Relationship Type="http://schemas.openxmlformats.org/officeDocument/2006/relationships/notesSlide" Target="/ppt/notesSlides/notesSlide4.xml" Id="Ree36cbd4c2d54d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ad96e00e004fbe" /><Relationship Type="http://schemas.openxmlformats.org/officeDocument/2006/relationships/notesSlide" Target="/ppt/notesSlides/notesSlide5.xml" Id="R38a97e85a7bc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b8023b1711496d" /><Relationship Type="http://schemas.openxmlformats.org/officeDocument/2006/relationships/notesSlide" Target="/ppt/notesSlides/notesSlide6.xml" Id="Rb3bd80d3b1fb43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8efca5658f409d" /><Relationship Type="http://schemas.openxmlformats.org/officeDocument/2006/relationships/notesSlide" Target="/ppt/notesSlides/notesSlide7.xml" Id="R4e9701f312e54c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28d324d7c54e62" /><Relationship Type="http://schemas.openxmlformats.org/officeDocument/2006/relationships/notesSlide" Target="/ppt/notesSlides/notesSlide8.xml" Id="Rf605023de34e4c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a75178ba9b46ef" /><Relationship Type="http://schemas.openxmlformats.org/officeDocument/2006/relationships/notesSlide" Target="/ppt/notesSlides/notesSlide9.xml" Id="R8725ef9ebab84f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077754437846e8" /><Relationship Type="http://schemas.openxmlformats.org/officeDocument/2006/relationships/notesSlide" Target="/ppt/notesSlides/notesSlide10.xml" Id="R24682fa8d6e84e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ea0fcfefaae4109" /><Relationship Type="http://schemas.openxmlformats.org/officeDocument/2006/relationships/notesSlide" Target="/ppt/notesSlides/notesSlide11.xml" Id="R67cc58b5e31d43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62a3910cac44f67" /><Relationship Type="http://schemas.openxmlformats.org/officeDocument/2006/relationships/notesSlide" Target="/ppt/notesSlides/notesSlide12.xml" Id="R2af88a10d3c44e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40f5deb57b43e8" /><Relationship Type="http://schemas.openxmlformats.org/officeDocument/2006/relationships/notesSlide" Target="/ppt/notesSlides/notesSlide13.xml" Id="Rea7e43bbf52440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da1de308b9f4cac" /><Relationship Type="http://schemas.openxmlformats.org/officeDocument/2006/relationships/notesSlide" Target="/ppt/notesSlides/notesSlide14.xml" Id="Rde1fd77a49e14d3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900029647440b8" /><Relationship Type="http://schemas.openxmlformats.org/officeDocument/2006/relationships/notesSlide" Target="/ppt/notesSlides/notesSlide15.xml" Id="Ra08e3ef764e34d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18270218e0142ef" /><Relationship Type="http://schemas.openxmlformats.org/officeDocument/2006/relationships/notesSlide" Target="/ppt/notesSlides/notesSlide16.xml" Id="R8cb145779fa845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4e3c31bb7c34c67" /><Relationship Type="http://schemas.openxmlformats.org/officeDocument/2006/relationships/notesSlide" Target="/ppt/notesSlides/notesSlide17.xml" Id="R30b3a0e3be564f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b4c1294d284d7f" /><Relationship Type="http://schemas.openxmlformats.org/officeDocument/2006/relationships/notesSlide" Target="/ppt/notesSlides/notesSlide18.xml" Id="R7807d106883b4225" /></Relationships>
</file>

<file path=ppt/slides/slide1.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2AC152-331B-4676-8F7D-318D88B677B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BBC3C742-EF82-477D-B11C-07C3CA307A1E}"/>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01</a:t>
            </a:r>
          </a:p>
        </p:txBody>
      </p:sp>
      <p:sp>
        <p:nvSpPr>
          <p:cNvPr id="3" name="">
            <a:extLst xmlns:a="http://schemas.openxmlformats.org/drawingml/2006/main">
              <a:ext uri="{FF2B5EF4-FFF2-40B4-BE49-F238E27FC236}">
                <a16:creationId xmlns:a16="http://schemas.microsoft.com/office/drawing/2014/main" id="{A14A531B-FFA7-4517-AD4F-30E6030FA0B5}"/>
              </a:ext>
            </a:extLst>
          </p:cNvPr>
          <p:cNvSpPr>
            <a:spLocks xmlns:a="http://schemas.openxmlformats.org/drawingml/2006/main" noGrp="1"/>
          </p:cNvSpPr>
          <p:nvPr/>
        </p:nvSpPr>
        <p:spPr>
          <a:xfrm xmlns:a="http://schemas.openxmlformats.org/drawingml/2006/main">
            <a:off x="571500" y="1524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100" b="1">
                <a:solidFill>
                  <a:srgbClr val="FFFFFF"/>
                </a:solidFill>
                <a:latin typeface="Liberation Sans"/>
                <a:ea typeface="Liberation Sans"/>
                <a:cs typeface="Liberation Sans"/>
              </a:defRPr>
            </a:defPPr>
          </a:lstStyle>
          <a:p xmlns:a="http://schemas.openxmlformats.org/drawingml/2006/main">
            <a:pPr>
              <a:defRPr sz="5100" b="1">
                <a:solidFill>
                  <a:srgbClr val="FFFFFF"/>
                </a:solidFill>
                <a:latin typeface="Liberation Sans"/>
                <a:ea typeface="Liberation Sans"/>
                <a:cs typeface="Liberation Sans"/>
              </a:defRPr>
            </a:pPr>
            <a:r>
              <a:rPr sz="5100" b="1">
                <a:solidFill>
                  <a:srgbClr val="FFFFFF"/>
                </a:solidFill>
                <a:latin typeface="Liberation Sans"/>
                <a:ea typeface="Liberation Sans"/>
                <a:cs typeface="Liberation Sans"/>
              </a:rPr>
              <a:t>Partner Portal</a:t>
            </a:r>
          </a:p>
        </p:txBody>
      </p:sp>
      <p:sp>
        <p:nvSpPr>
          <p:cNvPr id="4" name="">
            <a:extLst xmlns:a="http://schemas.openxmlformats.org/drawingml/2006/main">
              <a:ext uri="{FF2B5EF4-FFF2-40B4-BE49-F238E27FC236}">
                <a16:creationId xmlns:a16="http://schemas.microsoft.com/office/drawing/2014/main" id="{0D833FB0-37D0-4D91-B487-DD78C67CC8A1}"/>
              </a:ext>
            </a:extLst>
          </p:cNvPr>
          <p:cNvSpPr>
            <a:spLocks xmlns:a="http://schemas.openxmlformats.org/drawingml/2006/main" noGrp="1"/>
          </p:cNvSpPr>
          <p:nvPr/>
        </p:nvSpPr>
        <p:spPr>
          <a:xfrm xmlns:a="http://schemas.openxmlformats.org/drawingml/2006/main">
            <a:off x="571500" y="2809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0">
                <a:solidFill>
                  <a:srgbClr val="FFFFFF"/>
                </a:solidFill>
                <a:latin typeface="Liberation Sans"/>
                <a:ea typeface="Liberation Sans"/>
                <a:cs typeface="Liberation Sans"/>
              </a:defRPr>
            </a:defPPr>
          </a:lstStyle>
          <a:p xmlns:a="http://schemas.openxmlformats.org/drawingml/2006/main">
            <a:pPr>
              <a:defRPr sz="3375" b="0">
                <a:solidFill>
                  <a:srgbClr val="FFFFFF"/>
                </a:solidFill>
                <a:latin typeface="Liberation Sans"/>
                <a:ea typeface="Liberation Sans"/>
                <a:cs typeface="Liberation Sans"/>
              </a:defRPr>
            </a:pPr>
            <a:r>
              <a:rPr sz="3375" b="0">
                <a:solidFill>
                  <a:srgbClr val="FFFFFF"/>
                </a:solidFill>
                <a:latin typeface="Liberation Sans"/>
                <a:ea typeface="Liberation Sans"/>
                <a:cs typeface="Liberation Sans"/>
              </a:rPr>
              <a:t>Architecture and solution choices</a:t>
            </a:r>
          </a:p>
        </p:txBody>
      </p:sp>
      <p:sp>
        <p:nvSpPr>
          <p:cNvPr id="5" name="">
            <a:extLst xmlns:a="http://schemas.openxmlformats.org/drawingml/2006/main">
              <a:ext uri="{FF2B5EF4-FFF2-40B4-BE49-F238E27FC236}">
                <a16:creationId xmlns:a16="http://schemas.microsoft.com/office/drawing/2014/main" id="{56F20F4A-AD28-4F9B-A1E2-49D4EC8087B2}"/>
              </a:ext>
            </a:extLst>
          </p:cNvPr>
          <p:cNvSpPr>
            <a:spLocks xmlns:a="http://schemas.openxmlformats.org/drawingml/2006/main" noGrp="1"/>
          </p:cNvSpPr>
          <p:nvPr/>
        </p:nvSpPr>
        <p:spPr>
          <a:xfrm xmlns:a="http://schemas.openxmlformats.org/drawingml/2006/main">
            <a:off x="571500" y="4667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4C7D7"/>
                </a:solidFill>
                <a:latin typeface="Liberation Sans"/>
                <a:ea typeface="Liberation Sans"/>
                <a:cs typeface="Liberation Sans"/>
              </a:defRPr>
            </a:defPPr>
          </a:lstStyle>
          <a:p xmlns:a="http://schemas.openxmlformats.org/drawingml/2006/main">
            <a:pPr>
              <a:defRPr sz="2025" b="0">
                <a:solidFill>
                  <a:srgbClr val="B4C7D7"/>
                </a:solidFill>
                <a:latin typeface="Liberation Sans"/>
                <a:ea typeface="Liberation Sans"/>
                <a:cs typeface="Liberation Sans"/>
              </a:defRPr>
            </a:pPr>
            <a:r>
              <a:rPr sz="2025" b="0">
                <a:solidFill>
                  <a:srgbClr val="B4C7D7"/>
                </a:solidFill>
                <a:latin typeface="Liberation Sans"/>
                <a:ea typeface="Liberation Sans"/>
                <a:cs typeface="Liberation Sans"/>
              </a:rPr>
              <a:t>CTO discussion draft</a:t>
            </a:r>
          </a:p>
          <a:p xmlns:a="http://schemas.openxmlformats.org/drawingml/2006/main">
            <a:pPr>
              <a:defRPr sz="2025" b="0">
                <a:solidFill>
                  <a:srgbClr val="B4C7D7"/>
                </a:solidFill>
                <a:latin typeface="Liberation Sans"/>
                <a:ea typeface="Liberation Sans"/>
                <a:cs typeface="Liberation Sans"/>
              </a:defRPr>
            </a:pPr>
            <a:r>
              <a:rPr sz="2025" b="0">
                <a:solidFill>
                  <a:srgbClr val="B4C7D7"/>
                </a:solidFill>
                <a:latin typeface="Liberation Sans"/>
                <a:ea typeface="Liberation Sans"/>
                <a:cs typeface="Liberation Sans"/>
              </a:rPr>
              <a:t>6 October 2026</a:t>
            </a:r>
          </a:p>
        </p:txBody>
      </p:sp>
    </p:spTree>
    <p:extLst>
      <p:ext uri="{BB962C8B-B14F-4D97-AF65-F5344CB8AC3E}">
        <p14:creationId xmlns:p14="http://schemas.microsoft.com/office/powerpoint/2010/main" val="21087095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8984DB-0E20-4296-982B-BC6C20D5C5E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Proposed direction</a:t>
            </a:r>
          </a:p>
        </p:txBody>
      </p:sp>
      <p:sp>
        <p:nvSpPr>
          <p:cNvPr id="2" name="">
            <a:extLst xmlns:a="http://schemas.openxmlformats.org/drawingml/2006/main">
              <a:ext uri="{FF2B5EF4-FFF2-40B4-BE49-F238E27FC236}">
                <a16:creationId xmlns:a16="http://schemas.microsoft.com/office/drawing/2014/main" id="{BD886F7A-8908-4AA6-B087-CD1BE0EE9AE4}"/>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02</a:t>
            </a:r>
          </a:p>
        </p:txBody>
      </p:sp>
      <p:sp>
        <p:nvSpPr>
          <p:cNvPr id="3" name="">
            <a:extLst xmlns:a="http://schemas.openxmlformats.org/drawingml/2006/main">
              <a:ext uri="{FF2B5EF4-FFF2-40B4-BE49-F238E27FC236}">
                <a16:creationId xmlns:a16="http://schemas.microsoft.com/office/drawing/2014/main" id="{7C5CE029-EE18-4F1D-9E01-0BDDBBC705D4}"/>
              </a:ext>
            </a:extLst>
          </p:cNvPr>
          <p:cNvSpPr>
            <a:spLocks xmlns:a="http://schemas.openxmlformats.org/drawingml/2006/main" noGrp="1"/>
          </p:cNvSpPr>
          <p:nvPr/>
        </p:nvSpPr>
        <p:spPr>
          <a:xfrm xmlns:a="http://schemas.openxmlformats.org/drawingml/2006/main">
            <a:off x="571500" y="1524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5ADB"/>
                </a:solidFill>
                <a:latin typeface="Liberation Sans"/>
                <a:ea typeface="Liberation Sans"/>
                <a:cs typeface="Liberation Sans"/>
              </a:defRPr>
            </a:defPPr>
          </a:lstStyle>
          <a:p xmlns:a="http://schemas.openxmlformats.org/drawingml/2006/main">
            <a:pPr>
              <a:defRPr sz="2325" b="1">
                <a:solidFill>
                  <a:srgbClr val="185ADB"/>
                </a:solidFill>
                <a:latin typeface="Liberation Sans"/>
                <a:ea typeface="Liberation Sans"/>
                <a:cs typeface="Liberation Sans"/>
              </a:defRPr>
            </a:pPr>
            <a:r>
              <a:rPr sz="2325" b="1">
                <a:solidFill>
                  <a:srgbClr val="185ADB"/>
                </a:solidFill>
                <a:latin typeface="Liberation Sans"/>
                <a:ea typeface="Liberation Sans"/>
                <a:cs typeface="Liberation Sans"/>
              </a:rPr>
              <a:t>Five independently usable services</a:t>
            </a:r>
          </a:p>
        </p:txBody>
      </p:sp>
      <p:sp>
        <p:nvSpPr>
          <p:cNvPr id="4" name="">
            <a:extLst xmlns:a="http://schemas.openxmlformats.org/drawingml/2006/main">
              <a:ext uri="{FF2B5EF4-FFF2-40B4-BE49-F238E27FC236}">
                <a16:creationId xmlns:a16="http://schemas.microsoft.com/office/drawing/2014/main" id="{FCC8CA9B-9325-4664-8E1C-D9F0006C4A08}"/>
              </a:ext>
            </a:extLst>
          </p:cNvPr>
          <p:cNvSpPr>
            <a:spLocks xmlns:a="http://schemas.openxmlformats.org/drawingml/2006/main" noGrp="1"/>
          </p:cNvSpPr>
          <p:nvPr/>
        </p:nvSpPr>
        <p:spPr>
          <a:xfrm xmlns:a="http://schemas.openxmlformats.org/drawingml/2006/main">
            <a:off x="571500" y="20574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Marketplace, Floor Plan, Discovery, AI Solution Builder</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and Multi-Site Designer can use different solutions.</a:t>
            </a:r>
          </a:p>
        </p:txBody>
      </p:sp>
      <p:sp>
        <p:nvSpPr>
          <p:cNvPr id="5" name="">
            <a:extLst xmlns:a="http://schemas.openxmlformats.org/drawingml/2006/main">
              <a:ext uri="{FF2B5EF4-FFF2-40B4-BE49-F238E27FC236}">
                <a16:creationId xmlns:a16="http://schemas.microsoft.com/office/drawing/2014/main" id="{BC2C193C-5107-4014-ABFD-EB7FA5F958B4}"/>
              </a:ext>
            </a:extLst>
          </p:cNvPr>
          <p:cNvSpPr>
            <a:spLocks xmlns:a="http://schemas.openxmlformats.org/drawingml/2006/main" noGrp="1"/>
          </p:cNvSpPr>
          <p:nvPr/>
        </p:nvSpPr>
        <p:spPr>
          <a:xfrm xmlns:a="http://schemas.openxmlformats.org/drawingml/2006/main">
            <a:off x="571500" y="3476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5ADB"/>
                </a:solidFill>
                <a:latin typeface="Liberation Sans"/>
                <a:ea typeface="Liberation Sans"/>
                <a:cs typeface="Liberation Sans"/>
              </a:defRPr>
            </a:defPPr>
          </a:lstStyle>
          <a:p xmlns:a="http://schemas.openxmlformats.org/drawingml/2006/main">
            <a:pPr>
              <a:defRPr sz="2325" b="1">
                <a:solidFill>
                  <a:srgbClr val="185ADB"/>
                </a:solidFill>
                <a:latin typeface="Liberation Sans"/>
                <a:ea typeface="Liberation Sans"/>
                <a:cs typeface="Liberation Sans"/>
              </a:defRPr>
            </a:pPr>
            <a:r>
              <a:rPr sz="2325" b="1">
                <a:solidFill>
                  <a:srgbClr val="185ADB"/>
                </a:solidFill>
                <a:latin typeface="Liberation Sans"/>
                <a:ea typeface="Liberation Sans"/>
                <a:cs typeface="Liberation Sans"/>
              </a:rPr>
              <a:t>A portal that connects their workflows</a:t>
            </a:r>
          </a:p>
        </p:txBody>
      </p:sp>
      <p:sp>
        <p:nvSpPr>
          <p:cNvPr id="6" name="">
            <a:extLst xmlns:a="http://schemas.openxmlformats.org/drawingml/2006/main">
              <a:ext uri="{FF2B5EF4-FFF2-40B4-BE49-F238E27FC236}">
                <a16:creationId xmlns:a16="http://schemas.microsoft.com/office/drawing/2014/main" id="{E1A63156-864B-4792-9E85-268B8635B4EB}"/>
              </a:ext>
            </a:extLst>
          </p:cNvPr>
          <p:cNvSpPr>
            <a:spLocks xmlns:a="http://schemas.openxmlformats.org/drawingml/2006/main" noGrp="1"/>
          </p:cNvSpPr>
          <p:nvPr/>
        </p:nvSpPr>
        <p:spPr>
          <a:xfrm xmlns:a="http://schemas.openxmlformats.org/drawingml/2006/main">
            <a:off x="571500" y="40481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Governed product and pricing contracts support a common quote.</a:t>
            </a:r>
          </a:p>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HubSpot remains the CRM. Existing SSO supplies authentication.</a:t>
            </a:r>
          </a:p>
        </p:txBody>
      </p:sp>
      <p:sp>
        <p:nvSpPr>
          <p:cNvPr id="7" name="">
            <a:extLst xmlns:a="http://schemas.openxmlformats.org/drawingml/2006/main">
              <a:ext uri="{FF2B5EF4-FFF2-40B4-BE49-F238E27FC236}">
                <a16:creationId xmlns:a16="http://schemas.microsoft.com/office/drawing/2014/main" id="{4EB01EB4-F50D-4F65-953B-C28BD267D89E}"/>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Each application owns access permissions and supports direct entry.</a:t>
            </a:r>
          </a:p>
        </p:txBody>
      </p:sp>
    </p:spTree>
    <p:extLst>
      <p:ext uri="{BB962C8B-B14F-4D97-AF65-F5344CB8AC3E}">
        <p14:creationId xmlns:p14="http://schemas.microsoft.com/office/powerpoint/2010/main" val="8119576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8D390F-D69B-43E1-898A-48D5BE5FAD04}"/>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Independent service boundaries</a:t>
            </a:r>
          </a:p>
        </p:txBody>
      </p:sp>
      <p:sp>
        <p:nvSpPr>
          <p:cNvPr id="2" name="">
            <a:extLst xmlns:a="http://schemas.openxmlformats.org/drawingml/2006/main">
              <a:ext uri="{FF2B5EF4-FFF2-40B4-BE49-F238E27FC236}">
                <a16:creationId xmlns:a16="http://schemas.microsoft.com/office/drawing/2014/main" id="{433B8FC5-E1CB-493B-BAF7-95B51DF7B1D3}"/>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03</a:t>
            </a:r>
          </a:p>
        </p:txBody>
      </p:sp>
      <p:graphicFrame>
        <p:nvGraphicFramePr>
          <p:cNvPr id="3" name="">
            <a:extLst xmlns:a="http://schemas.openxmlformats.org/drawingml/2006/main">
              <a:ext uri="{FF2B5EF4-FFF2-40B4-BE49-F238E27FC236}">
                <a16:creationId xmlns:a16="http://schemas.microsoft.com/office/drawing/2014/main" id="{57105C8D-24F3-4D63-86AF-2193847E11BE}"/>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2524125"/>
                <a:gridCol w="4572000"/>
                <a:gridCol w="3952875"/>
              </a:tblGrid>
              <a:tr h="514350">
                <a:tc>
                  <a:txBody>
                    <a:bodyPr/>
                    <a:lstStyle/>
                    <a:p>
                      <a:r>
                        <a:rPr sz="1800" b="1">
                          <a:solidFill>
                            <a:srgbClr val="FFFFFF"/>
                          </a:solidFill>
                          <a:latin typeface="Liberation Sans"/>
                          <a:ea typeface="Liberation Sans"/>
                          <a:cs typeface="Liberation Sans"/>
                        </a:rPr>
                        <a:t>Service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Owned state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Handoff</a:t>
                      </a:r>
                    </a:p>
                  </a:txBody>
                  <a:tcPr marL="133350" marR="133350" marT="114300" marB="95250" anchor="ctr">
                    <a:solidFill>
                      <a:srgbClr val="123148"/>
                    </a:solidFill>
                  </a:tcPr>
                </a:tc>
              </a:tr>
              <a:tr h="716280">
                <a:tc>
                  <a:txBody>
                    <a:bodyPr/>
                    <a:lstStyle/>
                    <a:p>
                      <a:r>
                        <a:rPr sz="1800" b="0">
                          <a:solidFill>
                            <a:srgbClr val="142A3C"/>
                          </a:solidFill>
                          <a:latin typeface="Liberation Sans"/>
                          <a:ea typeface="Liberation Sans"/>
                          <a:cs typeface="Liberation Sans"/>
                        </a:rPr>
                        <a:t>Marketplace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Selections and comparisons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Canonical product selection</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Floor Plan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Plans, placements and simulations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Versioned design and BOM</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Discovery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Observations and assessments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Reviewed reuse/replacement</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AI Builder</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Conversations and grounded proposals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Human-reviewed changes</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Multi-Site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Sites, profiles and overrides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Expanded site BOM</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920228-9D4D-472F-86B8-449008C57738}"/>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Each service needs native access, its own operating owner and a supported exit.</a:t>
            </a:r>
          </a:p>
        </p:txBody>
      </p:sp>
    </p:spTree>
    <p:extLst>
      <p:ext uri="{BB962C8B-B14F-4D97-AF65-F5344CB8AC3E}">
        <p14:creationId xmlns:p14="http://schemas.microsoft.com/office/powerpoint/2010/main" val="15389279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35EC99-4974-4C50-9404-088580829FAE}"/>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Customer and solution protection</a:t>
            </a:r>
          </a:p>
        </p:txBody>
      </p:sp>
      <p:sp>
        <p:nvSpPr>
          <p:cNvPr id="2" name="">
            <a:extLst xmlns:a="http://schemas.openxmlformats.org/drawingml/2006/main">
              <a:ext uri="{FF2B5EF4-FFF2-40B4-BE49-F238E27FC236}">
                <a16:creationId xmlns:a16="http://schemas.microsoft.com/office/drawing/2014/main" id="{15DC8972-2D93-47B8-BC15-8BE57E78DEC7}"/>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04</a:t>
            </a:r>
          </a:p>
        </p:txBody>
      </p:sp>
      <p:graphicFrame>
        <p:nvGraphicFramePr>
          <p:cNvPr id="3" name="">
            <a:extLst xmlns:a="http://schemas.openxmlformats.org/drawingml/2006/main">
              <a:ext uri="{FF2B5EF4-FFF2-40B4-BE49-F238E27FC236}">
                <a16:creationId xmlns:a16="http://schemas.microsoft.com/office/drawing/2014/main" id="{62E3AD34-56E0-4A0F-A3BD-9271826468AC}"/>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4095750"/>
                <a:gridCol w="6953250"/>
              </a:tblGrid>
              <a:tr h="514350">
                <a:tc>
                  <a:txBody>
                    <a:bodyPr/>
                    <a:lstStyle/>
                    <a:p>
                      <a:r>
                        <a:rPr sz="1800" b="1">
                          <a:solidFill>
                            <a:srgbClr val="FFFFFF"/>
                          </a:solidFill>
                          <a:latin typeface="Liberation Sans"/>
                          <a:ea typeface="Liberation Sans"/>
                          <a:cs typeface="Liberation Sans"/>
                        </a:rPr>
                        <a:t>Case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Required boundary</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One partner, several customers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A customer grant never extends to another customer</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One customer, several collaborators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Each application checks the specific action and resource</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Detailed solution state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Isolate files, jobs, AI context, credentials and recovery</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Shared commercial information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Classify public products, negotiated prices and internal costs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E2CCB40F-8877-4DC3-A2FE-6864B6C60D00}"/>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Topology, policy durations and vendor recovery boundaries remain owner decisions.</a:t>
            </a:r>
          </a:p>
        </p:txBody>
      </p:sp>
    </p:spTree>
    <p:extLst>
      <p:ext uri="{BB962C8B-B14F-4D97-AF65-F5344CB8AC3E}">
        <p14:creationId xmlns:p14="http://schemas.microsoft.com/office/powerpoint/2010/main" val="11103383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54FE54-EBB6-40D4-A642-FFDF4753A95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Marketplace options</a:t>
            </a:r>
          </a:p>
        </p:txBody>
      </p:sp>
      <p:sp>
        <p:nvSpPr>
          <p:cNvPr id="2" name="">
            <a:extLst xmlns:a="http://schemas.openxmlformats.org/drawingml/2006/main">
              <a:ext uri="{FF2B5EF4-FFF2-40B4-BE49-F238E27FC236}">
                <a16:creationId xmlns:a16="http://schemas.microsoft.com/office/drawing/2014/main" id="{0A11707A-E04A-46CB-BD25-91AC5A5FA3AC}"/>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05</a:t>
            </a:r>
          </a:p>
        </p:txBody>
      </p:sp>
      <p:graphicFrame>
        <p:nvGraphicFramePr>
          <p:cNvPr id="3" name="">
            <a:extLst xmlns:a="http://schemas.openxmlformats.org/drawingml/2006/main">
              <a:ext uri="{FF2B5EF4-FFF2-40B4-BE49-F238E27FC236}">
                <a16:creationId xmlns:a16="http://schemas.microsoft.com/office/drawing/2014/main" id="{460C3C57-071B-4360-89D8-4DA0878E9DD9}"/>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2381250"/>
                <a:gridCol w="3762375"/>
                <a:gridCol w="4905375"/>
              </a:tblGrid>
              <a:tr h="514350">
                <a:tc>
                  <a:txBody>
                    <a:bodyPr/>
                    <a:lstStyle/>
                    <a:p>
                      <a:r>
                        <a:rPr sz="1800" b="1">
                          <a:solidFill>
                            <a:srgbClr val="FFFFFF"/>
                          </a:solidFill>
                          <a:latin typeface="Liberation Sans"/>
                          <a:ea typeface="Liberation Sans"/>
                          <a:cs typeface="Liberation Sans"/>
                        </a:rPr>
                        <a:t>Option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Advantage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Tradeoff / deciding evidence</a:t>
                      </a:r>
                    </a:p>
                  </a:txBody>
                  <a:tcPr marL="133350" marR="133350" marT="114300" marB="95250" anchor="ctr">
                    <a:solidFill>
                      <a:srgbClr val="123148"/>
                    </a:solidFill>
                  </a:tcPr>
                </a:tc>
              </a:tr>
              <a:tr h="1193800">
                <a:tc>
                  <a:txBody>
                    <a:bodyPr/>
                    <a:lstStyle/>
                    <a:p>
                      <a:r>
                        <a:rPr sz="1800" b="0">
                          <a:solidFill>
                            <a:srgbClr val="142A3C"/>
                          </a:solidFill>
                          <a:latin typeface="Liberation Sans"/>
                          <a:ea typeface="Liberation Sans"/>
                          <a:cs typeface="Liberation Sans"/>
                        </a:rPr>
                        <a:t>Thin custom</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Precise partner experience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Own catalog tools, permissions and support</a:t>
                      </a:r>
                    </a:p>
                  </a:txBody>
                  <a:tcPr marL="133350" marR="133350" marT="114300" marB="95250" anchor="ctr">
                    <a:solidFill>
                      <a:srgbClr val="FFFFFF"/>
                    </a:solidFill>
                  </a:tcPr>
                </a:tc>
              </a:tr>
              <a:tr h="1193800">
                <a:tc>
                  <a:txBody>
                    <a:bodyPr/>
                    <a:lstStyle/>
                    <a:p>
                      <a:r>
                        <a:rPr sz="1800" b="0">
                          <a:solidFill>
                            <a:srgbClr val="142A3C"/>
                          </a:solidFill>
                          <a:latin typeface="Liberation Sans"/>
                          <a:ea typeface="Liberation Sans"/>
                          <a:cs typeface="Liberation Sans"/>
                        </a:rPr>
                        <a:t>Medusa</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Reusable commerce foundations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Prove recurring terms, grants and price history</a:t>
                      </a:r>
                    </a:p>
                  </a:txBody>
                  <a:tcPr marL="133350" marR="133350" marT="114300" marB="95250" anchor="ctr">
                    <a:solidFill>
                      <a:srgbClr val="EFF4F8"/>
                    </a:solidFill>
                  </a:tcPr>
                </a:tc>
              </a:tr>
              <a:tr h="1193800">
                <a:tc>
                  <a:txBody>
                    <a:bodyPr/>
                    <a:lstStyle/>
                    <a:p>
                      <a:r>
                        <a:rPr sz="1800" b="0">
                          <a:solidFill>
                            <a:srgbClr val="142A3C"/>
                          </a:solidFill>
                          <a:latin typeface="Liberation Sans"/>
                          <a:ea typeface="Liberation Sans"/>
                          <a:cs typeface="Liberation Sans"/>
                        </a:rPr>
                        <a:t>CloudBlue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Channel and subscription scope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Verify purchased scope, rights and integration cost</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25A47D-4148-4A90-A28D-9C6BFD7D9C3F}"/>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Compare all three on the same offers, partner prices, revocation and export cases.</a:t>
            </a:r>
          </a:p>
        </p:txBody>
      </p:sp>
    </p:spTree>
    <p:extLst>
      <p:ext uri="{BB962C8B-B14F-4D97-AF65-F5344CB8AC3E}">
        <p14:creationId xmlns:p14="http://schemas.microsoft.com/office/powerpoint/2010/main" val="8263301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2B24D7-D2DA-4062-B57F-ED6E5EF10DC9}"/>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Quote authority options</a:t>
            </a:r>
          </a:p>
        </p:txBody>
      </p:sp>
      <p:sp>
        <p:nvSpPr>
          <p:cNvPr id="2" name="">
            <a:extLst xmlns:a="http://schemas.openxmlformats.org/drawingml/2006/main">
              <a:ext uri="{FF2B5EF4-FFF2-40B4-BE49-F238E27FC236}">
                <a16:creationId xmlns:a16="http://schemas.microsoft.com/office/drawing/2014/main" id="{666CDA92-F513-4F0C-B282-33C0644FD4A5}"/>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06</a:t>
            </a:r>
          </a:p>
        </p:txBody>
      </p:sp>
      <p:graphicFrame>
        <p:nvGraphicFramePr>
          <p:cNvPr id="3" name="">
            <a:extLst xmlns:a="http://schemas.openxmlformats.org/drawingml/2006/main">
              <a:ext uri="{FF2B5EF4-FFF2-40B4-BE49-F238E27FC236}">
                <a16:creationId xmlns:a16="http://schemas.microsoft.com/office/drawing/2014/main" id="{7528DF0C-DACB-4D2F-AE7D-1A60A7441E54}"/>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2238375"/>
                <a:gridCol w="3905250"/>
                <a:gridCol w="4905375"/>
              </a:tblGrid>
              <a:tr h="514350">
                <a:tc>
                  <a:txBody>
                    <a:bodyPr/>
                    <a:lstStyle/>
                    <a:p>
                      <a:r>
                        <a:rPr sz="1800" b="1">
                          <a:solidFill>
                            <a:srgbClr val="FFFFFF"/>
                          </a:solidFill>
                          <a:latin typeface="Liberation Sans"/>
                          <a:ea typeface="Liberation Sans"/>
                          <a:cs typeface="Liberation Sans"/>
                        </a:rPr>
                        <a:t>Option</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Advantage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Tradeoff / deciding evidence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HubSpot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Existing CRM relationship</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Prove entitlement, approvals and proposal fit</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QuoteWerks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Specialist quoting with CRM integration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Prove partner SSO, API rights and edit controls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ERPNext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Broader commercial lifecycle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Justify ERP scope and avoid competing masters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Custom</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Exact technical and revision controls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Own commercial correctness and maintenance</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239F9089-53CC-4499-A8BF-9C85A7B3CC84}"/>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Evaluate HubSpot and QuoteWerks first. Keep ERPNext conditional on a wider need.</a:t>
            </a:r>
          </a:p>
        </p:txBody>
      </p:sp>
    </p:spTree>
    <p:extLst>
      <p:ext uri="{BB962C8B-B14F-4D97-AF65-F5344CB8AC3E}">
        <p14:creationId xmlns:p14="http://schemas.microsoft.com/office/powerpoint/2010/main" val="12608884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3EC2B6-6385-4430-A352-DDB80361C0B6}"/>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Specialist service options</a:t>
            </a:r>
          </a:p>
        </p:txBody>
      </p:sp>
      <p:sp>
        <p:nvSpPr>
          <p:cNvPr id="2" name="">
            <a:extLst xmlns:a="http://schemas.openxmlformats.org/drawingml/2006/main">
              <a:ext uri="{FF2B5EF4-FFF2-40B4-BE49-F238E27FC236}">
                <a16:creationId xmlns:a16="http://schemas.microsoft.com/office/drawing/2014/main" id="{BADDE112-C94F-4C43-9AA7-ED05C70D481F}"/>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07</a:t>
            </a:r>
          </a:p>
        </p:txBody>
      </p:sp>
      <p:graphicFrame>
        <p:nvGraphicFramePr>
          <p:cNvPr id="3" name="">
            <a:extLst xmlns:a="http://schemas.openxmlformats.org/drawingml/2006/main">
              <a:ext uri="{FF2B5EF4-FFF2-40B4-BE49-F238E27FC236}">
                <a16:creationId xmlns:a16="http://schemas.microsoft.com/office/drawing/2014/main" id="{926AA568-A78D-4447-9682-D5CF4B03F719}"/>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2143125"/>
                <a:gridCol w="4191000"/>
                <a:gridCol w="4714875"/>
              </a:tblGrid>
              <a:tr h="514350">
                <a:tc>
                  <a:txBody>
                    <a:bodyPr/>
                    <a:lstStyle/>
                    <a:p>
                      <a:r>
                        <a:rPr sz="1800" b="1">
                          <a:solidFill>
                            <a:srgbClr val="FFFFFF"/>
                          </a:solidFill>
                          <a:latin typeface="Liberation Sans"/>
                          <a:ea typeface="Liberation Sans"/>
                          <a:cs typeface="Liberation Sans"/>
                        </a:rPr>
                        <a:t>Service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Alternatives</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Evaluation direction</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Floor Plan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Hamina/incumbent or custom editor</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Specialist proof before custom RF</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Discovery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runZero, imports or custom scanner</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Compare scoped discovery with import pilot</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AI Builder</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Managed inference or vLLM</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Same quality, privacy and cost tests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Multi-Site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Custom or vendor extension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Compare profile and override semantics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4949CDC4-894C-4700-8C09-DB3F1B7E1435}"/>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Each option must pass rights, SSO, isolation, handoff and operating gates.</a:t>
            </a:r>
          </a:p>
        </p:txBody>
      </p:sp>
    </p:spTree>
    <p:extLst>
      <p:ext uri="{BB962C8B-B14F-4D97-AF65-F5344CB8AC3E}">
        <p14:creationId xmlns:p14="http://schemas.microsoft.com/office/powerpoint/2010/main" val="2028911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F653CF-1A74-446A-9C07-7E2FEC8C9327}"/>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Integration and source ownership</a:t>
            </a:r>
          </a:p>
        </p:txBody>
      </p:sp>
      <p:sp>
        <p:nvSpPr>
          <p:cNvPr id="2" name="">
            <a:extLst xmlns:a="http://schemas.openxmlformats.org/drawingml/2006/main">
              <a:ext uri="{FF2B5EF4-FFF2-40B4-BE49-F238E27FC236}">
                <a16:creationId xmlns:a16="http://schemas.microsoft.com/office/drawing/2014/main" id="{657DA4AB-583F-4A1E-B45B-119811EF7FFF}"/>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08</a:t>
            </a:r>
          </a:p>
        </p:txBody>
      </p:sp>
      <p:graphicFrame>
        <p:nvGraphicFramePr>
          <p:cNvPr id="3" name="">
            <a:extLst xmlns:a="http://schemas.openxmlformats.org/drawingml/2006/main">
              <a:ext uri="{FF2B5EF4-FFF2-40B4-BE49-F238E27FC236}">
                <a16:creationId xmlns:a16="http://schemas.microsoft.com/office/drawing/2014/main" id="{ABDE740B-10C3-43B4-9315-098F32D9D080}"/>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333750"/>
                <a:gridCol w="7715250"/>
              </a:tblGrid>
              <a:tr h="514350">
                <a:tc>
                  <a:txBody>
                    <a:bodyPr/>
                    <a:lstStyle/>
                    <a:p>
                      <a:r>
                        <a:rPr sz="1800" b="1">
                          <a:solidFill>
                            <a:srgbClr val="FFFFFF"/>
                          </a:solidFill>
                          <a:latin typeface="Liberation Sans"/>
                          <a:ea typeface="Liberation Sans"/>
                          <a:cs typeface="Liberation Sans"/>
                        </a:rPr>
                        <a:t>Capability</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Proposed contract and responsibility</a:t>
                      </a:r>
                    </a:p>
                  </a:txBody>
                  <a:tcPr marL="133350" marR="133350" marT="114300" marB="95250" anchor="ctr">
                    <a:solidFill>
                      <a:srgbClr val="123148"/>
                    </a:solidFill>
                  </a:tcPr>
                </a:tc>
              </a:tr>
              <a:tr h="716280">
                <a:tc>
                  <a:txBody>
                    <a:bodyPr/>
                    <a:lstStyle/>
                    <a:p>
                      <a:r>
                        <a:rPr sz="1800" b="0">
                          <a:solidFill>
                            <a:srgbClr val="142A3C"/>
                          </a:solidFill>
                          <a:latin typeface="Liberation Sans"/>
                          <a:ea typeface="Liberation Sans"/>
                          <a:cs typeface="Liberation Sans"/>
                        </a:rPr>
                        <a:t>Product and pricing</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One field writer, eligible APIs and governed exports</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Package handoff</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Versioned source and canonical IDs with scoped receipt</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Quote and proposal</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One authority owns exact revisions and issued totals</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HubSpot adapter</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Scoped mappings and a durable reconciliation ledger</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Lifecycle and reporting</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Minimized projections with source-owned references</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22A4FE8-8937-4DC9-8BFD-53E60C0537E8}"/>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Exchange deployment remains open: provider module, adapter or separate service.</a:t>
            </a:r>
          </a:p>
        </p:txBody>
      </p:sp>
    </p:spTree>
    <p:extLst>
      <p:ext uri="{BB962C8B-B14F-4D97-AF65-F5344CB8AC3E}">
        <p14:creationId xmlns:p14="http://schemas.microsoft.com/office/powerpoint/2010/main" val="6266724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0E326C-94D2-44E5-93CC-CE5F26FE84A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Quote integrity and CRM uncertainty</a:t>
            </a:r>
          </a:p>
        </p:txBody>
      </p:sp>
      <p:sp>
        <p:nvSpPr>
          <p:cNvPr id="2" name="">
            <a:extLst xmlns:a="http://schemas.openxmlformats.org/drawingml/2006/main">
              <a:ext uri="{FF2B5EF4-FFF2-40B4-BE49-F238E27FC236}">
                <a16:creationId xmlns:a16="http://schemas.microsoft.com/office/drawing/2014/main" id="{D47DC994-8764-40D3-BD33-3FEC8565D8E7}"/>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09</a:t>
            </a:r>
          </a:p>
        </p:txBody>
      </p:sp>
      <p:sp>
        <p:nvSpPr>
          <p:cNvPr id="3" name="">
            <a:extLst xmlns:a="http://schemas.openxmlformats.org/drawingml/2006/main">
              <a:ext uri="{FF2B5EF4-FFF2-40B4-BE49-F238E27FC236}">
                <a16:creationId xmlns:a16="http://schemas.microsoft.com/office/drawing/2014/main" id="{9B3813DF-22B3-43F9-8488-2A8A87CE6CDB}"/>
              </a:ext>
            </a:extLst>
          </p:cNvPr>
          <p:cNvSpPr>
            <a:spLocks xmlns:a="http://schemas.openxmlformats.org/drawingml/2006/main" noGrp="1"/>
          </p:cNvSpPr>
          <p:nvPr/>
        </p:nvSpPr>
        <p:spPr>
          <a:xfrm xmlns:a="http://schemas.openxmlformats.org/drawingml/2006/main">
            <a:off x="571500" y="14763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5ADB"/>
                </a:solidFill>
                <a:latin typeface="Liberation Sans"/>
                <a:ea typeface="Liberation Sans"/>
                <a:cs typeface="Liberation Sans"/>
              </a:defRPr>
            </a:defPPr>
          </a:lstStyle>
          <a:p xmlns:a="http://schemas.openxmlformats.org/drawingml/2006/main">
            <a:pPr>
              <a:defRPr sz="2325" b="1">
                <a:solidFill>
                  <a:srgbClr val="185ADB"/>
                </a:solidFill>
                <a:latin typeface="Liberation Sans"/>
                <a:ea typeface="Liberation Sans"/>
                <a:cs typeface="Liberation Sans"/>
              </a:defRPr>
            </a:pPr>
            <a:r>
              <a:rPr sz="2325" b="1">
                <a:solidFill>
                  <a:srgbClr val="185ADB"/>
                </a:solidFill>
                <a:latin typeface="Liberation Sans"/>
                <a:ea typeface="Liberation Sans"/>
                <a:cs typeface="Liberation Sans"/>
              </a:rPr>
              <a:t>Exact configuration, exact approval</a:t>
            </a:r>
          </a:p>
        </p:txBody>
      </p:sp>
      <p:sp>
        <p:nvSpPr>
          <p:cNvPr id="4" name="">
            <a:extLst xmlns:a="http://schemas.openxmlformats.org/drawingml/2006/main">
              <a:ext uri="{FF2B5EF4-FFF2-40B4-BE49-F238E27FC236}">
                <a16:creationId xmlns:a16="http://schemas.microsoft.com/office/drawing/2014/main" id="{1E785B7C-2764-44C8-8C20-F2D4012E8F43}"/>
              </a:ext>
            </a:extLst>
          </p:cNvPr>
          <p:cNvSpPr>
            <a:spLocks xmlns:a="http://schemas.openxmlformats.org/drawingml/2006/main" noGrp="1"/>
          </p:cNvSpPr>
          <p:nvPr/>
        </p:nvSpPr>
        <p:spPr>
          <a:xfrm xmlns:a="http://schemas.openxmlformats.org/drawingml/2006/main">
            <a:off x="571500" y="2047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A native CPQ edit that removes required switching or licensing</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must invalidate technical approval before the quote can issue.</a:t>
            </a:r>
          </a:p>
        </p:txBody>
      </p:sp>
      <p:sp>
        <p:nvSpPr>
          <p:cNvPr id="5" name="">
            <a:extLst xmlns:a="http://schemas.openxmlformats.org/drawingml/2006/main">
              <a:ext uri="{FF2B5EF4-FFF2-40B4-BE49-F238E27FC236}">
                <a16:creationId xmlns:a16="http://schemas.microsoft.com/office/drawing/2014/main" id="{32D1BCF1-38D1-4A78-A9B7-4775936537F3}"/>
              </a:ext>
            </a:extLst>
          </p:cNvPr>
          <p:cNvSpPr>
            <a:spLocks xmlns:a="http://schemas.openxmlformats.org/drawingml/2006/main" noGrp="1"/>
          </p:cNvSpPr>
          <p:nvPr/>
        </p:nvSpPr>
        <p:spPr>
          <a:xfrm xmlns:a="http://schemas.openxmlformats.org/drawingml/2006/main">
            <a:off x="571500" y="35718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5ADB"/>
                </a:solidFill>
                <a:latin typeface="Liberation Sans"/>
                <a:ea typeface="Liberation Sans"/>
                <a:cs typeface="Liberation Sans"/>
              </a:defRPr>
            </a:defPPr>
          </a:lstStyle>
          <a:p xmlns:a="http://schemas.openxmlformats.org/drawingml/2006/main">
            <a:pPr>
              <a:defRPr sz="2325" b="1">
                <a:solidFill>
                  <a:srgbClr val="185ADB"/>
                </a:solidFill>
                <a:latin typeface="Liberation Sans"/>
                <a:ea typeface="Liberation Sans"/>
                <a:cs typeface="Liberation Sans"/>
              </a:defRPr>
            </a:pPr>
            <a:r>
              <a:rPr sz="2325" b="1">
                <a:solidFill>
                  <a:srgbClr val="185ADB"/>
                </a:solidFill>
                <a:latin typeface="Liberation Sans"/>
                <a:ea typeface="Liberation Sans"/>
                <a:cs typeface="Liberation Sans"/>
              </a:rPr>
              <a:t>A timeout can hide a successful CRM write</a:t>
            </a:r>
          </a:p>
        </p:txBody>
      </p:sp>
      <p:sp>
        <p:nvSpPr>
          <p:cNvPr id="6" name="">
            <a:extLst xmlns:a="http://schemas.openxmlformats.org/drawingml/2006/main">
              <a:ext uri="{FF2B5EF4-FFF2-40B4-BE49-F238E27FC236}">
                <a16:creationId xmlns:a16="http://schemas.microsoft.com/office/drawing/2014/main" id="{DE41B45A-5F86-4767-8B11-439265E9A96E}"/>
              </a:ext>
            </a:extLst>
          </p:cNvPr>
          <p:cNvSpPr>
            <a:spLocks xmlns:a="http://schemas.openxmlformats.org/drawingml/2006/main" noGrp="1"/>
          </p:cNvSpPr>
          <p:nvPr/>
        </p:nvSpPr>
        <p:spPr>
          <a:xfrm xmlns:a="http://schemas.openxmlformats.org/drawingml/2006/main">
            <a:off x="571500" y="4143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Reconcile the existing command and remote result.</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Escalate uncertainty without creating a duplicate.</a:t>
            </a:r>
          </a:p>
        </p:txBody>
      </p:sp>
      <p:sp>
        <p:nvSpPr>
          <p:cNvPr id="7" name="">
            <a:extLst xmlns:a="http://schemas.openxmlformats.org/drawingml/2006/main">
              <a:ext uri="{FF2B5EF4-FFF2-40B4-BE49-F238E27FC236}">
                <a16:creationId xmlns:a16="http://schemas.microsoft.com/office/drawing/2014/main" id="{C20F878E-B984-4C6D-942F-184D2ECE8051}"/>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Future release tests include native edits, price expiry and delayed CRM visibility.</a:t>
            </a:r>
          </a:p>
        </p:txBody>
      </p:sp>
    </p:spTree>
    <p:extLst>
      <p:ext uri="{BB962C8B-B14F-4D97-AF65-F5344CB8AC3E}">
        <p14:creationId xmlns:p14="http://schemas.microsoft.com/office/powerpoint/2010/main" val="5410442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25654C-0A4F-4485-9559-FB1F5BD40B89}"/>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First-use security and operations</a:t>
            </a:r>
          </a:p>
        </p:txBody>
      </p:sp>
      <p:sp>
        <p:nvSpPr>
          <p:cNvPr id="2" name="">
            <a:extLst xmlns:a="http://schemas.openxmlformats.org/drawingml/2006/main">
              <a:ext uri="{FF2B5EF4-FFF2-40B4-BE49-F238E27FC236}">
                <a16:creationId xmlns:a16="http://schemas.microsoft.com/office/drawing/2014/main" id="{2DC2F185-8221-4B38-A448-D1B9E87565A9}"/>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10</a:t>
            </a:r>
          </a:p>
        </p:txBody>
      </p:sp>
      <p:graphicFrame>
        <p:nvGraphicFramePr>
          <p:cNvPr id="3" name="">
            <a:extLst xmlns:a="http://schemas.openxmlformats.org/drawingml/2006/main">
              <a:ext uri="{FF2B5EF4-FFF2-40B4-BE49-F238E27FC236}">
                <a16:creationId xmlns:a16="http://schemas.microsoft.com/office/drawing/2014/main" id="{92A94DC2-ECDB-4FF3-A4AD-0C628F53F139}"/>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714750"/>
                <a:gridCol w="7334250"/>
              </a:tblGrid>
              <a:tr h="514350">
                <a:tc>
                  <a:txBody>
                    <a:bodyPr/>
                    <a:lstStyle/>
                    <a:p>
                      <a:r>
                        <a:rPr sz="1800" b="1">
                          <a:solidFill>
                            <a:srgbClr val="FFFFFF"/>
                          </a:solidFill>
                          <a:latin typeface="Liberation Sans"/>
                          <a:ea typeface="Liberation Sans"/>
                          <a:cs typeface="Liberation Sans"/>
                        </a:rPr>
                        <a:t>Exposure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Evidence before use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Synthetic development</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Fabricated data, restricted scope and exact teardown</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Real identities or customer data</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Accepted grants, data policies and named operators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Files, imports and AI fetching</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Quarantine, resource limits and controlled network access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Support and recovery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Attributed access, isolated restore and revoked-grant replay</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5B03A7C9-70EC-45AC-94A0-35BC5A0F5B81}"/>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Each service passes its gate before exposure. Later hardening cannot replace it.</a:t>
            </a:r>
          </a:p>
        </p:txBody>
      </p:sp>
    </p:spTree>
    <p:extLst>
      <p:ext uri="{BB962C8B-B14F-4D97-AF65-F5344CB8AC3E}">
        <p14:creationId xmlns:p14="http://schemas.microsoft.com/office/powerpoint/2010/main" val="612669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3F2730-9ECA-4CE5-856C-D24998A2B91B}"/>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Phased delivery with evidence gates</a:t>
            </a:r>
          </a:p>
        </p:txBody>
      </p:sp>
      <p:sp>
        <p:nvSpPr>
          <p:cNvPr id="2" name="">
            <a:extLst xmlns:a="http://schemas.openxmlformats.org/drawingml/2006/main">
              <a:ext uri="{FF2B5EF4-FFF2-40B4-BE49-F238E27FC236}">
                <a16:creationId xmlns:a16="http://schemas.microsoft.com/office/drawing/2014/main" id="{4E22EF33-3821-434A-B68C-3D3EB6C56950}"/>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11</a:t>
            </a:r>
          </a:p>
        </p:txBody>
      </p:sp>
      <p:graphicFrame>
        <p:nvGraphicFramePr>
          <p:cNvPr id="3" name="">
            <a:extLst xmlns:a="http://schemas.openxmlformats.org/drawingml/2006/main">
              <a:ext uri="{FF2B5EF4-FFF2-40B4-BE49-F238E27FC236}">
                <a16:creationId xmlns:a16="http://schemas.microsoft.com/office/drawing/2014/main" id="{120F89BB-CD85-49A4-8A47-9413835BB207}"/>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1333500"/>
                <a:gridCol w="4572000"/>
                <a:gridCol w="5143500"/>
              </a:tblGrid>
              <a:tr h="514350">
                <a:tc>
                  <a:txBody>
                    <a:bodyPr/>
                    <a:lstStyle/>
                    <a:p>
                      <a:r>
                        <a:rPr sz="1800" b="1">
                          <a:solidFill>
                            <a:srgbClr val="FFFFFF"/>
                          </a:solidFill>
                          <a:latin typeface="Liberation Sans"/>
                          <a:ea typeface="Liberation Sans"/>
                          <a:cs typeface="Liberation Sans"/>
                        </a:rPr>
                        <a:t>Phase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Planned outcome</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Exit evidence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P0</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Scope, authorities and candidate evaluation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Owners, vendor proof and funded work breakdown</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P1</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Marketplace, quote and HubSpot pilot</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Valid quote, reconciliation and isolated recovery</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P2</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Independent thin service workflows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Native access and safe package handoffs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P3</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Specialist and lifecycle/report extensions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New capability scope, exit and operating proof</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23D55E6C-95B8-4B41-9174-51C330F3319A}"/>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Calendar commitments follow re-estimation. Each first-use gate also applies within phases.</a:t>
            </a:r>
          </a:p>
        </p:txBody>
      </p:sp>
    </p:spTree>
    <p:extLst>
      <p:ext uri="{BB962C8B-B14F-4D97-AF65-F5344CB8AC3E}">
        <p14:creationId xmlns:p14="http://schemas.microsoft.com/office/powerpoint/2010/main" val="20963140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28EFE3-9D90-4EFE-BDB5-5D3C3F5FC8F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Pilot scope and proposed exclusions</a:t>
            </a:r>
          </a:p>
        </p:txBody>
      </p:sp>
      <p:sp>
        <p:nvSpPr>
          <p:cNvPr id="2" name="">
            <a:extLst xmlns:a="http://schemas.openxmlformats.org/drawingml/2006/main">
              <a:ext uri="{FF2B5EF4-FFF2-40B4-BE49-F238E27FC236}">
                <a16:creationId xmlns:a16="http://schemas.microsoft.com/office/drawing/2014/main" id="{79CE06FE-300E-45BA-B071-BED68505DFC3}"/>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12</a:t>
            </a:r>
          </a:p>
        </p:txBody>
      </p:sp>
      <p:graphicFrame>
        <p:nvGraphicFramePr>
          <p:cNvPr id="3" name="">
            <a:extLst xmlns:a="http://schemas.openxmlformats.org/drawingml/2006/main">
              <a:ext uri="{FF2B5EF4-FFF2-40B4-BE49-F238E27FC236}">
                <a16:creationId xmlns:a16="http://schemas.microsoft.com/office/drawing/2014/main" id="{7D7ED668-1F99-4AFB-A70B-404AB0BECFAD}"/>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5238750"/>
                <a:gridCol w="5810250"/>
              </a:tblGrid>
              <a:tr h="514350">
                <a:tc>
                  <a:txBody>
                    <a:bodyPr/>
                    <a:lstStyle/>
                    <a:p>
                      <a:r>
                        <a:rPr sz="1800" b="1">
                          <a:solidFill>
                            <a:srgbClr val="FFFFFF"/>
                          </a:solidFill>
                          <a:latin typeface="Liberation Sans"/>
                          <a:ea typeface="Liberation Sans"/>
                          <a:cs typeface="Liberation Sans"/>
                        </a:rPr>
                        <a:t>Thin pilot includes</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Expansion needs separate scope</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Eligible offers and selection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Human battle-card and resource experiences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Calibrated planning and supported handoff</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Non-Wi-Fi planning and specialist accuracy</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Seed technical rules and quote integrity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GPU, SD-WAN, IoT and additional rule families</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Selected lifecycle/report slices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Complete customer lifecycle and report suite</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30FF9DBB-270E-4883-9C2B-726C5ABF3A84}"/>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Product and Cleber must accept narrowed scope or fund its expansion.</a:t>
            </a:r>
          </a:p>
        </p:txBody>
      </p:sp>
    </p:spTree>
    <p:extLst>
      <p:ext uri="{BB962C8B-B14F-4D97-AF65-F5344CB8AC3E}">
        <p14:creationId xmlns:p14="http://schemas.microsoft.com/office/powerpoint/2010/main" val="2798688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94BD9E-302F-4968-AF3A-46A4F9C6716C}"/>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Estimate and ownership inputs</a:t>
            </a:r>
          </a:p>
        </p:txBody>
      </p:sp>
      <p:sp>
        <p:nvSpPr>
          <p:cNvPr id="2" name="">
            <a:extLst xmlns:a="http://schemas.openxmlformats.org/drawingml/2006/main">
              <a:ext uri="{FF2B5EF4-FFF2-40B4-BE49-F238E27FC236}">
                <a16:creationId xmlns:a16="http://schemas.microsoft.com/office/drawing/2014/main" id="{94A87145-D246-4B7D-A8A2-FD952D814C29}"/>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13</a:t>
            </a:r>
          </a:p>
        </p:txBody>
      </p:sp>
      <p:sp>
        <p:nvSpPr>
          <p:cNvPr id="3" name="">
            <a:extLst xmlns:a="http://schemas.openxmlformats.org/drawingml/2006/main">
              <a:ext uri="{FF2B5EF4-FFF2-40B4-BE49-F238E27FC236}">
                <a16:creationId xmlns:a16="http://schemas.microsoft.com/office/drawing/2014/main" id="{1CBCFBED-EA58-4250-94DD-4EA5F8DC1EB4}"/>
              </a:ext>
            </a:extLst>
          </p:cNvPr>
          <p:cNvSpPr>
            <a:spLocks xmlns:a="http://schemas.openxmlformats.org/drawingml/2006/main" noGrp="1"/>
          </p:cNvSpPr>
          <p:nvPr/>
        </p:nvSpPr>
        <p:spPr>
          <a:xfrm xmlns:a="http://schemas.openxmlformats.org/drawingml/2006/main">
            <a:off x="571500" y="1524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85ADB"/>
                </a:solidFill>
                <a:latin typeface="Liberation Sans"/>
                <a:ea typeface="Liberation Sans"/>
                <a:cs typeface="Liberation Sans"/>
              </a:defRPr>
            </a:defPPr>
          </a:lstStyle>
          <a:p xmlns:a="http://schemas.openxmlformats.org/drawingml/2006/main">
            <a:pPr>
              <a:defRPr sz="2550" b="1">
                <a:solidFill>
                  <a:srgbClr val="185ADB"/>
                </a:solidFill>
                <a:latin typeface="Liberation Sans"/>
                <a:ea typeface="Liberation Sans"/>
                <a:cs typeface="Liberation Sans"/>
              </a:defRPr>
            </a:pPr>
            <a:r>
              <a:rPr sz="2550" b="1">
                <a:solidFill>
                  <a:srgbClr val="185ADB"/>
                </a:solidFill>
                <a:latin typeface="Liberation Sans"/>
                <a:ea typeface="Liberation Sans"/>
                <a:cs typeface="Liberation Sans"/>
              </a:rPr>
              <a:t>133 historical seed person-days</a:t>
            </a:r>
          </a:p>
        </p:txBody>
      </p:sp>
      <p:sp>
        <p:nvSpPr>
          <p:cNvPr id="4" name="">
            <a:extLst xmlns:a="http://schemas.openxmlformats.org/drawingml/2006/main">
              <a:ext uri="{FF2B5EF4-FFF2-40B4-BE49-F238E27FC236}">
                <a16:creationId xmlns:a16="http://schemas.microsoft.com/office/drawing/2014/main" id="{44329A79-E5FE-4371-8915-4949801853C3}"/>
              </a:ext>
            </a:extLst>
          </p:cNvPr>
          <p:cNvSpPr>
            <a:spLocks xmlns:a="http://schemas.openxmlformats.org/drawingml/2006/main" noGrp="1"/>
          </p:cNvSpPr>
          <p:nvPr/>
        </p:nvSpPr>
        <p:spPr>
          <a:xfrm xmlns:a="http://schemas.openxmlformats.org/drawingml/2006/main">
            <a:off x="571500" y="21431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A3C"/>
                </a:solidFill>
                <a:latin typeface="Liberation Sans"/>
                <a:ea typeface="Liberation Sans"/>
                <a:cs typeface="Liberation Sans"/>
              </a:defRPr>
            </a:defPPr>
          </a:lstStyle>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Expanded acceptance needs new task sizing.</a:t>
            </a:r>
          </a:p>
          <a:p xmlns:a="http://schemas.openxmlformats.org/drawingml/2006/main">
            <a:pPr>
              <a:defRPr sz="2250" b="0">
                <a:solidFill>
                  <a:srgbClr val="142A3C"/>
                </a:solidFill>
                <a:latin typeface="Liberation Sans"/>
                <a:ea typeface="Liberation Sans"/>
                <a:cs typeface="Liberation Sans"/>
              </a:defRPr>
            </a:pPr>
            <a:r>
              <a:rPr sz="2250" b="0">
                <a:solidFill>
                  <a:srgbClr val="142A3C"/>
                </a:solidFill>
                <a:latin typeface="Liberation Sans"/>
                <a:ea typeface="Liberation Sans"/>
                <a:cs typeface="Liberation Sans"/>
              </a:rPr>
              <a:t>The earlier program envelope was a different, unreconciled scope.</a:t>
            </a:r>
          </a:p>
        </p:txBody>
      </p:sp>
      <p:sp>
        <p:nvSpPr>
          <p:cNvPr id="5" name="">
            <a:extLst xmlns:a="http://schemas.openxmlformats.org/drawingml/2006/main">
              <a:ext uri="{FF2B5EF4-FFF2-40B4-BE49-F238E27FC236}">
                <a16:creationId xmlns:a16="http://schemas.microsoft.com/office/drawing/2014/main" id="{890D154E-85E0-481A-A5ED-B05DFD26C8DA}"/>
              </a:ext>
            </a:extLst>
          </p:cNvPr>
          <p:cNvSpPr>
            <a:spLocks xmlns:a="http://schemas.openxmlformats.org/drawingml/2006/main" noGrp="1"/>
          </p:cNvSpPr>
          <p:nvPr/>
        </p:nvSpPr>
        <p:spPr>
          <a:xfrm xmlns:a="http://schemas.openxmlformats.org/drawingml/2006/main">
            <a:off x="571500" y="3762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85ADB"/>
                </a:solidFill>
                <a:latin typeface="Liberation Sans"/>
                <a:ea typeface="Liberation Sans"/>
                <a:cs typeface="Liberation Sans"/>
              </a:defRPr>
            </a:defPPr>
          </a:lstStyle>
          <a:p xmlns:a="http://schemas.openxmlformats.org/drawingml/2006/main">
            <a:pPr>
              <a:defRPr sz="2325" b="1">
                <a:solidFill>
                  <a:srgbClr val="185ADB"/>
                </a:solidFill>
                <a:latin typeface="Liberation Sans"/>
                <a:ea typeface="Liberation Sans"/>
                <a:cs typeface="Liberation Sans"/>
              </a:defRPr>
            </a:pPr>
            <a:r>
              <a:rPr sz="2325" b="1">
                <a:solidFill>
                  <a:srgbClr val="185ADB"/>
                </a:solidFill>
                <a:latin typeface="Liberation Sans"/>
                <a:ea typeface="Liberation Sans"/>
                <a:cs typeface="Liberation Sans"/>
              </a:rPr>
              <a:t>A credible plan needs accountable capacity</a:t>
            </a:r>
          </a:p>
        </p:txBody>
      </p:sp>
      <p:sp>
        <p:nvSpPr>
          <p:cNvPr id="6" name="">
            <a:extLst xmlns:a="http://schemas.openxmlformats.org/drawingml/2006/main">
              <a:ext uri="{FF2B5EF4-FFF2-40B4-BE49-F238E27FC236}">
                <a16:creationId xmlns:a16="http://schemas.microsoft.com/office/drawing/2014/main" id="{170D0E85-6E02-4EDB-9101-1B693F9C7354}"/>
              </a:ext>
            </a:extLst>
          </p:cNvPr>
          <p:cNvSpPr>
            <a:spLocks xmlns:a="http://schemas.openxmlformats.org/drawingml/2006/main" noGrp="1"/>
          </p:cNvSpPr>
          <p:nvPr/>
        </p:nvSpPr>
        <p:spPr>
          <a:xfrm xmlns:a="http://schemas.openxmlformats.org/drawingml/2006/main">
            <a:off x="571500" y="43338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A3C"/>
                </a:solidFill>
                <a:latin typeface="Liberation Sans"/>
                <a:ea typeface="Liberation Sans"/>
                <a:cs typeface="Liberation Sans"/>
              </a:defRPr>
            </a:defPPr>
          </a:lstStyle>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Include vendor lead times, commercial stewardship, security,</a:t>
            </a:r>
          </a:p>
          <a:p xmlns:a="http://schemas.openxmlformats.org/drawingml/2006/main">
            <a:pPr>
              <a:defRPr sz="2175" b="0">
                <a:solidFill>
                  <a:srgbClr val="142A3C"/>
                </a:solidFill>
                <a:latin typeface="Liberation Sans"/>
                <a:ea typeface="Liberation Sans"/>
                <a:cs typeface="Liberation Sans"/>
              </a:defRPr>
            </a:pPr>
            <a:r>
              <a:rPr sz="2175" b="0">
                <a:solidFill>
                  <a:srgbClr val="142A3C"/>
                </a:solidFill>
                <a:latin typeface="Liberation Sans"/>
                <a:ea typeface="Liberation Sans"/>
                <a:cs typeface="Liberation Sans"/>
              </a:rPr>
              <a:t>service operations and ongoing support in the funding decision.</a:t>
            </a:r>
          </a:p>
        </p:txBody>
      </p:sp>
      <p:sp>
        <p:nvSpPr>
          <p:cNvPr id="7" name="">
            <a:extLst xmlns:a="http://schemas.openxmlformats.org/drawingml/2006/main">
              <a:ext uri="{FF2B5EF4-FFF2-40B4-BE49-F238E27FC236}">
                <a16:creationId xmlns:a16="http://schemas.microsoft.com/office/drawing/2014/main" id="{8D12F460-3A93-4875-BF4C-B9EADA4DC33C}"/>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No current calendar, budget or numerical reliability commitment.</a:t>
            </a:r>
          </a:p>
        </p:txBody>
      </p:sp>
    </p:spTree>
    <p:extLst>
      <p:ext uri="{BB962C8B-B14F-4D97-AF65-F5344CB8AC3E}">
        <p14:creationId xmlns:p14="http://schemas.microsoft.com/office/powerpoint/2010/main" val="18069993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3F4B8A-5F8A-4C7B-AC95-25D6CF5BD265}"/>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EA review and implementation gates</a:t>
            </a:r>
          </a:p>
        </p:txBody>
      </p:sp>
      <p:sp>
        <p:nvSpPr>
          <p:cNvPr id="2" name="">
            <a:extLst xmlns:a="http://schemas.openxmlformats.org/drawingml/2006/main">
              <a:ext uri="{FF2B5EF4-FFF2-40B4-BE49-F238E27FC236}">
                <a16:creationId xmlns:a16="http://schemas.microsoft.com/office/drawing/2014/main" id="{DDDF135A-8439-4E91-B923-311F95E715EE}"/>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14</a:t>
            </a:r>
          </a:p>
        </p:txBody>
      </p:sp>
      <p:graphicFrame>
        <p:nvGraphicFramePr>
          <p:cNvPr id="3" name="">
            <a:extLst xmlns:a="http://schemas.openxmlformats.org/drawingml/2006/main">
              <a:ext uri="{FF2B5EF4-FFF2-40B4-BE49-F238E27FC236}">
                <a16:creationId xmlns:a16="http://schemas.microsoft.com/office/drawing/2014/main" id="{5B8F1A95-AAE2-489B-849F-5709B640D47D}"/>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4191000"/>
                <a:gridCol w="6858000"/>
              </a:tblGrid>
              <a:tr h="514350">
                <a:tc>
                  <a:txBody>
                    <a:bodyPr/>
                    <a:lstStyle/>
                    <a:p>
                      <a:r>
                        <a:rPr sz="1800" b="1">
                          <a:solidFill>
                            <a:srgbClr val="FFFFFF"/>
                          </a:solidFill>
                          <a:latin typeface="Liberation Sans"/>
                          <a:ea typeface="Liberation Sans"/>
                          <a:cs typeface="Liberation Sans"/>
                        </a:rPr>
                        <a:t>Status</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Meaning for this proposal</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EA v2: five blockers remained</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Isolation, lifecycle, vendors, quote integrity and first use</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Author revision supplied</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Design and backlog corrections await exact-commit review</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SSO ownership resolved in design</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Provider acceptance and runtime evidence still pending</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Implementation approval pending</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Separate user and applicable owner/Security gates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AE01CB6E-4BC5-4D09-B49E-58214C1A69B2}"/>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No blocker waiver or accepted exception is recorded in this deck’s source baseline.</a:t>
            </a:r>
          </a:p>
        </p:txBody>
      </p:sp>
    </p:spTree>
    <p:extLst>
      <p:ext uri="{BB962C8B-B14F-4D97-AF65-F5344CB8AC3E}">
        <p14:creationId xmlns:p14="http://schemas.microsoft.com/office/powerpoint/2010/main" val="318331603"/>
      </p:ext>
    </p:extLst>
  </p:cSld>
</p:sld>
</file>

<file path=ppt/slides/slide15.xml><?xml version="1.0" encoding="utf-8"?>
<p:sld xmlns:p="http://schemas.openxmlformats.org/presentationml/2006/main">
  <p:cSld>
    <p:bg>
      <p:bgPr>
        <a:solidFill xmlns:a="http://schemas.openxmlformats.org/drawingml/2006/main">
          <a:srgbClr val="12314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9EF4C7-17E3-4253-B084-F6E338C49E15}"/>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Liberation Sans"/>
                <a:ea typeface="Liberation Sans"/>
                <a:cs typeface="Liberation Sans"/>
              </a:defRPr>
            </a:defPPr>
          </a:lstStyle>
          <a:p xmlns:a="http://schemas.openxmlformats.org/drawingml/2006/main">
            <a:pPr>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Decisions for the CTO discussion</a:t>
            </a:r>
          </a:p>
        </p:txBody>
      </p:sp>
      <p:sp>
        <p:nvSpPr>
          <p:cNvPr id="2" name="">
            <a:extLst xmlns:a="http://schemas.openxmlformats.org/drawingml/2006/main">
              <a:ext uri="{FF2B5EF4-FFF2-40B4-BE49-F238E27FC236}">
                <a16:creationId xmlns:a16="http://schemas.microsoft.com/office/drawing/2014/main" id="{2BC4DFDF-9150-47CB-A8A4-51C0F1FA6845}"/>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4C7D7"/>
                </a:solidFill>
                <a:latin typeface="Liberation Sans"/>
                <a:ea typeface="Liberation Sans"/>
                <a:cs typeface="Liberation Sans"/>
              </a:defRPr>
            </a:defPPr>
          </a:lstStyle>
          <a:p xmlns:a="http://schemas.openxmlformats.org/drawingml/2006/main">
            <a:pPr>
              <a:defRPr sz="1200" b="0">
                <a:solidFill>
                  <a:srgbClr val="B4C7D7"/>
                </a:solidFill>
                <a:latin typeface="Liberation Sans"/>
                <a:ea typeface="Liberation Sans"/>
                <a:cs typeface="Liberation Sans"/>
              </a:defRPr>
            </a:pPr>
            <a:r>
              <a:rPr sz="1200" b="0">
                <a:solidFill>
                  <a:srgbClr val="B4C7D7"/>
                </a:solidFill>
                <a:latin typeface="Liberation Sans"/>
                <a:ea typeface="Liberation Sans"/>
                <a:cs typeface="Liberation Sans"/>
              </a:rPr>
              <a:t>15</a:t>
            </a:r>
          </a:p>
        </p:txBody>
      </p:sp>
      <p:sp>
        <p:nvSpPr>
          <p:cNvPr id="3" name="">
            <a:extLst xmlns:a="http://schemas.openxmlformats.org/drawingml/2006/main">
              <a:ext uri="{FF2B5EF4-FFF2-40B4-BE49-F238E27FC236}">
                <a16:creationId xmlns:a16="http://schemas.microsoft.com/office/drawing/2014/main" id="{C4519A60-0637-46CE-8F69-33DFE22B0916}"/>
              </a:ext>
            </a:extLst>
          </p:cNvPr>
          <p:cNvSpPr>
            <a:spLocks xmlns:a="http://schemas.openxmlformats.org/drawingml/2006/main" noGrp="1"/>
          </p:cNvSpPr>
          <p:nvPr/>
        </p:nvSpPr>
        <p:spPr>
          <a:xfrm xmlns:a="http://schemas.openxmlformats.org/drawingml/2006/main">
            <a:off x="571500" y="15716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Accountable people for commercial, data and service ownership</a:t>
            </a:r>
          </a:p>
        </p:txBody>
      </p:sp>
      <p:sp>
        <p:nvSpPr>
          <p:cNvPr id="4" name="">
            <a:extLst xmlns:a="http://schemas.openxmlformats.org/drawingml/2006/main">
              <a:ext uri="{FF2B5EF4-FFF2-40B4-BE49-F238E27FC236}">
                <a16:creationId xmlns:a16="http://schemas.microsoft.com/office/drawing/2014/main" id="{75F7D7FC-2F26-4B81-8D64-A69ADF1F59CD}"/>
              </a:ext>
            </a:extLst>
          </p:cNvPr>
          <p:cNvSpPr>
            <a:spLocks xmlns:a="http://schemas.openxmlformats.org/drawingml/2006/main" noGrp="1"/>
          </p:cNvSpPr>
          <p:nvPr/>
        </p:nvSpPr>
        <p:spPr>
          <a:xfrm xmlns:a="http://schemas.openxmlformats.org/drawingml/2006/main">
            <a:off x="571500" y="26003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Pilot users, data, countries and included capabilities</a:t>
            </a:r>
          </a:p>
        </p:txBody>
      </p:sp>
      <p:sp>
        <p:nvSpPr>
          <p:cNvPr id="5" name="">
            <a:extLst xmlns:a="http://schemas.openxmlformats.org/drawingml/2006/main">
              <a:ext uri="{FF2B5EF4-FFF2-40B4-BE49-F238E27FC236}">
                <a16:creationId xmlns:a16="http://schemas.microsoft.com/office/drawing/2014/main" id="{D352B395-636F-41E4-98C6-6499E49C8019}"/>
              </a:ext>
            </a:extLst>
          </p:cNvPr>
          <p:cNvSpPr>
            <a:spLocks xmlns:a="http://schemas.openxmlformats.org/drawingml/2006/main" noGrp="1"/>
          </p:cNvSpPr>
          <p:nvPr/>
        </p:nvSpPr>
        <p:spPr>
          <a:xfrm xmlns:a="http://schemas.openxmlformats.org/drawingml/2006/main">
            <a:off x="571500" y="36290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Evidence required to select vendors and commercial authorities</a:t>
            </a:r>
          </a:p>
        </p:txBody>
      </p:sp>
      <p:sp>
        <p:nvSpPr>
          <p:cNvPr id="6" name="">
            <a:extLst xmlns:a="http://schemas.openxmlformats.org/drawingml/2006/main">
              <a:ext uri="{FF2B5EF4-FFF2-40B4-BE49-F238E27FC236}">
                <a16:creationId xmlns:a16="http://schemas.microsoft.com/office/drawing/2014/main" id="{6F96C06D-C0ED-444C-9882-918187549824}"/>
              </a:ext>
            </a:extLst>
          </p:cNvPr>
          <p:cNvSpPr>
            <a:spLocks xmlns:a="http://schemas.openxmlformats.org/drawingml/2006/main" noGrp="1"/>
          </p:cNvSpPr>
          <p:nvPr/>
        </p:nvSpPr>
        <p:spPr>
          <a:xfrm xmlns:a="http://schemas.openxmlformats.org/drawingml/2006/main">
            <a:off x="571500" y="46577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Liberation Sans"/>
                <a:ea typeface="Liberation Sans"/>
                <a:cs typeface="Liberation Sans"/>
              </a:defRPr>
            </a:defPPr>
          </a:lstStyle>
          <a:p xmlns:a="http://schemas.openxmlformats.org/drawingml/2006/main">
            <a:pPr>
              <a:defRPr sz="2325" b="0">
                <a:solidFill>
                  <a:srgbClr val="FFFFFF"/>
                </a:solidFill>
                <a:latin typeface="Liberation Sans"/>
                <a:ea typeface="Liberation Sans"/>
                <a:cs typeface="Liberation Sans"/>
              </a:defRPr>
            </a:pPr>
            <a:r>
              <a:rPr sz="2325" b="0">
                <a:solidFill>
                  <a:srgbClr val="FFFFFF"/>
                </a:solidFill>
                <a:latin typeface="Liberation Sans"/>
                <a:ea typeface="Liberation Sans"/>
                <a:cs typeface="Liberation Sans"/>
              </a:rPr>
              <a:t>Capacity and cost inputs for a funded delivery plan</a:t>
            </a:r>
          </a:p>
        </p:txBody>
      </p:sp>
      <p:sp>
        <p:nvSpPr>
          <p:cNvPr id="7" name="">
            <a:extLst xmlns:a="http://schemas.openxmlformats.org/drawingml/2006/main">
              <a:ext uri="{FF2B5EF4-FFF2-40B4-BE49-F238E27FC236}">
                <a16:creationId xmlns:a16="http://schemas.microsoft.com/office/drawing/2014/main" id="{112AE204-26F1-445A-AD1F-7B5BAA73C143}"/>
              </a:ext>
            </a:extLst>
          </p:cNvPr>
          <p:cNvSpPr>
            <a:spLocks xmlns:a="http://schemas.openxmlformats.org/drawingml/2006/main" noGrp="1"/>
          </p:cNvSpPr>
          <p:nvPr/>
        </p:nvSpPr>
        <p:spPr>
          <a:xfrm xmlns:a="http://schemas.openxmlformats.org/drawingml/2006/main">
            <a:off x="571500" y="59055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4C7D7"/>
                </a:solidFill>
                <a:latin typeface="Liberation Sans"/>
                <a:ea typeface="Liberation Sans"/>
                <a:cs typeface="Liberation Sans"/>
              </a:defRPr>
            </a:defPPr>
          </a:lstStyle>
          <a:p xmlns:a="http://schemas.openxmlformats.org/drawingml/2006/main">
            <a:pPr>
              <a:defRPr sz="1800" b="1">
                <a:solidFill>
                  <a:srgbClr val="B4C7D7"/>
                </a:solidFill>
                <a:latin typeface="Liberation Sans"/>
                <a:ea typeface="Liberation Sans"/>
                <a:cs typeface="Liberation Sans"/>
              </a:defRPr>
            </a:pPr>
            <a:r>
              <a:rPr sz="1800" b="1">
                <a:solidFill>
                  <a:srgbClr val="B4C7D7"/>
                </a:solidFill>
                <a:latin typeface="Liberation Sans"/>
                <a:ea typeface="Liberation Sans"/>
                <a:cs typeface="Liberation Sans"/>
              </a:rPr>
              <a:t>Implementation waits for EA review and explicit scope approval.</a:t>
            </a:r>
          </a:p>
        </p:txBody>
      </p:sp>
    </p:spTree>
    <p:extLst>
      <p:ext uri="{BB962C8B-B14F-4D97-AF65-F5344CB8AC3E}">
        <p14:creationId xmlns:p14="http://schemas.microsoft.com/office/powerpoint/2010/main" val="18579482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2576DD-9E80-4DBB-B295-2EFA6EEB39B8}"/>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Appendix: comparable vendor proof</a:t>
            </a:r>
          </a:p>
        </p:txBody>
      </p:sp>
      <p:sp>
        <p:nvSpPr>
          <p:cNvPr id="2" name="">
            <a:extLst xmlns:a="http://schemas.openxmlformats.org/drawingml/2006/main">
              <a:ext uri="{FF2B5EF4-FFF2-40B4-BE49-F238E27FC236}">
                <a16:creationId xmlns:a16="http://schemas.microsoft.com/office/drawing/2014/main" id="{BC1E12AE-0C8D-462C-8210-DE5F67605CAB}"/>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16</a:t>
            </a:r>
          </a:p>
        </p:txBody>
      </p:sp>
      <p:graphicFrame>
        <p:nvGraphicFramePr>
          <p:cNvPr id="3" name="">
            <a:extLst xmlns:a="http://schemas.openxmlformats.org/drawingml/2006/main">
              <a:ext uri="{FF2B5EF4-FFF2-40B4-BE49-F238E27FC236}">
                <a16:creationId xmlns:a16="http://schemas.microsoft.com/office/drawing/2014/main" id="{758F396B-2724-4E7C-8EEF-CE512E1001CF}"/>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333750"/>
                <a:gridCol w="7715250"/>
              </a:tblGrid>
              <a:tr h="514350">
                <a:tc>
                  <a:txBody>
                    <a:bodyPr/>
                    <a:lstStyle/>
                    <a:p>
                      <a:r>
                        <a:rPr sz="1800" b="1">
                          <a:solidFill>
                            <a:srgbClr val="FFFFFF"/>
                          </a:solidFill>
                          <a:latin typeface="Liberation Sans"/>
                          <a:ea typeface="Liberation Sans"/>
                          <a:cs typeface="Liberation Sans"/>
                        </a:rPr>
                        <a:t>Candidate group</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Common deciding demonstration</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Marketplace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Same 20 offers, distinct partner prices, revocation and export</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Quote authority</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NRC/MRC, approvals, 60 sites, expiry and native edit bypass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Planning / Discovery</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Known source fixtures, lost fields and authorized scope</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AI / Multi-Site</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Grounded/revoked-access cases and repeatable profile changes</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6728864E-391C-4077-BE31-7987D0163622}"/>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Evidence labels: documented, demonstrated, contractual, unknown or failed.</a:t>
            </a:r>
          </a:p>
        </p:txBody>
      </p:sp>
    </p:spTree>
    <p:extLst>
      <p:ext uri="{BB962C8B-B14F-4D97-AF65-F5344CB8AC3E}">
        <p14:creationId xmlns:p14="http://schemas.microsoft.com/office/powerpoint/2010/main" val="9316325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281D16-5D5A-4742-B1B8-FA4557130DF0}"/>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Appendix: three-year ownership cost</a:t>
            </a:r>
          </a:p>
        </p:txBody>
      </p:sp>
      <p:sp>
        <p:nvSpPr>
          <p:cNvPr id="2" name="">
            <a:extLst xmlns:a="http://schemas.openxmlformats.org/drawingml/2006/main">
              <a:ext uri="{FF2B5EF4-FFF2-40B4-BE49-F238E27FC236}">
                <a16:creationId xmlns:a16="http://schemas.microsoft.com/office/drawing/2014/main" id="{8594F29E-87A3-40AE-9EC8-7F5EC16AB5A7}"/>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17</a:t>
            </a:r>
          </a:p>
        </p:txBody>
      </p:sp>
      <p:graphicFrame>
        <p:nvGraphicFramePr>
          <p:cNvPr id="3" name="">
            <a:extLst xmlns:a="http://schemas.openxmlformats.org/drawingml/2006/main">
              <a:ext uri="{FF2B5EF4-FFF2-40B4-BE49-F238E27FC236}">
                <a16:creationId xmlns:a16="http://schemas.microsoft.com/office/drawing/2014/main" id="{0B10F755-28B1-4BF9-B79F-14BAE4F01F02}"/>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3476625"/>
                <a:gridCol w="7572375"/>
              </a:tblGrid>
              <a:tr h="514350">
                <a:tc>
                  <a:txBody>
                    <a:bodyPr/>
                    <a:lstStyle/>
                    <a:p>
                      <a:r>
                        <a:rPr sz="1800" b="1">
                          <a:solidFill>
                            <a:srgbClr val="FFFFFF"/>
                          </a:solidFill>
                          <a:latin typeface="Liberation Sans"/>
                          <a:ea typeface="Liberation Sans"/>
                          <a:cs typeface="Liberation Sans"/>
                        </a:rPr>
                        <a:t>Cost component</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Inputs still required</a:t>
                      </a:r>
                    </a:p>
                  </a:txBody>
                  <a:tcPr marL="133350" marR="133350" marT="114300" marB="95250" anchor="ctr">
                    <a:solidFill>
                      <a:srgbClr val="123148"/>
                    </a:solidFill>
                  </a:tcPr>
                </a:tc>
              </a:tr>
              <a:tr h="895350">
                <a:tc>
                  <a:txBody>
                    <a:bodyPr/>
                    <a:lstStyle/>
                    <a:p>
                      <a:r>
                        <a:rPr sz="1800" b="0">
                          <a:solidFill>
                            <a:srgbClr val="142A3C"/>
                          </a:solidFill>
                          <a:latin typeface="Liberation Sans"/>
                          <a:ea typeface="Liberation Sans"/>
                          <a:cs typeface="Liberation Sans"/>
                        </a:rPr>
                        <a:t>Initial work</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Implementation, integration, migration and assurance</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36 months of operation</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Licenses, cloud, support, stewardship and operators</a:t>
                      </a:r>
                    </a:p>
                  </a:txBody>
                  <a:tcPr marL="133350" marR="133350" marT="114300" marB="95250" anchor="ctr">
                    <a:solidFill>
                      <a:srgbClr val="EFF4F8"/>
                    </a:solidFill>
                  </a:tcPr>
                </a:tc>
              </a:tr>
              <a:tr h="895350">
                <a:tc>
                  <a:txBody>
                    <a:bodyPr/>
                    <a:lstStyle/>
                    <a:p>
                      <a:r>
                        <a:rPr sz="1800" b="0">
                          <a:solidFill>
                            <a:srgbClr val="142A3C"/>
                          </a:solidFill>
                          <a:latin typeface="Liberation Sans"/>
                          <a:ea typeface="Liberation Sans"/>
                          <a:cs typeface="Liberation Sans"/>
                        </a:rPr>
                        <a:t>Lifecycle costs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Upgrades, regression proof, export and exit</a:t>
                      </a:r>
                    </a:p>
                  </a:txBody>
                  <a:tcPr marL="133350" marR="133350" marT="114300" marB="95250" anchor="ctr">
                    <a:solidFill>
                      <a:srgbClr val="FFFFFF"/>
                    </a:solidFill>
                  </a:tcPr>
                </a:tc>
              </a:tr>
              <a:tr h="895350">
                <a:tc>
                  <a:txBody>
                    <a:bodyPr/>
                    <a:lstStyle/>
                    <a:p>
                      <a:r>
                        <a:rPr sz="1800" b="0">
                          <a:solidFill>
                            <a:srgbClr val="142A3C"/>
                          </a:solidFill>
                          <a:latin typeface="Liberation Sans"/>
                          <a:ea typeface="Liberation Sans"/>
                          <a:cs typeface="Liberation Sans"/>
                        </a:rPr>
                        <a:t>Low / base / high scenarios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Named seats, assets, API volume, inference and manual labor</a:t>
                      </a:r>
                    </a:p>
                  </a:txBody>
                  <a:tcPr marL="133350" marR="133350" marT="114300" marB="95250" anchor="ctr">
                    <a:solidFill>
                      <a:srgbClr val="EFF4F8"/>
                    </a:solidFill>
                  </a:tcPr>
                </a:tc>
              </a:tr>
            </a:tbl>
          </a:graphicData>
        </a:graphic>
      </p:graphicFrame>
      <p:sp>
        <p:nvSpPr>
          <p:cNvPr id="4" name="">
            <a:extLst xmlns:a="http://schemas.openxmlformats.org/drawingml/2006/main">
              <a:ext uri="{FF2B5EF4-FFF2-40B4-BE49-F238E27FC236}">
                <a16:creationId xmlns:a16="http://schemas.microsoft.com/office/drawing/2014/main" id="{91B17328-3087-4D97-8F2E-C683036D7FA7}"/>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No monetary winner can be declared without contractual prices and owner-supplied rates.</a:t>
            </a:r>
          </a:p>
        </p:txBody>
      </p:sp>
    </p:spTree>
    <p:extLst>
      <p:ext uri="{BB962C8B-B14F-4D97-AF65-F5344CB8AC3E}">
        <p14:creationId xmlns:p14="http://schemas.microsoft.com/office/powerpoint/2010/main" val="711970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63081E-C699-4D63-8D96-5DE1B03BC592}"/>
              </a:ext>
            </a:extLst>
          </p:cNvPr>
          <p:cNvSpPr>
            <a:spLocks xmlns:a="http://schemas.openxmlformats.org/drawingml/2006/main" noGrp="1"/>
          </p:cNvSpPr>
          <p:nvPr/>
        </p:nvSpPr>
        <p:spPr>
          <a:xfrm xmlns:a="http://schemas.openxmlformats.org/drawingml/2006/main">
            <a:off x="571500" y="428625"/>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42A3C"/>
                </a:solidFill>
                <a:latin typeface="Liberation Sans"/>
                <a:ea typeface="Liberation Sans"/>
                <a:cs typeface="Liberation Sans"/>
              </a:defRPr>
            </a:defPPr>
          </a:lstStyle>
          <a:p xmlns:a="http://schemas.openxmlformats.org/drawingml/2006/main">
            <a:pPr>
              <a:defRPr sz="3300" b="1">
                <a:solidFill>
                  <a:srgbClr val="142A3C"/>
                </a:solidFill>
                <a:latin typeface="Liberation Sans"/>
                <a:ea typeface="Liberation Sans"/>
                <a:cs typeface="Liberation Sans"/>
              </a:defRPr>
            </a:pPr>
            <a:r>
              <a:rPr sz="3300" b="1">
                <a:solidFill>
                  <a:srgbClr val="142A3C"/>
                </a:solidFill>
                <a:latin typeface="Liberation Sans"/>
                <a:ea typeface="Liberation Sans"/>
                <a:cs typeface="Liberation Sans"/>
              </a:rPr>
              <a:t>Appendix: pending owner decisions</a:t>
            </a:r>
          </a:p>
        </p:txBody>
      </p:sp>
      <p:sp>
        <p:nvSpPr>
          <p:cNvPr id="2" name="">
            <a:extLst xmlns:a="http://schemas.openxmlformats.org/drawingml/2006/main">
              <a:ext uri="{FF2B5EF4-FFF2-40B4-BE49-F238E27FC236}">
                <a16:creationId xmlns:a16="http://schemas.microsoft.com/office/drawing/2014/main" id="{1FC6508A-B399-47C4-936A-8CF6D9304F18}"/>
              </a:ext>
            </a:extLst>
          </p:cNvPr>
          <p:cNvSpPr>
            <a:spLocks xmlns:a="http://schemas.openxmlformats.org/drawingml/2006/main" noGrp="1"/>
          </p:cNvSpPr>
          <p:nvPr/>
        </p:nvSpPr>
        <p:spPr>
          <a:xfrm xmlns:a="http://schemas.openxmlformats.org/drawingml/2006/main">
            <a:off x="11096625" y="63722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66978"/>
                </a:solidFill>
                <a:latin typeface="Liberation Sans"/>
                <a:ea typeface="Liberation Sans"/>
                <a:cs typeface="Liberation Sans"/>
              </a:defRPr>
            </a:defPPr>
          </a:lstStyle>
          <a:p xmlns:a="http://schemas.openxmlformats.org/drawingml/2006/main">
            <a:pPr>
              <a:defRPr sz="1200" b="0">
                <a:solidFill>
                  <a:srgbClr val="566978"/>
                </a:solidFill>
                <a:latin typeface="Liberation Sans"/>
                <a:ea typeface="Liberation Sans"/>
                <a:cs typeface="Liberation Sans"/>
              </a:defRPr>
            </a:pPr>
            <a:r>
              <a:rPr sz="1200" b="0">
                <a:solidFill>
                  <a:srgbClr val="566978"/>
                </a:solidFill>
                <a:latin typeface="Liberation Sans"/>
                <a:ea typeface="Liberation Sans"/>
                <a:cs typeface="Liberation Sans"/>
              </a:rPr>
              <a:t>18</a:t>
            </a:r>
          </a:p>
        </p:txBody>
      </p:sp>
      <p:graphicFrame>
        <p:nvGraphicFramePr>
          <p:cNvPr id="3" name="">
            <a:extLst xmlns:a="http://schemas.openxmlformats.org/drawingml/2006/main">
              <a:ext uri="{FF2B5EF4-FFF2-40B4-BE49-F238E27FC236}">
                <a16:creationId xmlns:a16="http://schemas.microsoft.com/office/drawing/2014/main" id="{BBFC7048-40F0-41FE-A774-AB72611DC4C0}"/>
              </a:ext>
            </a:extLst>
          </p:cNvPr>
          <p:cNvGraphicFramePr/>
          <p:nvPr/>
        </p:nvGraphicFramePr>
        <p:xfrm>
          <a:off xmlns:a="http://schemas.openxmlformats.org/drawingml/2006/main" x="571500" y="1476375"/>
          <a:ext xmlns:a="http://schemas.openxmlformats.org/drawingml/2006/main" cx="11049000" cy="4095750"/>
        </p:xfrm>
        <a:graphic xmlns:a="http://schemas.openxmlformats.org/drawingml/2006/main">
          <a:graphicData uri="http://schemas.openxmlformats.org/drawingml/2006/table">
            <a:tbl>
              <a:tblPr firstRow="1" bandRow="0"/>
              <a:tblGrid>
                <a:gridCol w="4000500"/>
                <a:gridCol w="4381500"/>
                <a:gridCol w="2667000"/>
              </a:tblGrid>
              <a:tr h="514350">
                <a:tc>
                  <a:txBody>
                    <a:bodyPr/>
                    <a:lstStyle/>
                    <a:p>
                      <a:r>
                        <a:rPr sz="1800" b="1">
                          <a:solidFill>
                            <a:srgbClr val="FFFFFF"/>
                          </a:solidFill>
                          <a:latin typeface="Liberation Sans"/>
                          <a:ea typeface="Liberation Sans"/>
                          <a:cs typeface="Liberation Sans"/>
                        </a:rPr>
                        <a:t>Decision group</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Accountable roles</a:t>
                      </a:r>
                    </a:p>
                  </a:txBody>
                  <a:tcPr marL="133350" marR="133350" marT="114300" marB="95250" anchor="ctr">
                    <a:solidFill>
                      <a:srgbClr val="123148"/>
                    </a:solidFill>
                  </a:tcPr>
                </a:tc>
                <a:tc>
                  <a:txBody>
                    <a:bodyPr/>
                    <a:lstStyle/>
                    <a:p>
                      <a:r>
                        <a:rPr sz="1800" b="1">
                          <a:solidFill>
                            <a:srgbClr val="FFFFFF"/>
                          </a:solidFill>
                          <a:latin typeface="Liberation Sans"/>
                          <a:ea typeface="Liberation Sans"/>
                          <a:cs typeface="Liberation Sans"/>
                        </a:rPr>
                        <a:t>Before</a:t>
                      </a:r>
                    </a:p>
                  </a:txBody>
                  <a:tcPr marL="133350" marR="133350" marT="114300" marB="95250" anchor="ctr">
                    <a:solidFill>
                      <a:srgbClr val="123148"/>
                    </a:solidFill>
                  </a:tcPr>
                </a:tc>
              </a:tr>
              <a:tr h="716280">
                <a:tc>
                  <a:txBody>
                    <a:bodyPr/>
                    <a:lstStyle/>
                    <a:p>
                      <a:r>
                        <a:rPr sz="1800" b="0">
                          <a:solidFill>
                            <a:srgbClr val="142A3C"/>
                          </a:solidFill>
                          <a:latin typeface="Liberation Sans"/>
                          <a:ea typeface="Liberation Sans"/>
                          <a:cs typeface="Liberation Sans"/>
                        </a:rPr>
                        <a:t>Isolation and lifecycle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Product, Security, data owners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Topology or real data</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Commercial and vendors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Commercial, Catalog, Solutions</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Selection or configuration</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CRM and SSO</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CRM admin, SSO and app owners</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Registration / integration</a:t>
                      </a:r>
                    </a:p>
                  </a:txBody>
                  <a:tcPr marL="133350" marR="133350" marT="114300" marB="95250" anchor="ctr">
                    <a:solidFill>
                      <a:srgbClr val="FFFFFF"/>
                    </a:solidFill>
                  </a:tcPr>
                </a:tc>
              </a:tr>
              <a:tr h="716280">
                <a:tc>
                  <a:txBody>
                    <a:bodyPr/>
                    <a:lstStyle/>
                    <a:p>
                      <a:r>
                        <a:rPr sz="1800" b="0">
                          <a:solidFill>
                            <a:srgbClr val="142A3C"/>
                          </a:solidFill>
                          <a:latin typeface="Liberation Sans"/>
                          <a:ea typeface="Liberation Sans"/>
                          <a:cs typeface="Liberation Sans"/>
                        </a:rPr>
                        <a:t>Runtime and package provider</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Platform, Delivery, Technical lead</a:t>
                      </a:r>
                    </a:p>
                  </a:txBody>
                  <a:tcPr marL="133350" marR="133350" marT="114300" marB="95250" anchor="ctr">
                    <a:solidFill>
                      <a:srgbClr val="EFF4F8"/>
                    </a:solidFill>
                  </a:tcPr>
                </a:tc>
                <a:tc>
                  <a:txBody>
                    <a:bodyPr/>
                    <a:lstStyle/>
                    <a:p>
                      <a:r>
                        <a:rPr sz="1800" b="0">
                          <a:solidFill>
                            <a:srgbClr val="142A3C"/>
                          </a:solidFill>
                          <a:latin typeface="Liberation Sans"/>
                          <a:ea typeface="Liberation Sans"/>
                          <a:cs typeface="Liberation Sans"/>
                        </a:rPr>
                        <a:t>Deployment / package use</a:t>
                      </a:r>
                    </a:p>
                  </a:txBody>
                  <a:tcPr marL="133350" marR="133350" marT="114300" marB="95250" anchor="ctr">
                    <a:solidFill>
                      <a:srgbClr val="EFF4F8"/>
                    </a:solidFill>
                  </a:tcPr>
                </a:tc>
              </a:tr>
              <a:tr h="716280">
                <a:tc>
                  <a:txBody>
                    <a:bodyPr/>
                    <a:lstStyle/>
                    <a:p>
                      <a:r>
                        <a:rPr sz="1800" b="0">
                          <a:solidFill>
                            <a:srgbClr val="142A3C"/>
                          </a:solidFill>
                          <a:latin typeface="Liberation Sans"/>
                          <a:ea typeface="Liberation Sans"/>
                          <a:cs typeface="Liberation Sans"/>
                        </a:rPr>
                        <a:t>Lifecycle / inventory scope</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Product, data and affected iTop owner</a:t>
                      </a:r>
                    </a:p>
                  </a:txBody>
                  <a:tcPr marL="133350" marR="133350" marT="114300" marB="95250" anchor="ctr">
                    <a:solidFill>
                      <a:srgbClr val="FFFFFF"/>
                    </a:solidFill>
                  </a:tcPr>
                </a:tc>
                <a:tc>
                  <a:txBody>
                    <a:bodyPr/>
                    <a:lstStyle/>
                    <a:p>
                      <a:r>
                        <a:rPr sz="1800" b="0">
                          <a:solidFill>
                            <a:srgbClr val="142A3C"/>
                          </a:solidFill>
                          <a:latin typeface="Liberation Sans"/>
                          <a:ea typeface="Liberation Sans"/>
                          <a:cs typeface="Liberation Sans"/>
                        </a:rPr>
                        <a:t>Expanded persistence / reporting</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2CCF013-11D1-4EC5-89D8-C80E89AF99D7}"/>
              </a:ext>
            </a:extLst>
          </p:cNvPr>
          <p:cNvSpPr>
            <a:spLocks xmlns:a="http://schemas.openxmlformats.org/drawingml/2006/main" noGrp="1"/>
          </p:cNvSpPr>
          <p:nvPr/>
        </p:nvSpPr>
        <p:spPr>
          <a:xfrm xmlns:a="http://schemas.openxmlformats.org/drawingml/2006/main">
            <a:off x="571500" y="58007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66978"/>
                </a:solidFill>
                <a:latin typeface="Liberation Sans"/>
                <a:ea typeface="Liberation Sans"/>
                <a:cs typeface="Liberation Sans"/>
              </a:defRPr>
            </a:defPPr>
          </a:lstStyle>
          <a:p xmlns:a="http://schemas.openxmlformats.org/drawingml/2006/main">
            <a:pPr>
              <a:defRPr sz="1725" b="0">
                <a:solidFill>
                  <a:srgbClr val="566978"/>
                </a:solidFill>
                <a:latin typeface="Liberation Sans"/>
                <a:ea typeface="Liberation Sans"/>
                <a:cs typeface="Liberation Sans"/>
              </a:defRPr>
            </a:pPr>
            <a:r>
              <a:rPr sz="1725" b="0">
                <a:solidFill>
                  <a:srgbClr val="566978"/>
                </a:solidFill>
                <a:latin typeface="Liberation Sans"/>
                <a:ea typeface="Liberation Sans"/>
                <a:cs typeface="Liberation Sans"/>
              </a:rPr>
              <a:t>OD-01–OD-10 retain exact gates. Named acceptance and policy values remain pending.</a:t>
            </a:r>
          </a:p>
        </p:txBody>
      </p:sp>
    </p:spTree>
    <p:extLst>
      <p:ext uri="{BB962C8B-B14F-4D97-AF65-F5344CB8AC3E}">
        <p14:creationId xmlns:p14="http://schemas.microsoft.com/office/powerpoint/2010/main" val="1694486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2026-10-06T02:03:30.1190000Z</dcterms:created>
  <dcterms:modified xsi:type="dcterms:W3CDTF">2026-10-06T02:03:30.1190000Z</dcterms:modified>
</coreProperties>
</file>